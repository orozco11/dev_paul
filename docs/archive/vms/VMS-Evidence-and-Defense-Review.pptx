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Purpose: explain the seven evaluation criteria using evidence available as of 24 October 2026. Current application revision: 72d754c. This is a preparation deck, not a claim of completed field validation. Source: README.md; VMS Docs/Sample-Data.md; VMS Docs/System-Audit-2026-10-24.md. Cover photo: existing project mockup, backend-api/public/mockups/vehicles/firetruck-03-ladder-28.jpg. Asset licensing remains part of the documentation review.</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Use supported, partly supported and unverified as evidence descriptions, not numerical grades. Unverified means the reviewed materials did not establish the claim. It does not mean that the team has no such evidence elsewhere. Source: repository review at 72d754c; pasted assessment supplied by the user; VMS Docs/Must-Haves.md; System-Audit-2026-10-24.md.</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criteria 1b, 1c, 7a and 7b. Residents are potential indirect beneficiaries. Do not claim documented downtime or response delays unless the team has actual records. The repository defines the intended problem but does not establish how often it occurs in the community. Sources: README.md purpose and scope; VMS Docs/Documentation.md sections 1 and 3. Photo: bundled project mockup ambulance-01-hiace-carryboy.jpg.</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criterion 1a. These indicators describe different questions. Available alone does not certify verified readiness. A passing readiness check normally expires after 24 hours. Explain the contribution as an application suited to a barangay workflow. Do not claim global novelty or measured improvement over an existing process without comparative evidence. Source: System-Capabilities.md sections 3.1 and 3.7. Caveat: the stale-readiness finding after parts removal remains open, AUD-24-04.</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Explain the current ticket lifecycle. The proposing Custodian may later verify if independent of the repair. A second Custodian is not mandatory. A repairer cannot verify their own work. Different in-house sub-issues may have different assigned mechanics. External-shop handling stays within maintenance scope. Sources: TicketController.php; config/permissions.php; System-Capabilities.md section 5. The slide describes intended workflow guards and does not claim every authorization path is defect-free.</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criterion 2a. These are proposed review themes, not citations to studies already reviewed. The team needs authentic literature, a comparison matrix and a synthesis that connects evidence to its design. Do not invent studies or describe vendor pages as empirical evidence. The current review did not find a complete assessable manuscript in the supplied materials.</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criteria 2b and 2c. Do not label the project Agile or prototyping merely because it underwent revisions. Separate the software-development method from the research-evaluation method. Dashboard statistics are system output, not a substitute for research analysis. Choose analysis appropriate to the measures and participants, and justify the choices with the adviser.</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criterion 3a. Architecture, ERD and use-case files exist. Their existence does not certify complete alignment with current code. PostgreSQL/Supabase deployment is not established by the local SQLite demonstration. Sources: backend-api/composer.json; frontend-spa/package.json and package-lock.json; README.md; System-Architecture.svg; ERD.svg; Use-Case-Diagram.svg. Workspace.jsx remains a substantial maintenance concern.</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criterion 3d and the technical part of criterion 4a. These are recorded results from the preceding verification, not a newly conducted field study. Nine focused setup/sample checks contributed 94 assertions. A separate checkout installed locked Composer/npm dependencies, migrated and seeded SQLite, matched the semantic demo data and all 11 photo files, preserved environment files on rerun and created valid backups. Earlier reports include targeted browser checks. Sources: VMS Docs/Sample-Data.md verification section; backend-api/tests/Feature/SampleFleetSeederTest.php; SyncDemoTest.php. Test counts do not establish uptime, security completeness or user effectiveness.</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criterion 3c accurately. IDs abbreviate AUD-24-01 through AUD-24-06. Findings were reproduced in isolated investigation and remain open. Six passing investigation tests asserted defective behavior and therefore did not establish fixes. CSV spreadsheet behavior depends on the receiving application. Do not claim cross-barangay file access from the same-barangay signing probe. Source: VMS Docs/System-Audit-2026-10-24.md. Recent sample/setup changes do not resolve these issues.</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usability and error handling in criteria 3c and 3d. Existing features suggest attention to usability, but only actual evaluation can establish usability for target users. Use representative devices and accessibility needs. Test incorrect input, denied access, network loss and retry behavior as appropriate. Do not convert a developer walkthrough into a user satisfaction result. Sources: System-Capabilities.md interface conventions; backend feature tests; Must-Haves.md acceptance section.</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criteria 3b and 4a. Technical operation differs from effectiveness in a real barangay. For example, compare how long staff need to locate current vehicle readiness using the existing process versus the system. Predefine tasks and metrics before gathering results. Keep raw anonymized data, expected/actual test results and participant feedback. Never invent UAT respondents, scores or improvement percentages. Source: Must-Haves.md acceptance checks; Sample-Data.md; System-Audit-2026-10-24.md.</a:t>
            </a: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criteria 5a, 5b and 5c. Review every citation against the reference list and verify that the source supports the claim. Older impersonation descriptions remain inconsistent with the current dedicated Account Switcher permission. Obtain the relevant barangay/institutional authorization and participant information/consent where appropriate. A permission letter does not replace lawful processing requirements. Philippine data privacy principles include transparency, legitimate purpose and proportionality. Consent is one lawful basis, not the only one. Official source: https://privacy.gov.ph/data-privacy-act/ sections 11, 12 and 20, checked 24 October 2026. Have the adviser and responsible barangay official confirm the applicable arrangements. Also verify asset licensing.</a:t>
            </a: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criterion 5d. AI assistance is confirmed by this work session. Do not claim that all code was manually authored, or that the proponents personally reviewed every contribution, without evidence. Automated tests and AI review do not replace the team understanding its work. This slide discloses actual categories of assistance, while the team still needs to complete a full tool/use/verification record according to school policy.</a:t>
            </a: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criteria 6a through 6d. A clear opening: Barangay VMS supports emergency-fleet readiness and maintenance accountability through reported defects, approved repair work and independent verification. Follow this with evidence of the actual community problem. Rehearse a maintenance demonstration with expected states and a return-for-rework branch. The existence of this presentation cannot establish the proponents understanding or their live delivery.</a:t>
            </a: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practical feasibility and likely defense questions. Admin alone does not hold impersonation.start. The separate Account Switcher can switch accounts for demonstration/support. Its impersonation writes are blocked outside local development. A genuinely authorized backup Custodian may be a multi-role account, but the system still requires assignment and independence from the repair or external handling. Sources: config/permissions.php; AuthController.php canImpersonate; RestrictImpersonatedToReadOnly.php; TicketController.php verifier guards.</a:t>
            </a: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Answer criteria 7a through 7d. Residents may indirectly benefit from better maintained vehicles, but the project has not measured that outcome. Cost, hosting, connectivity and training must be assessed for the intended deployment. No offline operation has been demonstrated. Real target-host storage and restoration acceptance remain open. Sources: README.md scope; Must-Haves.md acceptance section; System-Audit-2026-10-24.md. Photo: bundled project mockup ambulance-02-sprinter.jpg.</a:t>
            </a:r>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Suggested preparation order, not a promise that no other defects exist. Resolve safety and authorization findings before collecting sensitive real operational records. Do not expand features to avoid the current gaps. The team and adviser should approve an achievable evaluation plan and acceptance criteria. Sources: System-Audit-2026-10-24.md retest order; Must-Haves.md acceptance checks; Sample-Data.md verification results.</a:t>
            </a:r>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All repository paths refer to the V2-VMS project at revision 72d754c unless a dated audit specifies its earlier reviewed revision. Living documents and old generated PDFs may differ. Use current code and dated evidence to resolve disagreement. External source: National Privacy Commission, Republic Act 10173, https://privacy.gov.ph/data-privacy-act/, checked 24 October 2026. Speaker notes identify the source and limits for each substantive slide. The complete research manuscript, literature bibliography, signed UAT dataset and permission records were not available to this review.</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33F"/>
        </a:solidFill>
        <a:effectLst/>
      </p:bgPr>
    </p:bg>
    <p:spTree>
      <p:nvGrpSpPr>
        <p:cNvPr id="1" name=""/>
        <p:cNvGrpSpPr/>
        <p:nvPr/>
      </p:nvGrpSpPr>
      <p:grpSpPr/>
      <p:sp>
        <p:nvSpPr>
          <p:cNvPr id="2" name="Text 1"/>
          <p:cNvSpPr txBox="1"/>
          <p:nvPr/>
        </p:nvSpPr>
        <p:spPr>
          <a:xfrm>
            <a:off x="660400" y="1498600"/>
            <a:ext cx="6985000" cy="1905000"/>
          </a:xfrm>
          <a:prstGeom prst="rect">
            <a:avLst/>
          </a:prstGeom>
          <a:noFill/>
        </p:spPr>
        <p:txBody>
          <a:bodyPr wrap="square" lIns="0" tIns="0" rIns="0" bIns="0" rtlCol="0" anchor="t">
            <a:noAutofit/>
          </a:bodyPr>
          <a:p>
            <a:pPr>
              <a:spcAft>
                <a:spcPts val="0"/>
              </a:spcAft>
            </a:pPr>
            <a:r>
              <a:rPr lang="en-US" sz="4200" b="1">
                <a:solidFill>
                  <a:srgbClr val="FFFFFF"/>
                </a:solidFill>
                <a:latin typeface="Arial" panose="020B0604020202020204" pitchFamily="34" charset="0"/>
                <a:cs typeface="Arial" panose="020B0604020202020204" pitchFamily="34" charset="0"/>
              </a:rPr>
              <a:t>Barangay Vehicle
Management System</a:t>
            </a:r>
            <a:endParaRPr lang="en-US" sz="4200" b="1">
              <a:solidFill>
                <a:srgbClr val="FFFFFF"/>
              </a:solidFill>
              <a:latin typeface="Arial" panose="020B0604020202020204" pitchFamily="34" charset="0"/>
              <a:cs typeface="Arial" panose="020B0604020202020204" pitchFamily="34" charset="0"/>
            </a:endParaRPr>
          </a:p>
        </p:txBody>
      </p:sp>
      <p:sp>
        <p:nvSpPr>
          <p:cNvPr id="3" name="Text 2"/>
          <p:cNvSpPr txBox="1"/>
          <p:nvPr/>
        </p:nvSpPr>
        <p:spPr>
          <a:xfrm>
            <a:off x="711200" y="3721100"/>
            <a:ext cx="6604000" cy="952500"/>
          </a:xfrm>
          <a:prstGeom prst="rect">
            <a:avLst/>
          </a:prstGeom>
          <a:noFill/>
        </p:spPr>
        <p:txBody>
          <a:bodyPr wrap="square" lIns="0" tIns="0" rIns="0" bIns="0" rtlCol="0" anchor="t">
            <a:noAutofit/>
          </a:bodyPr>
          <a:p>
            <a:pPr>
              <a:spcAft>
                <a:spcPts val="0"/>
              </a:spcAft>
            </a:pPr>
            <a:r>
              <a:rPr lang="en-US" sz="2300">
                <a:solidFill>
                  <a:srgbClr val="BDD1F5"/>
                </a:solidFill>
                <a:latin typeface="Arial" panose="020B0604020202020204" pitchFamily="34" charset="0"/>
                <a:cs typeface="Arial" panose="020B0604020202020204" pitchFamily="34" charset="0"/>
              </a:rPr>
              <a:t>Evidence review and defense preparation</a:t>
            </a:r>
            <a:endParaRPr lang="en-US" sz="2300">
              <a:solidFill>
                <a:srgbClr val="BDD1F5"/>
              </a:solidFill>
              <a:latin typeface="Arial" panose="020B0604020202020204" pitchFamily="34" charset="0"/>
              <a:cs typeface="Arial" panose="020B0604020202020204" pitchFamily="34" charset="0"/>
            </a:endParaRPr>
          </a:p>
        </p:txBody>
      </p:sp>
      <p:pic>
        <p:nvPicPr>
          <p:cNvPr id="4" name="Picture 3" descr="firetruck-03-ladder-28"/>
          <p:cNvPicPr>
            <a:picLocks noChangeAspect="1"/>
          </p:cNvPicPr>
          <p:nvPr/>
        </p:nvPicPr>
        <p:blipFill>
          <a:blip r:embed="rId1"/>
          <a:stretch>
            <a:fillRect/>
          </a:stretch>
        </p:blipFill>
        <p:spPr>
          <a:xfrm>
            <a:off x="8064500" y="2032000"/>
            <a:ext cx="3302000" cy="3302000"/>
          </a:xfrm>
          <a:prstGeom prst="rect">
            <a:avLst/>
          </a:prstGeom>
        </p:spPr>
      </p:pic>
      <p:sp>
        <p:nvSpPr>
          <p:cNvPr id="5" name="Text 4"/>
          <p:cNvSpPr txBox="1"/>
          <p:nvPr/>
        </p:nvSpPr>
        <p:spPr>
          <a:xfrm>
            <a:off x="7874000" y="5499100"/>
            <a:ext cx="3683000" cy="317500"/>
          </a:xfrm>
          <a:prstGeom prst="rect">
            <a:avLst/>
          </a:prstGeom>
          <a:noFill/>
        </p:spPr>
        <p:txBody>
          <a:bodyPr wrap="square" lIns="0" tIns="0" rIns="0" bIns="0" rtlCol="0" anchor="t">
            <a:noAutofit/>
          </a:bodyPr>
          <a:p>
            <a:pPr>
              <a:spcAft>
                <a:spcPts val="0"/>
              </a:spcAft>
            </a:pPr>
            <a:r>
              <a:rPr lang="en-US" sz="1300">
                <a:solidFill>
                  <a:srgbClr val="BDD1F5"/>
                </a:solidFill>
                <a:latin typeface="Arial" panose="020B0604020202020204" pitchFamily="34" charset="0"/>
                <a:cs typeface="Arial" panose="020B0604020202020204" pitchFamily="34" charset="0"/>
              </a:rPr>
              <a:t>Illustrative vehicle mockup</a:t>
            </a:r>
            <a:endParaRPr lang="en-US" sz="1300">
              <a:solidFill>
                <a:srgbClr val="BDD1F5"/>
              </a:solidFill>
              <a:latin typeface="Arial" panose="020B0604020202020204" pitchFamily="34" charset="0"/>
              <a:cs typeface="Arial" panose="020B0604020202020204" pitchFamily="34" charset="0"/>
            </a:endParaRPr>
          </a:p>
        </p:txBody>
      </p:sp>
      <p:sp>
        <p:nvSpPr>
          <p:cNvPr id="6" name="Text 5"/>
          <p:cNvSpPr txBox="1"/>
          <p:nvPr/>
        </p:nvSpPr>
        <p:spPr>
          <a:xfrm>
            <a:off x="711200" y="5969000"/>
            <a:ext cx="7620000" cy="254000"/>
          </a:xfrm>
          <a:prstGeom prst="rect">
            <a:avLst/>
          </a:prstGeom>
          <a:noFill/>
        </p:spPr>
        <p:txBody>
          <a:bodyPr wrap="square" lIns="0" tIns="0" rIns="0" bIns="0" rtlCol="0" anchor="t">
            <a:noAutofit/>
          </a:bodyPr>
          <a:p>
            <a:pPr>
              <a:spcAft>
                <a:spcPts val="0"/>
              </a:spcAft>
            </a:pPr>
            <a:r>
              <a:rPr lang="en-US" sz="1300">
                <a:solidFill>
                  <a:srgbClr val="BDD1F5"/>
                </a:solidFill>
                <a:latin typeface="Arial" panose="020B0604020202020204" pitchFamily="34" charset="0"/>
                <a:cs typeface="Arial" panose="020B0604020202020204" pitchFamily="34" charset="0"/>
              </a:rPr>
              <a:t>24 October 2026</a:t>
            </a:r>
            <a:endParaRPr lang="en-US" sz="1300">
              <a:solidFill>
                <a:srgbClr val="BDD1F5"/>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Current assessment</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4445000"/>
        </p:xfrm>
        <a:graphic>
          <a:graphicData uri="http://schemas.openxmlformats.org/drawingml/2006/table">
            <a:tbl>
              <a:tblPr firstRow="1" bandRow="1">
                <a:tableStyleId>{5C22544A-7EE6-4342-B048-85BDC9FD1C3A}</a:tableStyleId>
              </a:tblPr>
              <a:tblGrid>
                <a:gridCol w="3302000"/>
                <a:gridCol w="7620000"/>
              </a:tblGrid>
              <a:tr h="555625">
                <a:tc>
                  <a:txBody>
                    <a:bodyPr wrap="square"/>
                    <a:p>
                      <a:pPr>
                        <a:spcAft>
                          <a:spcPts val="0"/>
                        </a:spcAft>
                        <a:buNone/>
                      </a:pPr>
                      <a:r>
                        <a:rPr lang="en-US" sz="1700" b="1">
                          <a:solidFill>
                            <a:srgbClr val="FFFFFF"/>
                          </a:solidFill>
                          <a:latin typeface="Arial" panose="020B0604020202020204" pitchFamily="34" charset="0"/>
                          <a:cs typeface="Arial" panose="020B0604020202020204" pitchFamily="34" charset="0"/>
                        </a:rPr>
                        <a:t>Criterion</a:t>
                      </a:r>
                      <a:endParaRPr lang="en-US" sz="17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1700" b="1">
                          <a:solidFill>
                            <a:srgbClr val="FFFFFF"/>
                          </a:solidFill>
                          <a:latin typeface="Arial" panose="020B0604020202020204" pitchFamily="34" charset="0"/>
                          <a:cs typeface="Arial" panose="020B0604020202020204" pitchFamily="34" charset="0"/>
                        </a:rPr>
                        <a:t>Current assessment</a:t>
                      </a:r>
                      <a:endParaRPr lang="en-US" sz="17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555625">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Originality and relevance</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Relevant design. Community evidence still needed.</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555625">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Research quality</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Literature review, method and dataset unverified.</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555625">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Technical quality</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Local functionality demonstrated. Six findings remain open.</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555625">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Results and validation</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Technical evidence exists. Field effectiveness unverified.</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555625">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Documentation and ethics</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Technical references exist. Manuscript and permissions unverified.</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555625">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Presentation and defense</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Evidence available. Team understanding needs rehearsal.</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555625">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Practical impact</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Potential benefit. Deployment and adoption need validation.</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bl>
          </a:graphicData>
        </a:graphic>
      </p:graphicFrame>
      <p:sp>
        <p:nvSpPr>
          <p:cNvPr id="4" name="Text 3"/>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2</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The problem and the intended users</a:t>
            </a:r>
            <a:endParaRPr lang="en-US" sz="3300" b="1">
              <a:solidFill>
                <a:srgbClr val="10233F"/>
              </a:solidFill>
              <a:latin typeface="Arial" panose="020B0604020202020204" pitchFamily="34" charset="0"/>
              <a:cs typeface="Arial" panose="020B0604020202020204" pitchFamily="34" charset="0"/>
            </a:endParaRPr>
          </a:p>
        </p:txBody>
      </p:sp>
      <p:pic>
        <p:nvPicPr>
          <p:cNvPr id="3" name="Picture 2" descr="ambulance-01-hiace-carryboy"/>
          <p:cNvPicPr>
            <a:picLocks noChangeAspect="1"/>
          </p:cNvPicPr>
          <p:nvPr/>
        </p:nvPicPr>
        <p:blipFill>
          <a:blip r:embed="rId1"/>
          <a:stretch>
            <a:fillRect/>
          </a:stretch>
        </p:blipFill>
        <p:spPr>
          <a:xfrm>
            <a:off x="7454900" y="2584450"/>
            <a:ext cx="4102100" cy="2374265"/>
          </a:xfrm>
          <a:prstGeom prst="rect">
            <a:avLst/>
          </a:prstGeom>
        </p:spPr>
      </p:pic>
      <p:sp>
        <p:nvSpPr>
          <p:cNvPr id="4" name="Text 3"/>
          <p:cNvSpPr txBox="1"/>
          <p:nvPr/>
        </p:nvSpPr>
        <p:spPr>
          <a:xfrm>
            <a:off x="7454900" y="5930900"/>
            <a:ext cx="4102100" cy="317500"/>
          </a:xfrm>
          <a:prstGeom prst="rect">
            <a:avLst/>
          </a:prstGeom>
          <a:noFill/>
        </p:spPr>
        <p:txBody>
          <a:bodyPr wrap="square" lIns="0" tIns="0" rIns="0" bIns="0" rtlCol="0" anchor="t">
            <a:noAutofit/>
          </a:bodyPr>
          <a:p>
            <a:pPr>
              <a:spcAft>
                <a:spcPts val="0"/>
              </a:spcAft>
            </a:pPr>
            <a:r>
              <a:rPr lang="en-US" sz="1300">
                <a:solidFill>
                  <a:srgbClr val="53647A"/>
                </a:solidFill>
                <a:latin typeface="Arial" panose="020B0604020202020204" pitchFamily="34" charset="0"/>
                <a:cs typeface="Arial" panose="020B0604020202020204" pitchFamily="34" charset="0"/>
              </a:rPr>
              <a:t>Illustrative vehicle mockup</a:t>
            </a:r>
            <a:endParaRPr lang="en-US" sz="13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635000" y="1638300"/>
            <a:ext cx="6350000" cy="3429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System objective</a:t>
            </a:r>
            <a:endParaRPr lang="en-US" sz="1900" b="1">
              <a:solidFill>
                <a:srgbClr val="245FEA"/>
              </a:solidFill>
              <a:latin typeface="Arial" panose="020B0604020202020204" pitchFamily="34" charset="0"/>
              <a:cs typeface="Arial" panose="020B0604020202020204" pitchFamily="34" charset="0"/>
            </a:endParaRPr>
          </a:p>
        </p:txBody>
      </p:sp>
      <p:sp>
        <p:nvSpPr>
          <p:cNvPr id="6" name="Text 5"/>
          <p:cNvSpPr txBox="1"/>
          <p:nvPr/>
        </p:nvSpPr>
        <p:spPr>
          <a:xfrm>
            <a:off x="635000" y="2057400"/>
            <a:ext cx="6350000" cy="952500"/>
          </a:xfrm>
          <a:prstGeom prst="rect">
            <a:avLst/>
          </a:prstGeom>
          <a:noFill/>
        </p:spPr>
        <p:txBody>
          <a:bodyPr wrap="square" lIns="0" tIns="0" rIns="0" bIns="0" rtlCol="0" anchor="t">
            <a:noAutofit/>
          </a:bodyPr>
          <a:p>
            <a:pPr>
              <a:spcAft>
                <a:spcPts val="0"/>
              </a:spcAft>
            </a:pPr>
            <a:r>
              <a:rPr lang="en-US" sz="2000">
                <a:solidFill>
                  <a:srgbClr val="10233F"/>
                </a:solidFill>
                <a:latin typeface="Arial" panose="020B0604020202020204" pitchFamily="34" charset="0"/>
                <a:cs typeface="Arial" panose="020B0604020202020204" pitchFamily="34" charset="0"/>
              </a:rPr>
              <a:t>Keep a current record of emergency-vehicle readiness and accountable maintenance.</a:t>
            </a:r>
            <a:endParaRPr lang="en-US" sz="2000">
              <a:solidFill>
                <a:srgbClr val="10233F"/>
              </a:solidFill>
              <a:latin typeface="Arial" panose="020B0604020202020204" pitchFamily="34" charset="0"/>
              <a:cs typeface="Arial" panose="020B0604020202020204" pitchFamily="34" charset="0"/>
            </a:endParaRPr>
          </a:p>
        </p:txBody>
      </p:sp>
      <p:sp>
        <p:nvSpPr>
          <p:cNvPr id="7" name="Text 6"/>
          <p:cNvSpPr txBox="1"/>
          <p:nvPr/>
        </p:nvSpPr>
        <p:spPr>
          <a:xfrm>
            <a:off x="635000" y="3048000"/>
            <a:ext cx="6350000" cy="3429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Direct users</a:t>
            </a:r>
            <a:endParaRPr lang="en-US" sz="1900" b="1">
              <a:solidFill>
                <a:srgbClr val="245FEA"/>
              </a:solidFill>
              <a:latin typeface="Arial" panose="020B0604020202020204" pitchFamily="34" charset="0"/>
              <a:cs typeface="Arial" panose="020B0604020202020204" pitchFamily="34" charset="0"/>
            </a:endParaRPr>
          </a:p>
        </p:txBody>
      </p:sp>
      <p:sp>
        <p:nvSpPr>
          <p:cNvPr id="8" name="Text 7"/>
          <p:cNvSpPr txBox="1"/>
          <p:nvPr/>
        </p:nvSpPr>
        <p:spPr>
          <a:xfrm>
            <a:off x="635000" y="3467100"/>
            <a:ext cx="6350000" cy="952500"/>
          </a:xfrm>
          <a:prstGeom prst="rect">
            <a:avLst/>
          </a:prstGeom>
          <a:noFill/>
        </p:spPr>
        <p:txBody>
          <a:bodyPr wrap="square" lIns="0" tIns="0" rIns="0" bIns="0" rtlCol="0" anchor="t">
            <a:noAutofit/>
          </a:bodyPr>
          <a:p>
            <a:pPr>
              <a:spcAft>
                <a:spcPts val="0"/>
              </a:spcAft>
            </a:pPr>
            <a:r>
              <a:rPr lang="en-US" sz="2000">
                <a:solidFill>
                  <a:srgbClr val="10233F"/>
                </a:solidFill>
                <a:latin typeface="Arial" panose="020B0604020202020204" pitchFamily="34" charset="0"/>
                <a:cs typeface="Arial" panose="020B0604020202020204" pitchFamily="34" charset="0"/>
              </a:rPr>
              <a:t>Barangay Admins, Custodians and Maintenance Personnel.</a:t>
            </a:r>
            <a:endParaRPr lang="en-US" sz="2000">
              <a:solidFill>
                <a:srgbClr val="10233F"/>
              </a:solidFill>
              <a:latin typeface="Arial" panose="020B0604020202020204" pitchFamily="34" charset="0"/>
              <a:cs typeface="Arial" panose="020B0604020202020204" pitchFamily="34" charset="0"/>
            </a:endParaRPr>
          </a:p>
        </p:txBody>
      </p:sp>
      <p:sp>
        <p:nvSpPr>
          <p:cNvPr id="9" name="Text 8"/>
          <p:cNvSpPr txBox="1"/>
          <p:nvPr/>
        </p:nvSpPr>
        <p:spPr>
          <a:xfrm>
            <a:off x="635000" y="4457700"/>
            <a:ext cx="6350000" cy="3429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Evidence still needed</a:t>
            </a:r>
            <a:endParaRPr lang="en-US" sz="1900" b="1">
              <a:solidFill>
                <a:srgbClr val="245FEA"/>
              </a:solidFill>
              <a:latin typeface="Arial" panose="020B0604020202020204" pitchFamily="34" charset="0"/>
              <a:cs typeface="Arial" panose="020B0604020202020204" pitchFamily="34" charset="0"/>
            </a:endParaRPr>
          </a:p>
        </p:txBody>
      </p:sp>
      <p:sp>
        <p:nvSpPr>
          <p:cNvPr id="10" name="Text 9"/>
          <p:cNvSpPr txBox="1"/>
          <p:nvPr/>
        </p:nvSpPr>
        <p:spPr>
          <a:xfrm>
            <a:off x="635000" y="4876800"/>
            <a:ext cx="6350000" cy="952500"/>
          </a:xfrm>
          <a:prstGeom prst="rect">
            <a:avLst/>
          </a:prstGeom>
          <a:noFill/>
        </p:spPr>
        <p:txBody>
          <a:bodyPr wrap="square" lIns="0" tIns="0" rIns="0" bIns="0" rtlCol="0" anchor="t">
            <a:noAutofit/>
          </a:bodyPr>
          <a:p>
            <a:pPr>
              <a:spcAft>
                <a:spcPts val="0"/>
              </a:spcAft>
            </a:pPr>
            <a:r>
              <a:rPr lang="en-US" sz="2000">
                <a:solidFill>
                  <a:srgbClr val="10233F"/>
                </a:solidFill>
                <a:latin typeface="Arial" panose="020B0604020202020204" pitchFamily="34" charset="0"/>
                <a:cs typeface="Arial" panose="020B0604020202020204" pitchFamily="34" charset="0"/>
              </a:rPr>
              <a:t>Interviews, current forms and real examples that establish the local problem.</a:t>
            </a:r>
            <a:endParaRPr lang="en-US" sz="2000">
              <a:solidFill>
                <a:srgbClr val="10233F"/>
              </a:solidFill>
              <a:latin typeface="Arial" panose="020B0604020202020204" pitchFamily="34" charset="0"/>
              <a:cs typeface="Arial" panose="020B0604020202020204" pitchFamily="34" charset="0"/>
            </a:endParaRPr>
          </a:p>
        </p:txBody>
      </p:sp>
      <p:sp>
        <p:nvSpPr>
          <p:cNvPr id="11" name="Text 10"/>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3</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A meaningful design contribution</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302000"/>
        </p:xfrm>
        <a:graphic>
          <a:graphicData uri="http://schemas.openxmlformats.org/drawingml/2006/table">
            <a:tbl>
              <a:tblPr firstRow="1" bandRow="1">
                <a:tableStyleId>{5C22544A-7EE6-4342-B048-85BDC9FD1C3A}</a:tableStyleId>
              </a:tblPr>
              <a:tblGrid>
                <a:gridCol w="3302000"/>
                <a:gridCol w="7620000"/>
              </a:tblGrid>
              <a:tr h="8255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Indicator</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What it tells the user</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8255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Availability</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Whether the vehicle is available or undergoing maintenance.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8255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Physical condition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Whether it is Good, Needs Inspection or Needs Repair.</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8255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Verified readiness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Whether a recent checklist supports readiness for use.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The workflow also records repair responsibility and independent verification.</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4</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Maintenance responsibility</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1714500"/>
                <a:gridCol w="2857500"/>
                <a:gridCol w="6350000"/>
              </a:tblGrid>
              <a:tr h="655955">
                <a:tc>
                  <a:txBody>
                    <a:bodyPr wrap="square"/>
                    <a:p>
                      <a:pPr>
                        <a:spcAft>
                          <a:spcPts val="0"/>
                        </a:spcAft>
                        <a:buNone/>
                      </a:pPr>
                      <a:r>
                        <a:rPr lang="en-US" sz="1800" b="1">
                          <a:solidFill>
                            <a:srgbClr val="FFFFFF"/>
                          </a:solidFill>
                          <a:latin typeface="Arial" panose="020B0604020202020204" pitchFamily="34" charset="0"/>
                          <a:cs typeface="Arial" panose="020B0604020202020204" pitchFamily="34" charset="0"/>
                        </a:rPr>
                        <a:t>Step</a:t>
                      </a:r>
                      <a:endParaRPr lang="en-US" sz="18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1800" b="1">
                          <a:solidFill>
                            <a:srgbClr val="FFFFFF"/>
                          </a:solidFill>
                          <a:latin typeface="Arial" panose="020B0604020202020204" pitchFamily="34" charset="0"/>
                          <a:cs typeface="Arial" panose="020B0604020202020204" pitchFamily="34" charset="0"/>
                        </a:rPr>
                        <a:t>Responsible person</a:t>
                      </a:r>
                      <a:endParaRPr lang="en-US" sz="18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1800" b="1">
                          <a:solidFill>
                            <a:srgbClr val="FFFFFF"/>
                          </a:solidFill>
                          <a:latin typeface="Arial" panose="020B0604020202020204" pitchFamily="34" charset="0"/>
                          <a:cs typeface="Arial" panose="020B0604020202020204" pitchFamily="34" charset="0"/>
                        </a:rPr>
                        <a:t>Recorded result</a:t>
                      </a:r>
                      <a:endParaRPr lang="en-US" sz="18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655955">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Proposal</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Custodian</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Pending Approval ticket with repair details.</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55955">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Review</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Admin</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Approval, assignments or a decline reason.</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55955">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Repair</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Assigned mechanic</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Repair log and supporting evidence.</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55955">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Verification</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Assigned Custodian</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Independent check or return for rework.</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55955">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Closure</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System after approval</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800" b="0">
                          <a:solidFill>
                            <a:srgbClr val="10233F"/>
                          </a:solidFill>
                          <a:latin typeface="Arial" panose="020B0604020202020204" pitchFamily="34" charset="0"/>
                          <a:cs typeface="Arial" panose="020B0604020202020204" pitchFamily="34" charset="0"/>
                        </a:rPr>
                        <a:t>Closed ticket and maintenance history.</a:t>
                      </a:r>
                      <a:endParaRPr lang="en-US" sz="18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For external-shop repairs, the Admin handles the shop work. The handler cannot verify it.</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5</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Related literature</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302000"/>
                <a:gridCol w="7620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Research theme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What the review must establish</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Maintenance management</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How comparable systems document repair and preventive work.</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Emergency-fleet readiness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How studies distinguish availability from readiness.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Access and accountability</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Why ownership checks and independent verification matter.</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Research gap</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What the barangay needs that existing approaches do not address.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A complete literature review was unavailable for verification.</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6</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Research methodology</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302000"/>
                <a:gridCol w="7620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Part of the method</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Evidence the team needs</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Requirements gathering</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Participants, interview guide and confirmed requirements.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Development process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Actual iterations, changes and reasons for design decisions.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Evaluation design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Representative roles, tasks, instruments and sampling rationale.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Data analysis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Scoring rules, task measures, dataset and stated limitations.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This is a proposed evidence plan. The team must document the method it actually followed.</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7</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System architecture</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302000"/>
                <a:gridCol w="7620000"/>
              </a:tblGrid>
              <a:tr h="655955">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Component</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Verified role or current status</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React and Vite frontend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Role-based workspaces and maintenance interfaces.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Laravel API</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Validation, permissions and workflow transitions.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Sanctum authentication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Bearer tokens identify authenticated accounts.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SQLite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Demonstrated local database and demo setup.</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PostgreSQL and cloud storage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Deployment targets requiring target-host acceptance.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Maintainability limitation: much of the interface remains in one large Workspace component.</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8</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Technical testing evidence</a:t>
            </a:r>
            <a:endParaRPr lang="en-US" sz="3300" b="1">
              <a:solidFill>
                <a:srgbClr val="10233F"/>
              </a:solidFill>
              <a:latin typeface="Arial" panose="020B0604020202020204" pitchFamily="34" charset="0"/>
              <a:cs typeface="Arial" panose="020B0604020202020204" pitchFamily="34" charset="0"/>
            </a:endParaRPr>
          </a:p>
        </p:txBody>
      </p:sp>
      <p:sp>
        <p:nvSpPr>
          <p:cNvPr id="3" name="Text 2"/>
          <p:cNvSpPr txBox="1"/>
          <p:nvPr/>
        </p:nvSpPr>
        <p:spPr>
          <a:xfrm>
            <a:off x="635000" y="1803400"/>
            <a:ext cx="3429000" cy="1143000"/>
          </a:xfrm>
          <a:prstGeom prst="rect">
            <a:avLst/>
          </a:prstGeom>
          <a:noFill/>
        </p:spPr>
        <p:txBody>
          <a:bodyPr wrap="square" lIns="0" tIns="0" rIns="0" bIns="0" rtlCol="0" anchor="t">
            <a:noAutofit/>
          </a:bodyPr>
          <a:p>
            <a:pPr>
              <a:spcAft>
                <a:spcPts val="0"/>
              </a:spcAft>
            </a:pPr>
            <a:r>
              <a:rPr lang="en-US" sz="5700" b="1">
                <a:solidFill>
                  <a:srgbClr val="245FEA"/>
                </a:solidFill>
                <a:latin typeface="Arial" panose="020B0604020202020204" pitchFamily="34" charset="0"/>
                <a:cs typeface="Arial" panose="020B0604020202020204" pitchFamily="34" charset="0"/>
              </a:rPr>
              <a:t>489</a:t>
            </a:r>
            <a:endParaRPr lang="en-US" sz="5700" b="1">
              <a:solidFill>
                <a:srgbClr val="245FEA"/>
              </a:solidFill>
              <a:latin typeface="Arial" panose="020B0604020202020204" pitchFamily="34" charset="0"/>
              <a:cs typeface="Arial" panose="020B0604020202020204" pitchFamily="34" charset="0"/>
            </a:endParaRPr>
          </a:p>
        </p:txBody>
      </p:sp>
      <p:sp>
        <p:nvSpPr>
          <p:cNvPr id="4" name="Text 3"/>
          <p:cNvSpPr txBox="1"/>
          <p:nvPr/>
        </p:nvSpPr>
        <p:spPr>
          <a:xfrm>
            <a:off x="635000" y="3073400"/>
            <a:ext cx="3429000" cy="825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Backend tests passed</a:t>
            </a:r>
            <a:endParaRPr lang="en-US" sz="2100">
              <a:solidFill>
                <a:srgbClr val="10233F"/>
              </a:solidFill>
              <a:latin typeface="Arial" panose="020B0604020202020204" pitchFamily="34" charset="0"/>
              <a:cs typeface="Arial" panose="020B0604020202020204" pitchFamily="34" charset="0"/>
            </a:endParaRPr>
          </a:p>
        </p:txBody>
      </p:sp>
      <p:sp>
        <p:nvSpPr>
          <p:cNvPr id="5" name="Text 4"/>
          <p:cNvSpPr txBox="1"/>
          <p:nvPr/>
        </p:nvSpPr>
        <p:spPr>
          <a:xfrm>
            <a:off x="4343400" y="1803400"/>
            <a:ext cx="3429000" cy="1143000"/>
          </a:xfrm>
          <a:prstGeom prst="rect">
            <a:avLst/>
          </a:prstGeom>
          <a:noFill/>
        </p:spPr>
        <p:txBody>
          <a:bodyPr wrap="square" lIns="0" tIns="0" rIns="0" bIns="0" rtlCol="0" anchor="t">
            <a:noAutofit/>
          </a:bodyPr>
          <a:p>
            <a:pPr>
              <a:spcAft>
                <a:spcPts val="0"/>
              </a:spcAft>
            </a:pPr>
            <a:r>
              <a:rPr lang="en-US" sz="5700" b="1">
                <a:solidFill>
                  <a:srgbClr val="245FEA"/>
                </a:solidFill>
                <a:latin typeface="Arial" panose="020B0604020202020204" pitchFamily="34" charset="0"/>
                <a:cs typeface="Arial" panose="020B0604020202020204" pitchFamily="34" charset="0"/>
              </a:rPr>
              <a:t>2,339</a:t>
            </a:r>
            <a:endParaRPr lang="en-US" sz="5700" b="1">
              <a:solidFill>
                <a:srgbClr val="245FEA"/>
              </a:solidFill>
              <a:latin typeface="Arial" panose="020B0604020202020204" pitchFamily="34" charset="0"/>
              <a:cs typeface="Arial" panose="020B0604020202020204" pitchFamily="34" charset="0"/>
            </a:endParaRPr>
          </a:p>
        </p:txBody>
      </p:sp>
      <p:sp>
        <p:nvSpPr>
          <p:cNvPr id="6" name="Text 5"/>
          <p:cNvSpPr txBox="1"/>
          <p:nvPr/>
        </p:nvSpPr>
        <p:spPr>
          <a:xfrm>
            <a:off x="4343400" y="3073400"/>
            <a:ext cx="3429000" cy="825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Assertions</a:t>
            </a:r>
            <a:endParaRPr lang="en-US" sz="2100">
              <a:solidFill>
                <a:srgbClr val="10233F"/>
              </a:solidFill>
              <a:latin typeface="Arial" panose="020B0604020202020204" pitchFamily="34" charset="0"/>
              <a:cs typeface="Arial" panose="020B0604020202020204" pitchFamily="34" charset="0"/>
            </a:endParaRPr>
          </a:p>
        </p:txBody>
      </p:sp>
      <p:sp>
        <p:nvSpPr>
          <p:cNvPr id="7" name="Text 6"/>
          <p:cNvSpPr txBox="1"/>
          <p:nvPr/>
        </p:nvSpPr>
        <p:spPr>
          <a:xfrm>
            <a:off x="8051800" y="1803400"/>
            <a:ext cx="3429000" cy="1143000"/>
          </a:xfrm>
          <a:prstGeom prst="rect">
            <a:avLst/>
          </a:prstGeom>
          <a:noFill/>
        </p:spPr>
        <p:txBody>
          <a:bodyPr wrap="square" lIns="0" tIns="0" rIns="0" bIns="0" rtlCol="0" anchor="t">
            <a:noAutofit/>
          </a:bodyPr>
          <a:p>
            <a:pPr>
              <a:spcAft>
                <a:spcPts val="0"/>
              </a:spcAft>
            </a:pPr>
            <a:r>
              <a:rPr lang="en-US" sz="5700" b="1">
                <a:solidFill>
                  <a:srgbClr val="245FEA"/>
                </a:solidFill>
                <a:latin typeface="Arial" panose="020B0604020202020204" pitchFamily="34" charset="0"/>
                <a:cs typeface="Arial" panose="020B0604020202020204" pitchFamily="34" charset="0"/>
              </a:rPr>
              <a:t>11</a:t>
            </a:r>
            <a:endParaRPr lang="en-US" sz="5700" b="1">
              <a:solidFill>
                <a:srgbClr val="245FEA"/>
              </a:solidFill>
              <a:latin typeface="Arial" panose="020B0604020202020204" pitchFamily="34" charset="0"/>
              <a:cs typeface="Arial" panose="020B0604020202020204" pitchFamily="34" charset="0"/>
            </a:endParaRPr>
          </a:p>
        </p:txBody>
      </p:sp>
      <p:sp>
        <p:nvSpPr>
          <p:cNvPr id="8" name="Text 7"/>
          <p:cNvSpPr txBox="1"/>
          <p:nvPr/>
        </p:nvSpPr>
        <p:spPr>
          <a:xfrm>
            <a:off x="8051800" y="3073400"/>
            <a:ext cx="3429000" cy="825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Demo photo files matched</a:t>
            </a:r>
            <a:endParaRPr lang="en-US" sz="2100">
              <a:solidFill>
                <a:srgbClr val="10233F"/>
              </a:solidFill>
              <a:latin typeface="Arial" panose="020B0604020202020204" pitchFamily="34" charset="0"/>
              <a:cs typeface="Arial" panose="020B0604020202020204" pitchFamily="34" charset="0"/>
            </a:endParaRPr>
          </a:p>
        </p:txBody>
      </p:sp>
      <p:sp>
        <p:nvSpPr>
          <p:cNvPr id="9" name="Text 8"/>
          <p:cNvSpPr txBox="1"/>
          <p:nvPr/>
        </p:nvSpPr>
        <p:spPr>
          <a:xfrm>
            <a:off x="635000" y="4457700"/>
            <a:ext cx="10668000" cy="1079500"/>
          </a:xfrm>
          <a:prstGeom prst="rect">
            <a:avLst/>
          </a:prstGeom>
          <a:noFill/>
        </p:spPr>
        <p:txBody>
          <a:bodyPr wrap="square" lIns="0" tIns="0" rIns="0" bIns="0" rtlCol="0" anchor="t">
            <a:noAutofit/>
          </a:bodyPr>
          <a:p>
            <a:pPr>
              <a:spcAft>
                <a:spcPts val="0"/>
              </a:spcAft>
            </a:pPr>
            <a:r>
              <a:rPr lang="en-US" sz="2400">
                <a:solidFill>
                  <a:srgbClr val="10233F"/>
                </a:solidFill>
                <a:latin typeface="Arial" panose="020B0604020202020204" pitchFamily="34" charset="0"/>
                <a:cs typeface="Arial" panose="020B0604020202020204" pitchFamily="34" charset="0"/>
              </a:rPr>
              <a:t>The frontend build passed in a separate checkout after dependency installation.</a:t>
            </a:r>
            <a:endParaRPr lang="en-US" sz="2400">
              <a:solidFill>
                <a:srgbClr val="10233F"/>
              </a:solidFill>
              <a:latin typeface="Arial" panose="020B0604020202020204" pitchFamily="34" charset="0"/>
              <a:cs typeface="Arial" panose="020B0604020202020204" pitchFamily="34" charset="0"/>
            </a:endParaRPr>
          </a:p>
        </p:txBody>
      </p:sp>
      <p:sp>
        <p:nvSpPr>
          <p:cNvPr id="10" name="Text 9"/>
          <p:cNvSpPr txBox="1"/>
          <p:nvPr/>
        </p:nvSpPr>
        <p:spPr>
          <a:xfrm>
            <a:off x="635000" y="6007100"/>
            <a:ext cx="10541000" cy="6096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Recorded results at revision 72d754c. Existing tests do not close the six audit findings.</a:t>
            </a:r>
            <a:endParaRPr lang="en-US" sz="1600">
              <a:solidFill>
                <a:srgbClr val="53647A"/>
              </a:solidFill>
              <a:latin typeface="Arial" panose="020B0604020202020204" pitchFamily="34" charset="0"/>
              <a:cs typeface="Arial" panose="020B0604020202020204" pitchFamily="34" charset="0"/>
            </a:endParaRPr>
          </a:p>
        </p:txBody>
      </p:sp>
      <p:sp>
        <p:nvSpPr>
          <p:cNvPr id="11" name="Text 10"/>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9</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Six open audit findings</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4445000"/>
        </p:xfrm>
        <a:graphic>
          <a:graphicData uri="http://schemas.openxmlformats.org/drawingml/2006/table">
            <a:tbl>
              <a:tblPr firstRow="1" bandRow="1">
                <a:tableStyleId>{5C22544A-7EE6-4342-B048-85BDC9FD1C3A}</a:tableStyleId>
              </a:tblPr>
              <a:tblGrid>
                <a:gridCol w="825500"/>
                <a:gridCol w="1397000"/>
                <a:gridCol w="8699500"/>
              </a:tblGrid>
              <a:tr h="635000">
                <a:tc>
                  <a:txBody>
                    <a:bodyPr wrap="square"/>
                    <a:p>
                      <a:pPr>
                        <a:spcAft>
                          <a:spcPts val="0"/>
                        </a:spcAft>
                        <a:buNone/>
                      </a:pPr>
                      <a:r>
                        <a:rPr lang="en-US" sz="1700" b="1">
                          <a:solidFill>
                            <a:srgbClr val="FFFFFF"/>
                          </a:solidFill>
                          <a:latin typeface="Arial" panose="020B0604020202020204" pitchFamily="34" charset="0"/>
                          <a:cs typeface="Arial" panose="020B0604020202020204" pitchFamily="34" charset="0"/>
                        </a:rPr>
                        <a:t>ID</a:t>
                      </a:r>
                      <a:endParaRPr lang="en-US" sz="17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1700" b="1">
                          <a:solidFill>
                            <a:srgbClr val="FFFFFF"/>
                          </a:solidFill>
                          <a:latin typeface="Arial" panose="020B0604020202020204" pitchFamily="34" charset="0"/>
                          <a:cs typeface="Arial" panose="020B0604020202020204" pitchFamily="34" charset="0"/>
                        </a:rPr>
                        <a:t>Priority</a:t>
                      </a:r>
                      <a:endParaRPr lang="en-US" sz="17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1700" b="1">
                          <a:solidFill>
                            <a:srgbClr val="FFFFFF"/>
                          </a:solidFill>
                          <a:latin typeface="Arial" panose="020B0604020202020204" pitchFamily="34" charset="0"/>
                          <a:cs typeface="Arial" panose="020B0604020202020204" pitchFamily="34" charset="0"/>
                        </a:rPr>
                        <a:t>Finding</a:t>
                      </a:r>
                      <a:endParaRPr lang="en-US" sz="17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635000">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01</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High</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A response can sign an inaccessible managed-file reference.</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35000">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02</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High</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Direct issue details bypass list visibility restrictions.</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35000">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03</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High</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Shared catalog edits affect other barangays and history.</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35000">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04</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High</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Parts removal leaves an earlier readiness pass current.</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35000">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05</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Medium</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CSV exports retain formula-leading untrusted text.</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35000">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06</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Medium</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1700" b="0">
                          <a:solidFill>
                            <a:srgbClr val="10233F"/>
                          </a:solidFill>
                          <a:latin typeface="Arial" panose="020B0604020202020204" pitchFamily="34" charset="0"/>
                          <a:cs typeface="Arial" panose="020B0604020202020204" pitchFamily="34" charset="0"/>
                        </a:rPr>
                        <a:t>Schedule completion accepts future dates.</a:t>
                      </a:r>
                      <a:endParaRPr lang="en-US" sz="17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Security and workflow acceptance remain incomplete until fixes pass rejection-based tests.</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10</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Usability and error handling</a:t>
            </a:r>
            <a:endParaRPr lang="en-US" sz="3300" b="1">
              <a:solidFill>
                <a:srgbClr val="10233F"/>
              </a:solidFill>
              <a:latin typeface="Arial" panose="020B0604020202020204" pitchFamily="34" charset="0"/>
              <a:cs typeface="Arial" panose="020B0604020202020204" pitchFamily="34" charset="0"/>
            </a:endParaRPr>
          </a:p>
        </p:txBody>
      </p:sp>
      <p:sp>
        <p:nvSpPr>
          <p:cNvPr id="3" name="Text 2"/>
          <p:cNvSpPr txBox="1"/>
          <p:nvPr/>
        </p:nvSpPr>
        <p:spPr>
          <a:xfrm>
            <a:off x="635000" y="1651000"/>
            <a:ext cx="4953000" cy="508000"/>
          </a:xfrm>
          <a:prstGeom prst="rect">
            <a:avLst/>
          </a:prstGeom>
          <a:noFill/>
        </p:spPr>
        <p:txBody>
          <a:bodyPr wrap="square" lIns="0" tIns="0" rIns="0" bIns="0" rtlCol="0" anchor="t">
            <a:noAutofit/>
          </a:bodyPr>
          <a:p>
            <a:pPr>
              <a:spcAft>
                <a:spcPts val="0"/>
              </a:spcAft>
            </a:pPr>
            <a:r>
              <a:rPr lang="en-US" sz="2300" b="1">
                <a:solidFill>
                  <a:srgbClr val="245FEA"/>
                </a:solidFill>
                <a:latin typeface="Arial" panose="020B0604020202020204" pitchFamily="34" charset="0"/>
                <a:cs typeface="Arial" panose="020B0604020202020204" pitchFamily="34" charset="0"/>
              </a:rPr>
              <a:t>Available evidence</a:t>
            </a:r>
            <a:endParaRPr lang="en-US" sz="2300" b="1">
              <a:solidFill>
                <a:srgbClr val="245FEA"/>
              </a:solidFill>
              <a:latin typeface="Arial" panose="020B0604020202020204" pitchFamily="34" charset="0"/>
              <a:cs typeface="Arial" panose="020B0604020202020204" pitchFamily="34" charset="0"/>
            </a:endParaRPr>
          </a:p>
        </p:txBody>
      </p:sp>
      <p:sp>
        <p:nvSpPr>
          <p:cNvPr id="4" name="Text 3"/>
          <p:cNvSpPr txBox="1"/>
          <p:nvPr/>
        </p:nvSpPr>
        <p:spPr>
          <a:xfrm>
            <a:off x="6477000" y="1651000"/>
            <a:ext cx="4953000" cy="508000"/>
          </a:xfrm>
          <a:prstGeom prst="rect">
            <a:avLst/>
          </a:prstGeom>
          <a:noFill/>
        </p:spPr>
        <p:txBody>
          <a:bodyPr wrap="square" lIns="0" tIns="0" rIns="0" bIns="0" rtlCol="0" anchor="t">
            <a:noAutofit/>
          </a:bodyPr>
          <a:p>
            <a:pPr>
              <a:spcAft>
                <a:spcPts val="0"/>
              </a:spcAft>
            </a:pPr>
            <a:r>
              <a:rPr lang="en-US" sz="2300" b="1">
                <a:solidFill>
                  <a:srgbClr val="245FEA"/>
                </a:solidFill>
                <a:latin typeface="Arial" panose="020B0604020202020204" pitchFamily="34" charset="0"/>
                <a:cs typeface="Arial" panose="020B0604020202020204" pitchFamily="34" charset="0"/>
              </a:rPr>
              <a:t>Evaluation still needed</a:t>
            </a:r>
            <a:endParaRPr lang="en-US" sz="2300" b="1">
              <a:solidFill>
                <a:srgbClr val="245FEA"/>
              </a:solidFill>
              <a:latin typeface="Arial" panose="020B0604020202020204" pitchFamily="34" charset="0"/>
              <a:cs typeface="Arial" panose="020B0604020202020204" pitchFamily="34" charset="0"/>
            </a:endParaRPr>
          </a:p>
        </p:txBody>
      </p:sp>
      <p:sp>
        <p:nvSpPr>
          <p:cNvPr id="5" name="Text 4"/>
          <p:cNvSpPr txBox="1"/>
          <p:nvPr/>
        </p:nvSpPr>
        <p:spPr>
          <a:xfrm>
            <a:off x="635000" y="24384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Role-focused workspaces and assigned tasks</a:t>
            </a:r>
            <a:endParaRPr lang="en-US" sz="2100">
              <a:solidFill>
                <a:srgbClr val="10233F"/>
              </a:solidFill>
              <a:latin typeface="Arial" panose="020B0604020202020204" pitchFamily="34" charset="0"/>
              <a:cs typeface="Arial" panose="020B0604020202020204" pitchFamily="34" charset="0"/>
            </a:endParaRPr>
          </a:p>
        </p:txBody>
      </p:sp>
      <p:sp>
        <p:nvSpPr>
          <p:cNvPr id="6" name="Text 5"/>
          <p:cNvSpPr txBox="1"/>
          <p:nvPr/>
        </p:nvSpPr>
        <p:spPr>
          <a:xfrm>
            <a:off x="635000" y="35433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Search, filters and inline field validation</a:t>
            </a:r>
            <a:endParaRPr lang="en-US" sz="2100">
              <a:solidFill>
                <a:srgbClr val="10233F"/>
              </a:solidFill>
              <a:latin typeface="Arial" panose="020B0604020202020204" pitchFamily="34" charset="0"/>
              <a:cs typeface="Arial" panose="020B0604020202020204" pitchFamily="34" charset="0"/>
            </a:endParaRPr>
          </a:p>
        </p:txBody>
      </p:sp>
      <p:sp>
        <p:nvSpPr>
          <p:cNvPr id="7" name="Text 6"/>
          <p:cNvSpPr txBox="1"/>
          <p:nvPr/>
        </p:nvSpPr>
        <p:spPr>
          <a:xfrm>
            <a:off x="635000" y="46482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Server-side refusals for invalid actions</a:t>
            </a:r>
            <a:endParaRPr lang="en-US" sz="2100">
              <a:solidFill>
                <a:srgbClr val="10233F"/>
              </a:solidFill>
              <a:latin typeface="Arial" panose="020B0604020202020204" pitchFamily="34" charset="0"/>
              <a:cs typeface="Arial" panose="020B0604020202020204" pitchFamily="34" charset="0"/>
            </a:endParaRPr>
          </a:p>
        </p:txBody>
      </p:sp>
      <p:sp>
        <p:nvSpPr>
          <p:cNvPr id="8" name="Text 7"/>
          <p:cNvSpPr txBox="1"/>
          <p:nvPr/>
        </p:nvSpPr>
        <p:spPr>
          <a:xfrm>
            <a:off x="6477000" y="24384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Observe representative users completing tasks</a:t>
            </a:r>
            <a:endParaRPr lang="en-US" sz="2100">
              <a:solidFill>
                <a:srgbClr val="10233F"/>
              </a:solidFill>
              <a:latin typeface="Arial" panose="020B0604020202020204" pitchFamily="34" charset="0"/>
              <a:cs typeface="Arial" panose="020B0604020202020204" pitchFamily="34" charset="0"/>
            </a:endParaRPr>
          </a:p>
        </p:txBody>
      </p:sp>
      <p:sp>
        <p:nvSpPr>
          <p:cNvPr id="9" name="Text 8"/>
          <p:cNvSpPr txBox="1"/>
          <p:nvPr/>
        </p:nvSpPr>
        <p:spPr>
          <a:xfrm>
            <a:off x="6477000" y="35433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Record errors, completion and help required</a:t>
            </a:r>
            <a:endParaRPr lang="en-US" sz="2100">
              <a:solidFill>
                <a:srgbClr val="10233F"/>
              </a:solidFill>
              <a:latin typeface="Arial" panose="020B0604020202020204" pitchFamily="34" charset="0"/>
              <a:cs typeface="Arial" panose="020B0604020202020204" pitchFamily="34" charset="0"/>
            </a:endParaRPr>
          </a:p>
        </p:txBody>
      </p:sp>
      <p:sp>
        <p:nvSpPr>
          <p:cNvPr id="10" name="Text 9"/>
          <p:cNvSpPr txBox="1"/>
          <p:nvPr/>
        </p:nvSpPr>
        <p:spPr>
          <a:xfrm>
            <a:off x="6477000" y="46482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Explain failure messages and recovery paths</a:t>
            </a:r>
            <a:endParaRPr lang="en-US" sz="2100">
              <a:solidFill>
                <a:srgbClr val="10233F"/>
              </a:solidFill>
              <a:latin typeface="Arial" panose="020B0604020202020204" pitchFamily="34" charset="0"/>
              <a:cs typeface="Arial" panose="020B0604020202020204" pitchFamily="34" charset="0"/>
            </a:endParaRPr>
          </a:p>
        </p:txBody>
      </p:sp>
      <p:sp>
        <p:nvSpPr>
          <p:cNvPr id="11" name="Text 10"/>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11</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Results and validation</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302000"/>
                <a:gridCol w="7620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Supported claim</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Evidence still needed for stronger claims</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Core maintenance workflows run locally.</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User acceptance with representative roles and records.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The shared demo can be recreated.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 deployment pilot with actual operating constraints.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SQLite backup creation was demonstrated.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Restore verification and recovery on the target host.</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Tests check selected controls and failures.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Coverage of open findings, load and service interruptions.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Reduced downtime, faster response and higher productivity remain unmeasured outcomes.</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12</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Documentation, permissions and privacy</a:t>
            </a:r>
            <a:endParaRPr lang="en-US" sz="3300" b="1">
              <a:solidFill>
                <a:srgbClr val="10233F"/>
              </a:solidFill>
              <a:latin typeface="Arial" panose="020B0604020202020204" pitchFamily="34" charset="0"/>
              <a:cs typeface="Arial" panose="020B0604020202020204" pitchFamily="34" charset="0"/>
            </a:endParaRPr>
          </a:p>
        </p:txBody>
      </p:sp>
      <p:sp>
        <p:nvSpPr>
          <p:cNvPr id="3" name="Text 2"/>
          <p:cNvSpPr txBox="1"/>
          <p:nvPr/>
        </p:nvSpPr>
        <p:spPr>
          <a:xfrm>
            <a:off x="635000" y="1651000"/>
            <a:ext cx="4953000" cy="508000"/>
          </a:xfrm>
          <a:prstGeom prst="rect">
            <a:avLst/>
          </a:prstGeom>
          <a:noFill/>
        </p:spPr>
        <p:txBody>
          <a:bodyPr wrap="square" lIns="0" tIns="0" rIns="0" bIns="0" rtlCol="0" anchor="t">
            <a:noAutofit/>
          </a:bodyPr>
          <a:p>
            <a:pPr>
              <a:spcAft>
                <a:spcPts val="0"/>
              </a:spcAft>
            </a:pPr>
            <a:r>
              <a:rPr lang="en-US" sz="2300" b="1">
                <a:solidFill>
                  <a:srgbClr val="245FEA"/>
                </a:solidFill>
                <a:latin typeface="Arial" panose="020B0604020202020204" pitchFamily="34" charset="0"/>
                <a:cs typeface="Arial" panose="020B0604020202020204" pitchFamily="34" charset="0"/>
              </a:rPr>
              <a:t>Current position</a:t>
            </a:r>
            <a:endParaRPr lang="en-US" sz="2300" b="1">
              <a:solidFill>
                <a:srgbClr val="245FEA"/>
              </a:solidFill>
              <a:latin typeface="Arial" panose="020B0604020202020204" pitchFamily="34" charset="0"/>
              <a:cs typeface="Arial" panose="020B0604020202020204" pitchFamily="34" charset="0"/>
            </a:endParaRPr>
          </a:p>
        </p:txBody>
      </p:sp>
      <p:sp>
        <p:nvSpPr>
          <p:cNvPr id="4" name="Text 3"/>
          <p:cNvSpPr txBox="1"/>
          <p:nvPr/>
        </p:nvSpPr>
        <p:spPr>
          <a:xfrm>
            <a:off x="6477000" y="1651000"/>
            <a:ext cx="4953000" cy="508000"/>
          </a:xfrm>
          <a:prstGeom prst="rect">
            <a:avLst/>
          </a:prstGeom>
          <a:noFill/>
        </p:spPr>
        <p:txBody>
          <a:bodyPr wrap="square" lIns="0" tIns="0" rIns="0" bIns="0" rtlCol="0" anchor="t">
            <a:noAutofit/>
          </a:bodyPr>
          <a:p>
            <a:pPr>
              <a:spcAft>
                <a:spcPts val="0"/>
              </a:spcAft>
            </a:pPr>
            <a:r>
              <a:rPr lang="en-US" sz="2300" b="1">
                <a:solidFill>
                  <a:srgbClr val="245FEA"/>
                </a:solidFill>
                <a:latin typeface="Arial" panose="020B0604020202020204" pitchFamily="34" charset="0"/>
                <a:cs typeface="Arial" panose="020B0604020202020204" pitchFamily="34" charset="0"/>
              </a:rPr>
              <a:t>Required evidence</a:t>
            </a:r>
            <a:endParaRPr lang="en-US" sz="2300" b="1">
              <a:solidFill>
                <a:srgbClr val="245FEA"/>
              </a:solidFill>
              <a:latin typeface="Arial" panose="020B0604020202020204" pitchFamily="34" charset="0"/>
              <a:cs typeface="Arial" panose="020B0604020202020204" pitchFamily="34" charset="0"/>
            </a:endParaRPr>
          </a:p>
        </p:txBody>
      </p:sp>
      <p:sp>
        <p:nvSpPr>
          <p:cNvPr id="5" name="Text 4"/>
          <p:cNvSpPr txBox="1"/>
          <p:nvPr/>
        </p:nvSpPr>
        <p:spPr>
          <a:xfrm>
            <a:off x="635000" y="24384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Technical references and diagrams exist</a:t>
            </a:r>
            <a:endParaRPr lang="en-US" sz="2100">
              <a:solidFill>
                <a:srgbClr val="10233F"/>
              </a:solidFill>
              <a:latin typeface="Arial" panose="020B0604020202020204" pitchFamily="34" charset="0"/>
              <a:cs typeface="Arial" panose="020B0604020202020204" pitchFamily="34" charset="0"/>
            </a:endParaRPr>
          </a:p>
        </p:txBody>
      </p:sp>
      <p:sp>
        <p:nvSpPr>
          <p:cNvPr id="6" name="Text 5"/>
          <p:cNvSpPr txBox="1"/>
          <p:nvPr/>
        </p:nvSpPr>
        <p:spPr>
          <a:xfrm>
            <a:off x="635000" y="35433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The full manuscript and citation list remain unverified</a:t>
            </a:r>
            <a:endParaRPr lang="en-US" sz="2100">
              <a:solidFill>
                <a:srgbClr val="10233F"/>
              </a:solidFill>
              <a:latin typeface="Arial" panose="020B0604020202020204" pitchFamily="34" charset="0"/>
              <a:cs typeface="Arial" panose="020B0604020202020204" pitchFamily="34" charset="0"/>
            </a:endParaRPr>
          </a:p>
        </p:txBody>
      </p:sp>
      <p:sp>
        <p:nvSpPr>
          <p:cNvPr id="7" name="Text 6"/>
          <p:cNvSpPr txBox="1"/>
          <p:nvPr/>
        </p:nvSpPr>
        <p:spPr>
          <a:xfrm>
            <a:off x="635000" y="46482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Permission and participant records remain unverified</a:t>
            </a:r>
            <a:endParaRPr lang="en-US" sz="2100">
              <a:solidFill>
                <a:srgbClr val="10233F"/>
              </a:solidFill>
              <a:latin typeface="Arial" panose="020B0604020202020204" pitchFamily="34" charset="0"/>
              <a:cs typeface="Arial" panose="020B0604020202020204" pitchFamily="34" charset="0"/>
            </a:endParaRPr>
          </a:p>
        </p:txBody>
      </p:sp>
      <p:sp>
        <p:nvSpPr>
          <p:cNvPr id="8" name="Text 7"/>
          <p:cNvSpPr txBox="1"/>
          <p:nvPr/>
        </p:nvSpPr>
        <p:spPr>
          <a:xfrm>
            <a:off x="6477000" y="24384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Align manuscript, slides, manuals and code</a:t>
            </a:r>
            <a:endParaRPr lang="en-US" sz="2100">
              <a:solidFill>
                <a:srgbClr val="10233F"/>
              </a:solidFill>
              <a:latin typeface="Arial" panose="020B0604020202020204" pitchFamily="34" charset="0"/>
              <a:cs typeface="Arial" panose="020B0604020202020204" pitchFamily="34" charset="0"/>
            </a:endParaRPr>
          </a:p>
        </p:txBody>
      </p:sp>
      <p:sp>
        <p:nvSpPr>
          <p:cNvPr id="9" name="Text 8"/>
          <p:cNvSpPr txBox="1"/>
          <p:nvPr/>
        </p:nvSpPr>
        <p:spPr>
          <a:xfrm>
            <a:off x="6477000" y="35433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Confirm data and image-use authorization</a:t>
            </a:r>
            <a:endParaRPr lang="en-US" sz="2100">
              <a:solidFill>
                <a:srgbClr val="10233F"/>
              </a:solidFill>
              <a:latin typeface="Arial" panose="020B0604020202020204" pitchFamily="34" charset="0"/>
              <a:cs typeface="Arial" panose="020B0604020202020204" pitchFamily="34" charset="0"/>
            </a:endParaRPr>
          </a:p>
        </p:txBody>
      </p:sp>
      <p:sp>
        <p:nvSpPr>
          <p:cNvPr id="10" name="Text 9"/>
          <p:cNvSpPr txBox="1"/>
          <p:nvPr/>
        </p:nvSpPr>
        <p:spPr>
          <a:xfrm>
            <a:off x="6477000" y="4648200"/>
            <a:ext cx="4953000" cy="952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Define lawful basis, access, retention and deletion</a:t>
            </a:r>
            <a:endParaRPr lang="en-US" sz="2100">
              <a:solidFill>
                <a:srgbClr val="10233F"/>
              </a:solidFill>
              <a:latin typeface="Arial" panose="020B0604020202020204" pitchFamily="34" charset="0"/>
              <a:cs typeface="Arial" panose="020B0604020202020204" pitchFamily="34" charset="0"/>
            </a:endParaRPr>
          </a:p>
        </p:txBody>
      </p:sp>
      <p:sp>
        <p:nvSpPr>
          <p:cNvPr id="11" name="Text 10"/>
          <p:cNvSpPr txBox="1"/>
          <p:nvPr/>
        </p:nvSpPr>
        <p:spPr>
          <a:xfrm>
            <a:off x="635000" y="6070600"/>
            <a:ext cx="10541000" cy="5080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Technical access controls alone do not establish privacy compliance.</a:t>
            </a:r>
            <a:endParaRPr lang="en-US" sz="1600">
              <a:solidFill>
                <a:srgbClr val="53647A"/>
              </a:solidFill>
              <a:latin typeface="Arial" panose="020B0604020202020204" pitchFamily="34" charset="0"/>
              <a:cs typeface="Arial" panose="020B0604020202020204" pitchFamily="34" charset="0"/>
            </a:endParaRPr>
          </a:p>
        </p:txBody>
      </p:sp>
      <p:sp>
        <p:nvSpPr>
          <p:cNvPr id="12" name="Text 11"/>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13</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AI assistance and accountability</a:t>
            </a:r>
            <a:endParaRPr lang="en-US" sz="3300" b="1">
              <a:solidFill>
                <a:srgbClr val="10233F"/>
              </a:solidFill>
              <a:latin typeface="Arial" panose="020B0604020202020204" pitchFamily="34" charset="0"/>
              <a:cs typeface="Arial" panose="020B0604020202020204" pitchFamily="34" charset="0"/>
            </a:endParaRPr>
          </a:p>
        </p:txBody>
      </p:sp>
      <p:sp>
        <p:nvSpPr>
          <p:cNvPr id="3" name="Text 2"/>
          <p:cNvSpPr txBox="1"/>
          <p:nvPr/>
        </p:nvSpPr>
        <p:spPr>
          <a:xfrm>
            <a:off x="635000" y="1587500"/>
            <a:ext cx="10795000" cy="1397000"/>
          </a:xfrm>
          <a:prstGeom prst="rect">
            <a:avLst/>
          </a:prstGeom>
          <a:noFill/>
        </p:spPr>
        <p:txBody>
          <a:bodyPr wrap="square" lIns="0" tIns="0" rIns="0" bIns="0" rtlCol="0" anchor="t">
            <a:noAutofit/>
          </a:bodyPr>
          <a:p>
            <a:pPr>
              <a:spcAft>
                <a:spcPts val="0"/>
              </a:spcAft>
            </a:pPr>
            <a:r>
              <a:rPr lang="en-US" sz="3200" b="1">
                <a:solidFill>
                  <a:srgbClr val="245FEA"/>
                </a:solidFill>
                <a:latin typeface="Arial" panose="020B0604020202020204" pitchFamily="34" charset="0"/>
                <a:cs typeface="Arial" panose="020B0604020202020204" pitchFamily="34" charset="0"/>
              </a:rPr>
              <a:t>AI assistance contributed to code, debugging, tests and documentation.</a:t>
            </a:r>
            <a:endParaRPr lang="en-US" sz="3200" b="1">
              <a:solidFill>
                <a:srgbClr val="245FEA"/>
              </a:solidFill>
              <a:latin typeface="Arial" panose="020B0604020202020204" pitchFamily="34" charset="0"/>
              <a:cs typeface="Arial" panose="020B0604020202020204" pitchFamily="34" charset="0"/>
            </a:endParaRPr>
          </a:p>
        </p:txBody>
      </p:sp>
      <p:sp>
        <p:nvSpPr>
          <p:cNvPr id="4" name="Text 3"/>
          <p:cNvSpPr txBox="1"/>
          <p:nvPr/>
        </p:nvSpPr>
        <p:spPr>
          <a:xfrm>
            <a:off x="635000" y="3505200"/>
            <a:ext cx="2921000" cy="6858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Disclosure</a:t>
            </a:r>
            <a:endParaRPr lang="en-US" sz="1900" b="1">
              <a:solidFill>
                <a:srgbClr val="245FEA"/>
              </a:solidFill>
              <a:latin typeface="Arial" panose="020B0604020202020204" pitchFamily="34" charset="0"/>
              <a:cs typeface="Arial" panose="020B0604020202020204" pitchFamily="34" charset="0"/>
            </a:endParaRPr>
          </a:p>
        </p:txBody>
      </p:sp>
      <p:sp>
        <p:nvSpPr>
          <p:cNvPr id="5" name="Text 4"/>
          <p:cNvSpPr txBox="1"/>
          <p:nvPr/>
        </p:nvSpPr>
        <p:spPr>
          <a:xfrm>
            <a:off x="3810000" y="3505200"/>
            <a:ext cx="7493000" cy="825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Identify the tools, their actual uses and the affected work.</a:t>
            </a:r>
            <a:endParaRPr lang="en-US" sz="2100">
              <a:solidFill>
                <a:srgbClr val="10233F"/>
              </a:solidFill>
              <a:latin typeface="Arial" panose="020B0604020202020204" pitchFamily="34" charset="0"/>
              <a:cs typeface="Arial" panose="020B0604020202020204" pitchFamily="34" charset="0"/>
            </a:endParaRPr>
          </a:p>
        </p:txBody>
      </p:sp>
      <p:sp>
        <p:nvSpPr>
          <p:cNvPr id="6" name="Text 5"/>
          <p:cNvSpPr txBox="1"/>
          <p:nvPr/>
        </p:nvSpPr>
        <p:spPr>
          <a:xfrm>
            <a:off x="635000" y="4457700"/>
            <a:ext cx="2921000" cy="6858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Team responsibility</a:t>
            </a:r>
            <a:endParaRPr lang="en-US" sz="1900" b="1">
              <a:solidFill>
                <a:srgbClr val="245FEA"/>
              </a:solidFill>
              <a:latin typeface="Arial" panose="020B0604020202020204" pitchFamily="34" charset="0"/>
              <a:cs typeface="Arial" panose="020B0604020202020204" pitchFamily="34" charset="0"/>
            </a:endParaRPr>
          </a:p>
        </p:txBody>
      </p:sp>
      <p:sp>
        <p:nvSpPr>
          <p:cNvPr id="7" name="Text 6"/>
          <p:cNvSpPr txBox="1"/>
          <p:nvPr/>
        </p:nvSpPr>
        <p:spPr>
          <a:xfrm>
            <a:off x="3810000" y="4457700"/>
            <a:ext cx="7493000" cy="825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Explain what each proponent personally reviewed and verified.</a:t>
            </a:r>
            <a:endParaRPr lang="en-US" sz="2100">
              <a:solidFill>
                <a:srgbClr val="10233F"/>
              </a:solidFill>
              <a:latin typeface="Arial" panose="020B0604020202020204" pitchFamily="34" charset="0"/>
              <a:cs typeface="Arial" panose="020B0604020202020204" pitchFamily="34" charset="0"/>
            </a:endParaRPr>
          </a:p>
        </p:txBody>
      </p:sp>
      <p:sp>
        <p:nvSpPr>
          <p:cNvPr id="8" name="Text 7"/>
          <p:cNvSpPr txBox="1"/>
          <p:nvPr/>
        </p:nvSpPr>
        <p:spPr>
          <a:xfrm>
            <a:off x="635000" y="5410200"/>
            <a:ext cx="2921000" cy="6858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Academic requirements</a:t>
            </a:r>
            <a:endParaRPr lang="en-US" sz="1900" b="1">
              <a:solidFill>
                <a:srgbClr val="245FEA"/>
              </a:solidFill>
              <a:latin typeface="Arial" panose="020B0604020202020204" pitchFamily="34" charset="0"/>
              <a:cs typeface="Arial" panose="020B0604020202020204" pitchFamily="34" charset="0"/>
            </a:endParaRPr>
          </a:p>
        </p:txBody>
      </p:sp>
      <p:sp>
        <p:nvSpPr>
          <p:cNvPr id="9" name="Text 8"/>
          <p:cNvSpPr txBox="1"/>
          <p:nvPr/>
        </p:nvSpPr>
        <p:spPr>
          <a:xfrm>
            <a:off x="3810000" y="5410200"/>
            <a:ext cx="7493000" cy="825500"/>
          </a:xfrm>
          <a:prstGeom prst="rect">
            <a:avLst/>
          </a:prstGeom>
          <a:noFill/>
        </p:spPr>
        <p:txBody>
          <a:bodyPr wrap="square" lIns="0" tIns="0" rIns="0" bIns="0" rtlCol="0" anchor="t">
            <a:noAutofit/>
          </a:bodyPr>
          <a:p>
            <a:pPr>
              <a:spcAft>
                <a:spcPts val="0"/>
              </a:spcAft>
            </a:pPr>
            <a:r>
              <a:rPr lang="en-US" sz="2100">
                <a:solidFill>
                  <a:srgbClr val="10233F"/>
                </a:solidFill>
                <a:latin typeface="Arial" panose="020B0604020202020204" pitchFamily="34" charset="0"/>
                <a:cs typeface="Arial" panose="020B0604020202020204" pitchFamily="34" charset="0"/>
              </a:rPr>
              <a:t>Follow the institution's disclosure policy and keep supporting records.</a:t>
            </a:r>
            <a:endParaRPr lang="en-US" sz="2100">
              <a:solidFill>
                <a:srgbClr val="10233F"/>
              </a:solidFill>
              <a:latin typeface="Arial" panose="020B0604020202020204" pitchFamily="34" charset="0"/>
              <a:cs typeface="Arial" panose="020B0604020202020204" pitchFamily="34" charset="0"/>
            </a:endParaRPr>
          </a:p>
        </p:txBody>
      </p:sp>
      <p:sp>
        <p:nvSpPr>
          <p:cNvPr id="10" name="Text 9"/>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14</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Presentation and defense</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302000"/>
                <a:gridCol w="7620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Panel question</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Evidence the team should use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Why separate availability and readiness?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Explain the three indicators using a sample vehicle.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Who may verify a repair?</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Show assignment and self-verification restrictions.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How did you evaluate the system?</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Show test results, coverage limits and any actual UAT.</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What remains unfinished?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Show the open audit, research gaps and deployment checks.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Every member should explain the method and results in their own words.</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15</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Staffing and operational feasibility</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302000"/>
                <a:gridCol w="7620000"/>
              </a:tblGrid>
              <a:tr h="787400">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Situation</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Current workflow response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One mechanic and one Custodian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The mechanic repairs. The Custodian independently verifies.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Mechanic unavailable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Admin assigns another qualified mechanic or repair work waits.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Custodian unavailable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Admin reassigns to another Custodian or verification waits.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787400">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One person holds both roles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That person cannot verify their own repairs.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The Admin cannot use impersonation to perform work under an absent employee's name.</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16</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Practical impact and scope</a:t>
            </a:r>
            <a:endParaRPr lang="en-US" sz="3300" b="1">
              <a:solidFill>
                <a:srgbClr val="10233F"/>
              </a:solidFill>
              <a:latin typeface="Arial" panose="020B0604020202020204" pitchFamily="34" charset="0"/>
              <a:cs typeface="Arial" panose="020B0604020202020204" pitchFamily="34" charset="0"/>
            </a:endParaRPr>
          </a:p>
        </p:txBody>
      </p:sp>
      <p:pic>
        <p:nvPicPr>
          <p:cNvPr id="3" name="Picture 2" descr="ambulance-02-sprinter"/>
          <p:cNvPicPr>
            <a:picLocks noChangeAspect="1"/>
          </p:cNvPicPr>
          <p:nvPr/>
        </p:nvPicPr>
        <p:blipFill>
          <a:blip r:embed="rId1"/>
          <a:stretch>
            <a:fillRect/>
          </a:stretch>
        </p:blipFill>
        <p:spPr>
          <a:xfrm>
            <a:off x="7537450" y="1803400"/>
            <a:ext cx="3937000" cy="3937000"/>
          </a:xfrm>
          <a:prstGeom prst="rect">
            <a:avLst/>
          </a:prstGeom>
        </p:spPr>
      </p:pic>
      <p:sp>
        <p:nvSpPr>
          <p:cNvPr id="4" name="Text 3"/>
          <p:cNvSpPr txBox="1"/>
          <p:nvPr/>
        </p:nvSpPr>
        <p:spPr>
          <a:xfrm>
            <a:off x="7454900" y="5930900"/>
            <a:ext cx="4102100" cy="317500"/>
          </a:xfrm>
          <a:prstGeom prst="rect">
            <a:avLst/>
          </a:prstGeom>
          <a:noFill/>
        </p:spPr>
        <p:txBody>
          <a:bodyPr wrap="square" lIns="0" tIns="0" rIns="0" bIns="0" rtlCol="0" anchor="t">
            <a:noAutofit/>
          </a:bodyPr>
          <a:p>
            <a:pPr>
              <a:spcAft>
                <a:spcPts val="0"/>
              </a:spcAft>
            </a:pPr>
            <a:r>
              <a:rPr lang="en-US" sz="1300">
                <a:solidFill>
                  <a:srgbClr val="53647A"/>
                </a:solidFill>
                <a:latin typeface="Arial" panose="020B0604020202020204" pitchFamily="34" charset="0"/>
                <a:cs typeface="Arial" panose="020B0604020202020204" pitchFamily="34" charset="0"/>
              </a:rPr>
              <a:t>Illustrative vehicle mockup</a:t>
            </a:r>
            <a:endParaRPr lang="en-US" sz="13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635000" y="1638300"/>
            <a:ext cx="6350000" cy="3429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Intended benefit</a:t>
            </a:r>
            <a:endParaRPr lang="en-US" sz="1900" b="1">
              <a:solidFill>
                <a:srgbClr val="245FEA"/>
              </a:solidFill>
              <a:latin typeface="Arial" panose="020B0604020202020204" pitchFamily="34" charset="0"/>
              <a:cs typeface="Arial" panose="020B0604020202020204" pitchFamily="34" charset="0"/>
            </a:endParaRPr>
          </a:p>
        </p:txBody>
      </p:sp>
      <p:sp>
        <p:nvSpPr>
          <p:cNvPr id="6" name="Text 5"/>
          <p:cNvSpPr txBox="1"/>
          <p:nvPr/>
        </p:nvSpPr>
        <p:spPr>
          <a:xfrm>
            <a:off x="635000" y="2057400"/>
            <a:ext cx="6350000" cy="952500"/>
          </a:xfrm>
          <a:prstGeom prst="rect">
            <a:avLst/>
          </a:prstGeom>
          <a:noFill/>
        </p:spPr>
        <p:txBody>
          <a:bodyPr wrap="square" lIns="0" tIns="0" rIns="0" bIns="0" rtlCol="0" anchor="t">
            <a:noAutofit/>
          </a:bodyPr>
          <a:p>
            <a:pPr>
              <a:spcAft>
                <a:spcPts val="0"/>
              </a:spcAft>
            </a:pPr>
            <a:r>
              <a:rPr lang="en-US" sz="2000">
                <a:solidFill>
                  <a:srgbClr val="10233F"/>
                </a:solidFill>
                <a:latin typeface="Arial" panose="020B0604020202020204" pitchFamily="34" charset="0"/>
                <a:cs typeface="Arial" panose="020B0604020202020204" pitchFamily="34" charset="0"/>
              </a:rPr>
              <a:t>Traceable maintenance work and clearer readiness information for barangay staff.</a:t>
            </a:r>
            <a:endParaRPr lang="en-US" sz="2000">
              <a:solidFill>
                <a:srgbClr val="10233F"/>
              </a:solidFill>
              <a:latin typeface="Arial" panose="020B0604020202020204" pitchFamily="34" charset="0"/>
              <a:cs typeface="Arial" panose="020B0604020202020204" pitchFamily="34" charset="0"/>
            </a:endParaRPr>
          </a:p>
        </p:txBody>
      </p:sp>
      <p:sp>
        <p:nvSpPr>
          <p:cNvPr id="7" name="Text 6"/>
          <p:cNvSpPr txBox="1"/>
          <p:nvPr/>
        </p:nvSpPr>
        <p:spPr>
          <a:xfrm>
            <a:off x="635000" y="3048000"/>
            <a:ext cx="6350000" cy="3429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Adoption requirements</a:t>
            </a:r>
            <a:endParaRPr lang="en-US" sz="1900" b="1">
              <a:solidFill>
                <a:srgbClr val="245FEA"/>
              </a:solidFill>
              <a:latin typeface="Arial" panose="020B0604020202020204" pitchFamily="34" charset="0"/>
              <a:cs typeface="Arial" panose="020B0604020202020204" pitchFamily="34" charset="0"/>
            </a:endParaRPr>
          </a:p>
        </p:txBody>
      </p:sp>
      <p:sp>
        <p:nvSpPr>
          <p:cNvPr id="8" name="Text 7"/>
          <p:cNvSpPr txBox="1"/>
          <p:nvPr/>
        </p:nvSpPr>
        <p:spPr>
          <a:xfrm>
            <a:off x="635000" y="3467100"/>
            <a:ext cx="6350000" cy="952500"/>
          </a:xfrm>
          <a:prstGeom prst="rect">
            <a:avLst/>
          </a:prstGeom>
          <a:noFill/>
        </p:spPr>
        <p:txBody>
          <a:bodyPr wrap="square" lIns="0" tIns="0" rIns="0" bIns="0" rtlCol="0" anchor="t">
            <a:noAutofit/>
          </a:bodyPr>
          <a:p>
            <a:pPr>
              <a:spcAft>
                <a:spcPts val="0"/>
              </a:spcAft>
            </a:pPr>
            <a:r>
              <a:rPr lang="en-US" sz="2000">
                <a:solidFill>
                  <a:srgbClr val="10233F"/>
                </a:solidFill>
                <a:latin typeface="Arial" panose="020B0604020202020204" pitchFamily="34" charset="0"/>
                <a:cs typeface="Arial" panose="020B0604020202020204" pitchFamily="34" charset="0"/>
              </a:rPr>
              <a:t>Connectivity, suitable devices, training, support ownership and backup staff.</a:t>
            </a:r>
            <a:endParaRPr lang="en-US" sz="2000">
              <a:solidFill>
                <a:srgbClr val="10233F"/>
              </a:solidFill>
              <a:latin typeface="Arial" panose="020B0604020202020204" pitchFamily="34" charset="0"/>
              <a:cs typeface="Arial" panose="020B0604020202020204" pitchFamily="34" charset="0"/>
            </a:endParaRPr>
          </a:p>
        </p:txBody>
      </p:sp>
      <p:sp>
        <p:nvSpPr>
          <p:cNvPr id="9" name="Text 8"/>
          <p:cNvSpPr txBox="1"/>
          <p:nvPr/>
        </p:nvSpPr>
        <p:spPr>
          <a:xfrm>
            <a:off x="635000" y="4457700"/>
            <a:ext cx="6350000" cy="3429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Current scope</a:t>
            </a:r>
            <a:endParaRPr lang="en-US" sz="1900" b="1">
              <a:solidFill>
                <a:srgbClr val="245FEA"/>
              </a:solidFill>
              <a:latin typeface="Arial" panose="020B0604020202020204" pitchFamily="34" charset="0"/>
              <a:cs typeface="Arial" panose="020B0604020202020204" pitchFamily="34" charset="0"/>
            </a:endParaRPr>
          </a:p>
        </p:txBody>
      </p:sp>
      <p:sp>
        <p:nvSpPr>
          <p:cNvPr id="10" name="Text 9"/>
          <p:cNvSpPr txBox="1"/>
          <p:nvPr/>
        </p:nvSpPr>
        <p:spPr>
          <a:xfrm>
            <a:off x="635000" y="4876800"/>
            <a:ext cx="6350000" cy="952500"/>
          </a:xfrm>
          <a:prstGeom prst="rect">
            <a:avLst/>
          </a:prstGeom>
          <a:noFill/>
        </p:spPr>
        <p:txBody>
          <a:bodyPr wrap="square" lIns="0" tIns="0" rIns="0" bIns="0" rtlCol="0" anchor="t">
            <a:noAutofit/>
          </a:bodyPr>
          <a:p>
            <a:pPr>
              <a:spcAft>
                <a:spcPts val="0"/>
              </a:spcAft>
            </a:pPr>
            <a:r>
              <a:rPr lang="en-US" sz="2000">
                <a:solidFill>
                  <a:srgbClr val="10233F"/>
                </a:solidFill>
                <a:latin typeface="Arial" panose="020B0604020202020204" pitchFamily="34" charset="0"/>
                <a:cs typeface="Arial" panose="020B0604020202020204" pitchFamily="34" charset="0"/>
              </a:rPr>
              <a:t>Fleet readiness and maintenance. Dispatch, compliance expiry and mileage planning remain outside scope.</a:t>
            </a:r>
            <a:endParaRPr lang="en-US" sz="2000">
              <a:solidFill>
                <a:srgbClr val="10233F"/>
              </a:solidFill>
              <a:latin typeface="Arial" panose="020B0604020202020204" pitchFamily="34" charset="0"/>
              <a:cs typeface="Arial" panose="020B0604020202020204" pitchFamily="34" charset="0"/>
            </a:endParaRPr>
          </a:p>
        </p:txBody>
      </p:sp>
      <p:sp>
        <p:nvSpPr>
          <p:cNvPr id="11" name="Text 10"/>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17</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Work required before acceptance</a:t>
            </a:r>
            <a:endParaRPr lang="en-US" sz="3300" b="1">
              <a:solidFill>
                <a:srgbClr val="10233F"/>
              </a:solidFill>
              <a:latin typeface="Arial" panose="020B0604020202020204" pitchFamily="34" charset="0"/>
              <a:cs typeface="Arial" panose="020B0604020202020204" pitchFamily="34" charset="0"/>
            </a:endParaRPr>
          </a:p>
        </p:txBody>
      </p:sp>
      <p:graphicFrame>
        <p:nvGraphicFramePr>
          <p:cNvPr id="3" name="Table 2"/>
          <p:cNvGraphicFramePr/>
          <p:nvPr/>
        </p:nvGraphicFramePr>
        <p:xfrm>
          <a:off x="635000" y="1549400"/>
          <a:ext cx="10922000" cy="3937000"/>
        </p:xfrm>
        <a:graphic>
          <a:graphicData uri="http://schemas.openxmlformats.org/drawingml/2006/table">
            <a:tbl>
              <a:tblPr firstRow="1" bandRow="1">
                <a:tableStyleId>{5C22544A-7EE6-4342-B048-85BDC9FD1C3A}</a:tableStyleId>
              </a:tblPr>
              <a:tblGrid>
                <a:gridCol w="3302000"/>
                <a:gridCol w="7620000"/>
              </a:tblGrid>
              <a:tr h="655955">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Priority</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c>
                  <a:txBody>
                    <a:bodyPr wrap="square"/>
                    <a:p>
                      <a:pPr>
                        <a:spcAft>
                          <a:spcPts val="0"/>
                        </a:spcAft>
                        <a:buNone/>
                      </a:pPr>
                      <a:r>
                        <a:rPr lang="en-US" sz="2000" b="1">
                          <a:solidFill>
                            <a:srgbClr val="FFFFFF"/>
                          </a:solidFill>
                          <a:latin typeface="Arial" panose="020B0604020202020204" pitchFamily="34" charset="0"/>
                          <a:cs typeface="Arial" panose="020B0604020202020204" pitchFamily="34" charset="0"/>
                        </a:rPr>
                        <a:t>Deliverable</a:t>
                      </a:r>
                      <a:endParaRPr lang="en-US" sz="2000" b="1">
                        <a:solidFill>
                          <a:srgbClr val="FFFFFF"/>
                        </a:solidFill>
                        <a:latin typeface="Arial" panose="020B0604020202020204" pitchFamily="34" charset="0"/>
                        <a:cs typeface="Arial" panose="020B0604020202020204" pitchFamily="34" charset="0"/>
                      </a:endParaRPr>
                    </a:p>
                  </a:txBody>
                  <a:tcPr marL="127000" marR="127000" marT="76200" marB="76200" anchor="ctr">
                    <a:solidFill>
                      <a:srgbClr val="10233F"/>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1. Known defects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Fix the six findings and retain tests that reject the failures.</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2. Research foundation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Verify the local problem, literature synthesis and actual method.</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3. User evaluation</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Collect representative task results and feedback.</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4. Deployment evidence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Demonstrate storage, persistence, restore and failure recovery.</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FFFFF"/>
                    </a:solidFill>
                  </a:tcPr>
                </a:tc>
              </a:tr>
              <a:tr h="655955">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5. Defense package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c>
                  <a:txBody>
                    <a:bodyPr wrap="square"/>
                    <a:p>
                      <a:pPr>
                        <a:spcAft>
                          <a:spcPts val="0"/>
                        </a:spcAft>
                        <a:buNone/>
                      </a:pPr>
                      <a:r>
                        <a:rPr lang="en-US" sz="2000" b="0">
                          <a:solidFill>
                            <a:srgbClr val="10233F"/>
                          </a:solidFill>
                          <a:latin typeface="Arial" panose="020B0604020202020204" pitchFamily="34" charset="0"/>
                          <a:cs typeface="Arial" panose="020B0604020202020204" pitchFamily="34" charset="0"/>
                        </a:rPr>
                        <a:t>Align the manuscript, citations, permissions and AI disclosure.</a:t>
                      </a:r>
                      <a:endParaRPr lang="en-US" sz="2000" b="0">
                        <a:solidFill>
                          <a:srgbClr val="10233F"/>
                        </a:solidFill>
                        <a:latin typeface="Arial" panose="020B0604020202020204" pitchFamily="34" charset="0"/>
                        <a:cs typeface="Arial" panose="020B0604020202020204" pitchFamily="34" charset="0"/>
                      </a:endParaRPr>
                    </a:p>
                  </a:txBody>
                  <a:tcPr marL="127000" marR="127000" marT="76200" marB="76200" anchor="ctr">
                    <a:solidFill>
                      <a:srgbClr val="F1F5FC"/>
                    </a:solidFill>
                  </a:tcPr>
                </a:tc>
              </a:tr>
            </a:tbl>
          </a:graphicData>
        </a:graphic>
      </p:graphicFrame>
      <p:sp>
        <p:nvSpPr>
          <p:cNvPr id="4" name="Text 3"/>
          <p:cNvSpPr txBox="1"/>
          <p:nvPr/>
        </p:nvSpPr>
        <p:spPr>
          <a:xfrm>
            <a:off x="635000" y="6108700"/>
            <a:ext cx="10477500" cy="533400"/>
          </a:xfrm>
          <a:prstGeom prst="rect">
            <a:avLst/>
          </a:prstGeom>
          <a:noFill/>
        </p:spPr>
        <p:txBody>
          <a:bodyPr wrap="square" lIns="0" tIns="0" rIns="0" bIns="0" rtlCol="0" anchor="t">
            <a:noAutofit/>
          </a:bodyPr>
          <a:p>
            <a:pPr>
              <a:spcAft>
                <a:spcPts val="0"/>
              </a:spcAft>
            </a:pPr>
            <a:r>
              <a:rPr lang="en-US" sz="1600">
                <a:solidFill>
                  <a:srgbClr val="53647A"/>
                </a:solidFill>
                <a:latin typeface="Arial" panose="020B0604020202020204" pitchFamily="34" charset="0"/>
                <a:cs typeface="Arial" panose="020B0604020202020204" pitchFamily="34" charset="0"/>
              </a:rPr>
              <a:t>The prototype has technical evidence. Research and deployment acceptance still need evidence.</a:t>
            </a:r>
            <a:endParaRPr lang="en-US" sz="1600">
              <a:solidFill>
                <a:srgbClr val="53647A"/>
              </a:solidFill>
              <a:latin typeface="Arial" panose="020B0604020202020204" pitchFamily="34" charset="0"/>
              <a:cs typeface="Arial" panose="020B0604020202020204" pitchFamily="34" charset="0"/>
            </a:endParaRPr>
          </a:p>
        </p:txBody>
      </p:sp>
      <p:sp>
        <p:nvSpPr>
          <p:cNvPr id="5" name="Text 4"/>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18</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 1"/>
          <p:cNvSpPr txBox="1"/>
          <p:nvPr/>
        </p:nvSpPr>
        <p:spPr>
          <a:xfrm>
            <a:off x="635000" y="444500"/>
            <a:ext cx="10922000" cy="825500"/>
          </a:xfrm>
          <a:prstGeom prst="rect">
            <a:avLst/>
          </a:prstGeom>
          <a:noFill/>
        </p:spPr>
        <p:txBody>
          <a:bodyPr wrap="square" lIns="0" tIns="0" rIns="0" bIns="0" rtlCol="0" anchor="t">
            <a:noAutofit/>
          </a:bodyPr>
          <a:p>
            <a:pPr>
              <a:spcAft>
                <a:spcPts val="0"/>
              </a:spcAft>
            </a:pPr>
            <a:r>
              <a:rPr lang="en-US" sz="3300" b="1">
                <a:solidFill>
                  <a:srgbClr val="10233F"/>
                </a:solidFill>
                <a:latin typeface="Arial" panose="020B0604020202020204" pitchFamily="34" charset="0"/>
                <a:cs typeface="Arial" panose="020B0604020202020204" pitchFamily="34" charset="0"/>
              </a:rPr>
              <a:t>Evidence and references</a:t>
            </a:r>
            <a:endParaRPr lang="en-US" sz="3300" b="1">
              <a:solidFill>
                <a:srgbClr val="10233F"/>
              </a:solidFill>
              <a:latin typeface="Arial" panose="020B0604020202020204" pitchFamily="34" charset="0"/>
              <a:cs typeface="Arial" panose="020B0604020202020204" pitchFamily="34" charset="0"/>
            </a:endParaRPr>
          </a:p>
        </p:txBody>
      </p:sp>
      <p:sp>
        <p:nvSpPr>
          <p:cNvPr id="3" name="Text 2"/>
          <p:cNvSpPr txBox="1"/>
          <p:nvPr/>
        </p:nvSpPr>
        <p:spPr>
          <a:xfrm>
            <a:off x="635000" y="1676400"/>
            <a:ext cx="2984500" cy="8890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Technical evidence</a:t>
            </a:r>
            <a:endParaRPr lang="en-US" sz="1900" b="1">
              <a:solidFill>
                <a:srgbClr val="245FEA"/>
              </a:solidFill>
              <a:latin typeface="Arial" panose="020B0604020202020204" pitchFamily="34" charset="0"/>
              <a:cs typeface="Arial" panose="020B0604020202020204" pitchFamily="34" charset="0"/>
            </a:endParaRPr>
          </a:p>
        </p:txBody>
      </p:sp>
      <p:sp>
        <p:nvSpPr>
          <p:cNvPr id="4" name="Text 3"/>
          <p:cNvSpPr txBox="1"/>
          <p:nvPr/>
        </p:nvSpPr>
        <p:spPr>
          <a:xfrm>
            <a:off x="3937000" y="1676400"/>
            <a:ext cx="7493000" cy="952500"/>
          </a:xfrm>
          <a:prstGeom prst="rect">
            <a:avLst/>
          </a:prstGeom>
          <a:noFill/>
        </p:spPr>
        <p:txBody>
          <a:bodyPr wrap="square" lIns="0" tIns="0" rIns="0" bIns="0" rtlCol="0" anchor="t">
            <a:noAutofit/>
          </a:bodyPr>
          <a:p>
            <a:pPr>
              <a:spcAft>
                <a:spcPts val="0"/>
              </a:spcAft>
            </a:pPr>
            <a:r>
              <a:rPr lang="en-US">
                <a:solidFill>
                  <a:srgbClr val="10233F"/>
                </a:solidFill>
                <a:latin typeface="Arial" panose="020B0604020202020204" pitchFamily="34" charset="0"/>
                <a:cs typeface="Arial" panose="020B0604020202020204" pitchFamily="34" charset="0"/>
              </a:rPr>
              <a:t>Sample-Data.md: setup reproduction and 489-test result
backend-api/tests/Feature/: workflow and failure tests</a:t>
            </a:r>
            <a:endParaRPr lang="en-US">
              <a:solidFill>
                <a:srgbClr val="10233F"/>
              </a:solidFill>
              <a:latin typeface="Arial" panose="020B0604020202020204" pitchFamily="34" charset="0"/>
              <a:cs typeface="Arial" panose="020B0604020202020204" pitchFamily="34" charset="0"/>
            </a:endParaRPr>
          </a:p>
        </p:txBody>
      </p:sp>
      <p:sp>
        <p:nvSpPr>
          <p:cNvPr id="5" name="Text 4"/>
          <p:cNvSpPr txBox="1"/>
          <p:nvPr/>
        </p:nvSpPr>
        <p:spPr>
          <a:xfrm>
            <a:off x="635000" y="2844800"/>
            <a:ext cx="2984500" cy="8890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Current limitations</a:t>
            </a:r>
            <a:endParaRPr lang="en-US" sz="1900" b="1">
              <a:solidFill>
                <a:srgbClr val="245FEA"/>
              </a:solidFill>
              <a:latin typeface="Arial" panose="020B0604020202020204" pitchFamily="34" charset="0"/>
              <a:cs typeface="Arial" panose="020B0604020202020204" pitchFamily="34" charset="0"/>
            </a:endParaRPr>
          </a:p>
        </p:txBody>
      </p:sp>
      <p:sp>
        <p:nvSpPr>
          <p:cNvPr id="6" name="Text 5"/>
          <p:cNvSpPr txBox="1"/>
          <p:nvPr/>
        </p:nvSpPr>
        <p:spPr>
          <a:xfrm>
            <a:off x="3937000" y="2844800"/>
            <a:ext cx="7493000" cy="952500"/>
          </a:xfrm>
          <a:prstGeom prst="rect">
            <a:avLst/>
          </a:prstGeom>
          <a:noFill/>
        </p:spPr>
        <p:txBody>
          <a:bodyPr wrap="square" lIns="0" tIns="0" rIns="0" bIns="0" rtlCol="0" anchor="t">
            <a:noAutofit/>
          </a:bodyPr>
          <a:p>
            <a:pPr>
              <a:spcAft>
                <a:spcPts val="0"/>
              </a:spcAft>
            </a:pPr>
            <a:r>
              <a:rPr lang="en-US">
                <a:solidFill>
                  <a:srgbClr val="10233F"/>
                </a:solidFill>
                <a:latin typeface="Arial" panose="020B0604020202020204" pitchFamily="34" charset="0"/>
                <a:cs typeface="Arial" panose="020B0604020202020204" pitchFamily="34" charset="0"/>
              </a:rPr>
              <a:t>System-Audit-2026-10-24.md: six open findings
Must-Haves.md: outstanding acceptance criteria</a:t>
            </a:r>
            <a:endParaRPr lang="en-US">
              <a:solidFill>
                <a:srgbClr val="10233F"/>
              </a:solidFill>
              <a:latin typeface="Arial" panose="020B0604020202020204" pitchFamily="34" charset="0"/>
              <a:cs typeface="Arial" panose="020B0604020202020204" pitchFamily="34" charset="0"/>
            </a:endParaRPr>
          </a:p>
        </p:txBody>
      </p:sp>
      <p:sp>
        <p:nvSpPr>
          <p:cNvPr id="7" name="Text 6"/>
          <p:cNvSpPr txBox="1"/>
          <p:nvPr/>
        </p:nvSpPr>
        <p:spPr>
          <a:xfrm>
            <a:off x="635000" y="4013200"/>
            <a:ext cx="2984500" cy="8890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Design references</a:t>
            </a:r>
            <a:endParaRPr lang="en-US" sz="1900" b="1">
              <a:solidFill>
                <a:srgbClr val="245FEA"/>
              </a:solidFill>
              <a:latin typeface="Arial" panose="020B0604020202020204" pitchFamily="34" charset="0"/>
              <a:cs typeface="Arial" panose="020B0604020202020204" pitchFamily="34" charset="0"/>
            </a:endParaRPr>
          </a:p>
        </p:txBody>
      </p:sp>
      <p:sp>
        <p:nvSpPr>
          <p:cNvPr id="8" name="Text 7"/>
          <p:cNvSpPr txBox="1"/>
          <p:nvPr/>
        </p:nvSpPr>
        <p:spPr>
          <a:xfrm>
            <a:off x="3937000" y="4013200"/>
            <a:ext cx="7493000" cy="952500"/>
          </a:xfrm>
          <a:prstGeom prst="rect">
            <a:avLst/>
          </a:prstGeom>
          <a:noFill/>
        </p:spPr>
        <p:txBody>
          <a:bodyPr wrap="square" lIns="0" tIns="0" rIns="0" bIns="0" rtlCol="0" anchor="t">
            <a:noAutofit/>
          </a:bodyPr>
          <a:p>
            <a:pPr>
              <a:spcAft>
                <a:spcPts val="0"/>
              </a:spcAft>
            </a:pPr>
            <a:r>
              <a:rPr lang="en-US">
                <a:solidFill>
                  <a:srgbClr val="10233F"/>
                </a:solidFill>
                <a:latin typeface="Arial" panose="020B0604020202020204" pitchFamily="34" charset="0"/>
                <a:cs typeface="Arial" panose="020B0604020202020204" pitchFamily="34" charset="0"/>
              </a:rPr>
              <a:t>README.md, Documentation.md and System-Capabilities.md
Architecture, ERD and use-case diagrams</a:t>
            </a:r>
            <a:endParaRPr lang="en-US">
              <a:solidFill>
                <a:srgbClr val="10233F"/>
              </a:solidFill>
              <a:latin typeface="Arial" panose="020B0604020202020204" pitchFamily="34" charset="0"/>
              <a:cs typeface="Arial" panose="020B0604020202020204" pitchFamily="34" charset="0"/>
            </a:endParaRPr>
          </a:p>
        </p:txBody>
      </p:sp>
      <p:sp>
        <p:nvSpPr>
          <p:cNvPr id="9" name="Text 8"/>
          <p:cNvSpPr txBox="1"/>
          <p:nvPr/>
        </p:nvSpPr>
        <p:spPr>
          <a:xfrm>
            <a:off x="635000" y="5181600"/>
            <a:ext cx="2984500" cy="889000"/>
          </a:xfrm>
          <a:prstGeom prst="rect">
            <a:avLst/>
          </a:prstGeom>
          <a:noFill/>
        </p:spPr>
        <p:txBody>
          <a:bodyPr wrap="square" lIns="0" tIns="0" rIns="0" bIns="0" rtlCol="0" anchor="t">
            <a:noAutofit/>
          </a:bodyPr>
          <a:p>
            <a:pPr>
              <a:spcAft>
                <a:spcPts val="0"/>
              </a:spcAft>
            </a:pPr>
            <a:r>
              <a:rPr lang="en-US" sz="1900" b="1">
                <a:solidFill>
                  <a:srgbClr val="245FEA"/>
                </a:solidFill>
                <a:latin typeface="Arial" panose="020B0604020202020204" pitchFamily="34" charset="0"/>
                <a:cs typeface="Arial" panose="020B0604020202020204" pitchFamily="34" charset="0"/>
              </a:rPr>
              <a:t>Privacy source</a:t>
            </a:r>
            <a:endParaRPr lang="en-US" sz="1900" b="1">
              <a:solidFill>
                <a:srgbClr val="245FEA"/>
              </a:solidFill>
              <a:latin typeface="Arial" panose="020B0604020202020204" pitchFamily="34" charset="0"/>
              <a:cs typeface="Arial" panose="020B0604020202020204" pitchFamily="34" charset="0"/>
            </a:endParaRPr>
          </a:p>
        </p:txBody>
      </p:sp>
      <p:sp>
        <p:nvSpPr>
          <p:cNvPr id="10" name="Text 9"/>
          <p:cNvSpPr txBox="1"/>
          <p:nvPr/>
        </p:nvSpPr>
        <p:spPr>
          <a:xfrm>
            <a:off x="3937000" y="5181600"/>
            <a:ext cx="7493000" cy="952500"/>
          </a:xfrm>
          <a:prstGeom prst="rect">
            <a:avLst/>
          </a:prstGeom>
          <a:noFill/>
        </p:spPr>
        <p:txBody>
          <a:bodyPr wrap="square" lIns="0" tIns="0" rIns="0" bIns="0" rtlCol="0" anchor="t">
            <a:noAutofit/>
          </a:bodyPr>
          <a:p>
            <a:pPr>
              <a:spcAft>
                <a:spcPts val="0"/>
              </a:spcAft>
            </a:pPr>
            <a:r>
              <a:rPr lang="en-US">
                <a:solidFill>
                  <a:srgbClr val="10233F"/>
                </a:solidFill>
                <a:latin typeface="Arial" panose="020B0604020202020204" pitchFamily="34" charset="0"/>
                <a:cs typeface="Arial" panose="020B0604020202020204" pitchFamily="34" charset="0"/>
              </a:rPr>
              <a:t>National Privacy Commission, Republic Act No. 10173
privacy.gov.ph/data-privacy-act/</a:t>
            </a:r>
            <a:endParaRPr lang="en-US">
              <a:solidFill>
                <a:srgbClr val="10233F"/>
              </a:solidFill>
              <a:latin typeface="Arial" panose="020B0604020202020204" pitchFamily="34" charset="0"/>
              <a:cs typeface="Arial" panose="020B0604020202020204" pitchFamily="34" charset="0"/>
            </a:endParaRPr>
          </a:p>
        </p:txBody>
      </p:sp>
      <p:sp>
        <p:nvSpPr>
          <p:cNvPr id="11" name="Text 10"/>
          <p:cNvSpPr txBox="1"/>
          <p:nvPr/>
        </p:nvSpPr>
        <p:spPr>
          <a:xfrm>
            <a:off x="11645900" y="6553200"/>
            <a:ext cx="444500" cy="228600"/>
          </a:xfrm>
          <a:prstGeom prst="rect">
            <a:avLst/>
          </a:prstGeom>
          <a:noFill/>
        </p:spPr>
        <p:txBody>
          <a:bodyPr wrap="square" lIns="0" tIns="0" rIns="0" bIns="0" rtlCol="0" anchor="t">
            <a:noAutofit/>
          </a:bodyPr>
          <a:p>
            <a:pPr>
              <a:spcAft>
                <a:spcPts val="0"/>
              </a:spcAft>
            </a:pPr>
            <a:r>
              <a:rPr lang="en-US" sz="1100">
                <a:solidFill>
                  <a:srgbClr val="53647A"/>
                </a:solidFill>
                <a:latin typeface="Arial" panose="020B0604020202020204" pitchFamily="34" charset="0"/>
                <a:cs typeface="Arial" panose="020B0604020202020204" pitchFamily="34" charset="0"/>
              </a:rPr>
              <a:t>19</a:t>
            </a:r>
            <a:endParaRPr lang="en-US" sz="1100">
              <a:solidFill>
                <a:srgbClr val="53647A"/>
              </a:solidFill>
              <a:latin typeface="Arial" panose="020B0604020202020204" pitchFamily="34" charset="0"/>
              <a:cs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7933</Words>
  <Application>WPS Presentation</Application>
  <PresentationFormat>Widescreen</PresentationFormat>
  <Paragraphs>482</Paragraphs>
  <Slides>19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19</vt:i4>
      </vt:variant>
    </vt:vector>
  </HeadingPairs>
  <TitlesOfParts>
    <vt:vector size="25" baseType="lpstr">
      <vt:lpstr>Arial</vt:lpstr>
      <vt:lpstr>SimSun</vt:lpstr>
      <vt:lpstr>Wingdings</vt:lpstr>
      <vt:lpstr>Wingdings</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acer</dc:creator>
  <cp:lastModifiedBy>acer</cp:lastModifiedBy>
  <cp:revision>1</cp:revision>
  <dcterms:created xsi:type="dcterms:W3CDTF">2026-10-23T18:26:22Z</dcterms:created>
  <dcterms:modified xsi:type="dcterms:W3CDTF">2026-10-23T18:26:22Z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E53A2F870E7142B78A44C7F0B979E5E2_11</vt:lpwstr>
  </property>
</Properties>
</file>
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web-based system that tracks readiness and maintenance of the barangay's emergency vehicles.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cebudailynews.inquirer.net/578615/argao-ambulance-accident-emergency-responder-dead-3-others-hurt ; WR Numero Philippine Public Opinion Monitor, Issue 4 Vol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sunstar.com.ph/cebu/local-news/safety-not-politics-behind-recall-of-vehicles ; cebu.gov.ph/12653/pdrrmo-highlights-gov-pam-baricuatros-disaster-preparedness-programs-strategic-warehouses-in-cebu/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shared steps first, then the two repair routes, then verification and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MS_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MS_CONTENT">
    <p:bg>
      <p:bgPr>
        <a:solidFill>
          <a:srgbClr val="FFFFFF"/>
        </a:solidFill>
      </p:bgPr>
    </p:bg>
    <p:spTree>
      <p:nvGrpSpPr>
        <p:cNvPr id="1" name=""/>
        <p:cNvGrpSpPr/>
        <p:nvPr/>
      </p:nvGrpSpPr>
      <p:grpSpPr>
        <a:xfrm>
          <a:off x="0" y="0"/>
          <a:ext cx="0" cy="0"/>
          <a:chOff x="0" y="0"/>
          <a:chExt cx="0" cy="0"/>
        </a:xfrm>
      </p:grpSpPr>
      <p:pic>
        <p:nvPicPr>
          <p:cNvPr id="2" name="Image 0" descr="logo-t.png">    </p:cNvPr>
          <p:cNvPicPr>
            <a:picLocks noChangeAspect="1"/>
          </p:cNvPicPr>
          <p:nvPr/>
        </p:nvPicPr>
        <p:blipFill>
          <a:blip r:embed="rId1"/>
          <a:stretch>
            <a:fillRect/>
          </a:stretch>
        </p:blipFill>
        <p:spPr>
          <a:xfrm>
            <a:off x="8183880" y="256032"/>
            <a:ext cx="502920" cy="502920"/>
          </a:xfrm>
          <a:prstGeom prst="rect">
            <a:avLst/>
          </a:prstGeom>
        </p:spPr>
      </p:pic>
      <p:sp>
        <p:nvSpPr>
          <p:cNvPr id="3" name="Text 0"/>
          <p:cNvSpPr/>
          <p:nvPr/>
        </p:nvSpPr>
        <p:spPr>
          <a:xfrm>
            <a:off x="457200" y="4709160"/>
            <a:ext cx="4572000" cy="27432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Barangay Vehicle Management System</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669280" y="502920"/>
            <a:ext cx="3291840" cy="3291840"/>
          </a:xfrm>
          <a:prstGeom prst="ellipse">
            <a:avLst/>
          </a:prstGeom>
          <a:solidFill>
            <a:srgbClr val="EEF3FF"/>
          </a:solidFill>
          <a:ln w="12700">
            <a:solidFill>
              <a:srgbClr val="C7D7F5"/>
            </a:solidFill>
            <a:prstDash val="solid"/>
          </a:ln>
        </p:spPr>
      </p:sp>
      <p:pic>
        <p:nvPicPr>
          <p:cNvPr id="3" name="Image 0" descr="logo-t.png">    </p:cNvPr>
          <p:cNvPicPr>
            <a:picLocks noChangeAspect="1"/>
          </p:cNvPicPr>
          <p:nvPr/>
        </p:nvPicPr>
        <p:blipFill>
          <a:blip r:embed="rId1"/>
          <a:stretch>
            <a:fillRect/>
          </a:stretch>
        </p:blipFill>
        <p:spPr>
          <a:xfrm>
            <a:off x="6172200" y="1005840"/>
            <a:ext cx="2286000" cy="2286000"/>
          </a:xfrm>
          <a:prstGeom prst="rect">
            <a:avLst/>
          </a:prstGeom>
        </p:spPr>
      </p:pic>
      <p:sp>
        <p:nvSpPr>
          <p:cNvPr id="4" name="Text 1"/>
          <p:cNvSpPr txBox="1"/>
          <p:nvPr/>
        </p:nvSpPr>
        <p:spPr>
          <a:xfrm>
            <a:off x="640080" y="1097280"/>
            <a:ext cx="4754880" cy="274320"/>
          </a:xfrm>
          <a:prstGeom prst="rect">
            <a:avLst/>
          </a:prstGeom>
          <a:noFill/>
          <a:ln/>
        </p:spPr>
        <p:txBody>
          <a:bodyPr wrap="square" lIns="0" tIns="0" rIns="0" bIns="0" rtlCol="0" anchor="t"/>
          <a:lstStyle/>
          <a:p>
            <a:pPr indent="0" marL="0">
              <a:buNone/>
            </a:pPr>
            <a:r>
              <a:rPr lang="en-US" sz="1300" b="1" spc="400" kern="0" dirty="0">
                <a:solidFill>
                  <a:srgbClr val="2563EB"/>
                </a:solidFill>
                <a:latin typeface="Calibri" pitchFamily="34" charset="0"/>
                <a:ea typeface="Calibri" pitchFamily="34" charset="-122"/>
                <a:cs typeface="Calibri" pitchFamily="34" charset="-120"/>
              </a:rPr>
              <a:t>FINAL DEFENSE</a:t>
            </a:r>
            <a:endParaRPr lang="en-US" sz="1300" dirty="0"/>
          </a:p>
        </p:txBody>
      </p:sp>
      <p:sp>
        <p:nvSpPr>
          <p:cNvPr id="5" name="Text 2"/>
          <p:cNvSpPr txBox="1"/>
          <p:nvPr/>
        </p:nvSpPr>
        <p:spPr>
          <a:xfrm>
            <a:off x="640080" y="1463040"/>
            <a:ext cx="4754880" cy="1371600"/>
          </a:xfrm>
          <a:prstGeom prst="rect">
            <a:avLst/>
          </a:prstGeom>
          <a:noFill/>
          <a:ln/>
        </p:spPr>
        <p:txBody>
          <a:bodyPr wrap="square" lIns="0" tIns="0" rIns="0" bIns="0" rtlCol="0" anchor="t"/>
          <a:lstStyle/>
          <a:p>
            <a:pPr indent="0" marL="0">
              <a:buNone/>
            </a:pPr>
            <a:r>
              <a:rPr lang="en-US" sz="3800" b="1" dirty="0">
                <a:solidFill>
                  <a:srgbClr val="0F172A"/>
                </a:solidFill>
                <a:latin typeface="Calibri" pitchFamily="34" charset="0"/>
                <a:ea typeface="Calibri" pitchFamily="34" charset="-122"/>
                <a:cs typeface="Calibri" pitchFamily="34" charset="-120"/>
              </a:rPr>
              <a:t>Barangay Vehicle Management System</a:t>
            </a:r>
            <a:endParaRPr lang="en-US" sz="3800" dirty="0"/>
          </a:p>
        </p:txBody>
      </p:sp>
      <p:sp>
        <p:nvSpPr>
          <p:cNvPr id="6" name="Text 3"/>
          <p:cNvSpPr txBox="1"/>
          <p:nvPr/>
        </p:nvSpPr>
        <p:spPr>
          <a:xfrm>
            <a:off x="640080" y="2971800"/>
            <a:ext cx="4572000" cy="640080"/>
          </a:xfrm>
          <a:prstGeom prst="rect">
            <a:avLst/>
          </a:prstGeom>
          <a:noFill/>
          <a:ln/>
        </p:spPr>
        <p:txBody>
          <a:bodyPr wrap="square" lIns="0" tIns="0" rIns="0" bIns="0" rtlCol="0" anchor="t"/>
          <a:lstStyle/>
          <a:p>
            <a:pPr indent="0" marL="0">
              <a:buNone/>
            </a:pPr>
            <a:r>
              <a:rPr lang="en-US" sz="1600" dirty="0">
                <a:solidFill>
                  <a:srgbClr val="5B6472"/>
                </a:solidFill>
                <a:latin typeface="Calibri" pitchFamily="34" charset="0"/>
                <a:ea typeface="Calibri" pitchFamily="34" charset="-122"/>
                <a:cs typeface="Calibri" pitchFamily="34" charset="-120"/>
              </a:rPr>
              <a:t>Keeping emergency response vehicles ready, repaired and accountable</a:t>
            </a:r>
            <a:endParaRPr lang="en-US" sz="1600" dirty="0"/>
          </a:p>
        </p:txBody>
      </p:sp>
      <p:sp>
        <p:nvSpPr>
          <p:cNvPr id="7" name="Text 4"/>
          <p:cNvSpPr txBox="1"/>
          <p:nvPr/>
        </p:nvSpPr>
        <p:spPr>
          <a:xfrm>
            <a:off x="640080" y="4434840"/>
            <a:ext cx="4572000" cy="27432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Capstone Project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02  INTRODUCTION</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Project overview</a:t>
            </a:r>
            <a:endParaRPr lang="en-US" sz="3000" dirty="0"/>
          </a:p>
        </p:txBody>
      </p:sp>
      <p:sp>
        <p:nvSpPr>
          <p:cNvPr id="4" name="Text 2"/>
          <p:cNvSpPr txBox="1"/>
          <p:nvPr/>
        </p:nvSpPr>
        <p:spPr>
          <a:xfrm>
            <a:off x="457200" y="1234440"/>
            <a:ext cx="4663440" cy="1554480"/>
          </a:xfrm>
          <a:prstGeom prst="rect">
            <a:avLst/>
          </a:prstGeom>
          <a:noFill/>
          <a:ln/>
        </p:spPr>
        <p:txBody>
          <a:bodyPr wrap="square" lIns="0" tIns="0" rIns="0" bIns="0" rtlCol="0" anchor="t"/>
          <a:lstStyle/>
          <a:p>
            <a:pPr indent="0" marL="0">
              <a:buNone/>
            </a:pPr>
            <a:r>
              <a:rPr lang="en-US" sz="1600" dirty="0">
                <a:solidFill>
                  <a:srgbClr val="1F2937"/>
                </a:solidFill>
                <a:latin typeface="Calibri" pitchFamily="34" charset="0"/>
                <a:ea typeface="Calibri" pitchFamily="34" charset="-122"/>
                <a:cs typeface="Calibri" pitchFamily="34" charset="-120"/>
              </a:rPr>
              <a:t>A web-based system that tracks whether each barangay emergency vehicle (ambulance, fire truck, rescue boat and others) is ready to respond, and manages the repair process that keeps it that way, from reported issue to verified return to service.</a:t>
            </a:r>
            <a:endParaRPr lang="en-US" sz="1600" dirty="0"/>
          </a:p>
        </p:txBody>
      </p:sp>
      <p:sp>
        <p:nvSpPr>
          <p:cNvPr id="5" name="Text 3"/>
          <p:cNvSpPr txBox="1"/>
          <p:nvPr/>
        </p:nvSpPr>
        <p:spPr>
          <a:xfrm>
            <a:off x="457200" y="3017520"/>
            <a:ext cx="4663440" cy="5486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Built as a Laravel REST API with a React single-page app.</a:t>
            </a:r>
            <a:endParaRPr lang="en-US" sz="1400" dirty="0"/>
          </a:p>
        </p:txBody>
      </p:sp>
      <p:sp>
        <p:nvSpPr>
          <p:cNvPr id="6" name="stat0"/>
          <p:cNvSpPr/>
          <p:nvPr/>
        </p:nvSpPr>
        <p:spPr>
          <a:xfrm>
            <a:off x="5486400" y="1234440"/>
            <a:ext cx="3200400" cy="1005840"/>
          </a:xfrm>
          <a:prstGeom prst="roundRect">
            <a:avLst>
              <a:gd name="adj" fmla="val 7273"/>
            </a:avLst>
          </a:prstGeom>
          <a:solidFill>
            <a:srgbClr val="F3F5F9"/>
          </a:solidFill>
          <a:ln w="9525">
            <a:solidFill>
              <a:srgbClr val="D5DBE5"/>
            </a:solidFill>
            <a:prstDash val="solid"/>
          </a:ln>
        </p:spPr>
      </p:sp>
      <p:sp>
        <p:nvSpPr>
          <p:cNvPr id="7" name="Text 5"/>
          <p:cNvSpPr txBox="1"/>
          <p:nvPr/>
        </p:nvSpPr>
        <p:spPr>
          <a:xfrm>
            <a:off x="5669280" y="1325880"/>
            <a:ext cx="731520" cy="822960"/>
          </a:xfrm>
          <a:prstGeom prst="rect">
            <a:avLst/>
          </a:prstGeom>
          <a:noFill/>
          <a:ln/>
        </p:spPr>
        <p:txBody>
          <a:bodyPr wrap="square" lIns="0" tIns="0" rIns="0" bIns="0" rtlCol="0" anchor="ctr"/>
          <a:lstStyle/>
          <a:p>
            <a:pPr indent="0" marL="0">
              <a:buNone/>
            </a:pPr>
            <a:r>
              <a:rPr lang="en-US" sz="4400" b="1" dirty="0">
                <a:solidFill>
                  <a:srgbClr val="2563EB"/>
                </a:solidFill>
                <a:latin typeface="Calibri" pitchFamily="34" charset="0"/>
                <a:ea typeface="Calibri" pitchFamily="34" charset="-122"/>
                <a:cs typeface="Calibri" pitchFamily="34" charset="-120"/>
              </a:rPr>
              <a:t>2</a:t>
            </a:r>
            <a:endParaRPr lang="en-US" sz="4400" dirty="0"/>
          </a:p>
        </p:txBody>
      </p:sp>
      <p:sp>
        <p:nvSpPr>
          <p:cNvPr id="8" name="Text 6"/>
          <p:cNvSpPr txBox="1"/>
          <p:nvPr/>
        </p:nvSpPr>
        <p:spPr>
          <a:xfrm>
            <a:off x="6400800" y="1344168"/>
            <a:ext cx="2194560"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questions it answers</a:t>
            </a:r>
            <a:endParaRPr lang="en-US" sz="1400" dirty="0"/>
          </a:p>
        </p:txBody>
      </p:sp>
      <p:sp>
        <p:nvSpPr>
          <p:cNvPr id="9" name="Text 7"/>
          <p:cNvSpPr txBox="1"/>
          <p:nvPr/>
        </p:nvSpPr>
        <p:spPr>
          <a:xfrm>
            <a:off x="6400800" y="1618488"/>
            <a:ext cx="2194560" cy="59436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Can this vehicle be dispatched now? What keeps it serviceable?</a:t>
            </a:r>
            <a:endParaRPr lang="en-US" sz="1100" dirty="0"/>
          </a:p>
        </p:txBody>
      </p:sp>
      <p:sp>
        <p:nvSpPr>
          <p:cNvPr id="10" name="stat1"/>
          <p:cNvSpPr/>
          <p:nvPr/>
        </p:nvSpPr>
        <p:spPr>
          <a:xfrm>
            <a:off x="5486400" y="2377440"/>
            <a:ext cx="3200400" cy="1005840"/>
          </a:xfrm>
          <a:prstGeom prst="roundRect">
            <a:avLst>
              <a:gd name="adj" fmla="val 7273"/>
            </a:avLst>
          </a:prstGeom>
          <a:solidFill>
            <a:srgbClr val="F3F5F9"/>
          </a:solidFill>
          <a:ln w="9525">
            <a:solidFill>
              <a:srgbClr val="D5DBE5"/>
            </a:solidFill>
            <a:prstDash val="solid"/>
          </a:ln>
        </p:spPr>
      </p:sp>
      <p:sp>
        <p:nvSpPr>
          <p:cNvPr id="11" name="Text 9"/>
          <p:cNvSpPr txBox="1"/>
          <p:nvPr/>
        </p:nvSpPr>
        <p:spPr>
          <a:xfrm>
            <a:off x="5669280" y="2468880"/>
            <a:ext cx="731520" cy="822960"/>
          </a:xfrm>
          <a:prstGeom prst="rect">
            <a:avLst/>
          </a:prstGeom>
          <a:noFill/>
          <a:ln/>
        </p:spPr>
        <p:txBody>
          <a:bodyPr wrap="square" lIns="0" tIns="0" rIns="0" bIns="0" rtlCol="0" anchor="ctr"/>
          <a:lstStyle/>
          <a:p>
            <a:pPr indent="0" marL="0">
              <a:buNone/>
            </a:pPr>
            <a:r>
              <a:rPr lang="en-US" sz="4400" b="1" dirty="0">
                <a:solidFill>
                  <a:srgbClr val="2563EB"/>
                </a:solidFill>
                <a:latin typeface="Calibri" pitchFamily="34" charset="0"/>
                <a:ea typeface="Calibri" pitchFamily="34" charset="-122"/>
                <a:cs typeface="Calibri" pitchFamily="34" charset="-120"/>
              </a:rPr>
              <a:t>3</a:t>
            </a:r>
            <a:endParaRPr lang="en-US" sz="4400" dirty="0"/>
          </a:p>
        </p:txBody>
      </p:sp>
      <p:sp>
        <p:nvSpPr>
          <p:cNvPr id="12" name="Text 10"/>
          <p:cNvSpPr txBox="1"/>
          <p:nvPr/>
        </p:nvSpPr>
        <p:spPr>
          <a:xfrm>
            <a:off x="6400800" y="2487168"/>
            <a:ext cx="2194560"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user roles</a:t>
            </a:r>
            <a:endParaRPr lang="en-US" sz="1400" dirty="0"/>
          </a:p>
        </p:txBody>
      </p:sp>
      <p:sp>
        <p:nvSpPr>
          <p:cNvPr id="13" name="Text 11"/>
          <p:cNvSpPr txBox="1"/>
          <p:nvPr/>
        </p:nvSpPr>
        <p:spPr>
          <a:xfrm>
            <a:off x="6400800" y="2761488"/>
            <a:ext cx="2194560" cy="59436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Admin, Custodian and Maintenance Personnel</a:t>
            </a:r>
            <a:endParaRPr lang="en-US" sz="1100" dirty="0"/>
          </a:p>
        </p:txBody>
      </p:sp>
      <p:sp>
        <p:nvSpPr>
          <p:cNvPr id="14" name="stat2"/>
          <p:cNvSpPr/>
          <p:nvPr/>
        </p:nvSpPr>
        <p:spPr>
          <a:xfrm>
            <a:off x="5486400" y="3520440"/>
            <a:ext cx="3200400" cy="1005840"/>
          </a:xfrm>
          <a:prstGeom prst="roundRect">
            <a:avLst>
              <a:gd name="adj" fmla="val 7273"/>
            </a:avLst>
          </a:prstGeom>
          <a:solidFill>
            <a:srgbClr val="F3F5F9"/>
          </a:solidFill>
          <a:ln w="9525">
            <a:solidFill>
              <a:srgbClr val="D5DBE5"/>
            </a:solidFill>
            <a:prstDash val="solid"/>
          </a:ln>
        </p:spPr>
      </p:sp>
      <p:sp>
        <p:nvSpPr>
          <p:cNvPr id="15" name="Text 13"/>
          <p:cNvSpPr txBox="1"/>
          <p:nvPr/>
        </p:nvSpPr>
        <p:spPr>
          <a:xfrm>
            <a:off x="5669280" y="3611880"/>
            <a:ext cx="731520" cy="822960"/>
          </a:xfrm>
          <a:prstGeom prst="rect">
            <a:avLst/>
          </a:prstGeom>
          <a:noFill/>
          <a:ln/>
        </p:spPr>
        <p:txBody>
          <a:bodyPr wrap="square" lIns="0" tIns="0" rIns="0" bIns="0" rtlCol="0" anchor="ctr"/>
          <a:lstStyle/>
          <a:p>
            <a:pPr indent="0" marL="0">
              <a:buNone/>
            </a:pPr>
            <a:r>
              <a:rPr lang="en-US" sz="4400" b="1" dirty="0">
                <a:solidFill>
                  <a:srgbClr val="2563EB"/>
                </a:solidFill>
                <a:latin typeface="Calibri" pitchFamily="34" charset="0"/>
                <a:ea typeface="Calibri" pitchFamily="34" charset="-122"/>
                <a:cs typeface="Calibri" pitchFamily="34" charset="-120"/>
              </a:rPr>
              <a:t>2</a:t>
            </a:r>
            <a:endParaRPr lang="en-US" sz="4400" dirty="0"/>
          </a:p>
        </p:txBody>
      </p:sp>
      <p:sp>
        <p:nvSpPr>
          <p:cNvPr id="16" name="Text 14"/>
          <p:cNvSpPr txBox="1"/>
          <p:nvPr/>
        </p:nvSpPr>
        <p:spPr>
          <a:xfrm>
            <a:off x="6400800" y="3630168"/>
            <a:ext cx="2194560" cy="274320"/>
          </a:xfrm>
          <a:prstGeom prst="rect">
            <a:avLst/>
          </a:prstGeom>
          <a:noFill/>
          <a:ln/>
        </p:spPr>
        <p:txBody>
          <a:bodyPr wrap="square" lIns="0" tIns="0" rIns="0" bIns="0" rtlCol="0" anchor="t"/>
          <a:lstStyle/>
          <a:p>
            <a:pPr indent="0" marL="0">
              <a:buNone/>
            </a:pPr>
            <a:r>
              <a:rPr lang="en-US" sz="1400" b="1" dirty="0">
                <a:solidFill>
                  <a:srgbClr val="0F172A"/>
                </a:solidFill>
                <a:latin typeface="Calibri" pitchFamily="34" charset="0"/>
                <a:ea typeface="Calibri" pitchFamily="34" charset="-122"/>
                <a:cs typeface="Calibri" pitchFamily="34" charset="-120"/>
              </a:rPr>
              <a:t>repair routes</a:t>
            </a:r>
            <a:endParaRPr lang="en-US" sz="1400" dirty="0"/>
          </a:p>
        </p:txBody>
      </p:sp>
      <p:sp>
        <p:nvSpPr>
          <p:cNvPr id="17" name="Text 15"/>
          <p:cNvSpPr txBox="1"/>
          <p:nvPr/>
        </p:nvSpPr>
        <p:spPr>
          <a:xfrm>
            <a:off x="6400800" y="3904488"/>
            <a:ext cx="2194560" cy="59436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In-house mechanic or external repair shop</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03  THE PROBLEM</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Problem statement</a:t>
            </a:r>
            <a:endParaRPr lang="en-US" sz="3000" dirty="0"/>
          </a:p>
        </p:txBody>
      </p:sp>
      <p:sp>
        <p:nvSpPr>
          <p:cNvPr id="4" name="problem-banner"/>
          <p:cNvSpPr/>
          <p:nvPr/>
        </p:nvSpPr>
        <p:spPr>
          <a:xfrm>
            <a:off x="457200" y="1188720"/>
            <a:ext cx="8229600" cy="914400"/>
          </a:xfrm>
          <a:prstGeom prst="roundRect">
            <a:avLst>
              <a:gd name="adj" fmla="val 8000"/>
            </a:avLst>
          </a:prstGeom>
          <a:solidFill>
            <a:srgbClr val="F3F5F9"/>
          </a:solidFill>
          <a:ln w="9525">
            <a:solidFill>
              <a:srgbClr val="D5DBE5"/>
            </a:solidFill>
            <a:prstDash val="solid"/>
          </a:ln>
        </p:spPr>
      </p:sp>
      <p:sp>
        <p:nvSpPr>
          <p:cNvPr id="5" name="Shape 3"/>
          <p:cNvSpPr/>
          <p:nvPr/>
        </p:nvSpPr>
        <p:spPr>
          <a:xfrm>
            <a:off x="640080" y="1417320"/>
            <a:ext cx="457200" cy="457200"/>
          </a:xfrm>
          <a:prstGeom prst="ellipse">
            <a:avLst/>
          </a:prstGeom>
          <a:solidFill>
            <a:srgbClr val="FEE2E2"/>
          </a:solidFill>
          <a:ln w="12700">
            <a:solidFill>
              <a:srgbClr val="FEE2E2"/>
            </a:solidFill>
            <a:prstDash val="solid"/>
          </a:ln>
        </p:spPr>
      </p:sp>
      <p:pic>
        <p:nvPicPr>
          <p:cNvPr id="6" name="Image 0" descr="preencoded.png">    </p:cNvPr>
          <p:cNvPicPr>
            <a:picLocks noChangeAspect="1"/>
          </p:cNvPicPr>
          <p:nvPr/>
        </p:nvPicPr>
        <p:blipFill>
          <a:blip r:embed="rId1"/>
          <a:stretch>
            <a:fillRect/>
          </a:stretch>
        </p:blipFill>
        <p:spPr>
          <a:xfrm>
            <a:off x="749808" y="1527048"/>
            <a:ext cx="237744" cy="237744"/>
          </a:xfrm>
          <a:prstGeom prst="rect">
            <a:avLst/>
          </a:prstGeom>
        </p:spPr>
      </p:pic>
      <p:sp>
        <p:nvSpPr>
          <p:cNvPr id="7" name="Text 4"/>
          <p:cNvSpPr txBox="1"/>
          <p:nvPr/>
        </p:nvSpPr>
        <p:spPr>
          <a:xfrm>
            <a:off x="1280160" y="1261872"/>
            <a:ext cx="7223760" cy="7772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Emergency vehicles are used only when disaster strikes, yet the barangay cannot say, with proof, which of them can respond right now, or who is responsible for fixing the ones that cannot.</a:t>
            </a:r>
            <a:endParaRPr lang="en-US" sz="1500" dirty="0"/>
          </a:p>
        </p:txBody>
      </p:sp>
      <p:sp>
        <p:nvSpPr>
          <p:cNvPr id="8" name="prob0"/>
          <p:cNvSpPr/>
          <p:nvPr/>
        </p:nvSpPr>
        <p:spPr>
          <a:xfrm>
            <a:off x="457200" y="2423160"/>
            <a:ext cx="4023360" cy="1737360"/>
          </a:xfrm>
          <a:prstGeom prst="roundRect">
            <a:avLst>
              <a:gd name="adj" fmla="val 4211"/>
            </a:avLst>
          </a:prstGeom>
          <a:solidFill>
            <a:srgbClr val="F3F5F9"/>
          </a:solidFill>
          <a:ln w="9525">
            <a:solidFill>
              <a:srgbClr val="D5DBE5"/>
            </a:solidFill>
            <a:prstDash val="solid"/>
          </a:ln>
        </p:spPr>
      </p:sp>
      <p:sp>
        <p:nvSpPr>
          <p:cNvPr id="9" name="Shape 6"/>
          <p:cNvSpPr/>
          <p:nvPr/>
        </p:nvSpPr>
        <p:spPr>
          <a:xfrm>
            <a:off x="731520" y="2697480"/>
            <a:ext cx="640080" cy="640080"/>
          </a:xfrm>
          <a:prstGeom prst="ellipse">
            <a:avLst/>
          </a:prstGeom>
          <a:solidFill>
            <a:srgbClr val="FEE2E2"/>
          </a:solidFill>
          <a:ln w="12700">
            <a:solidFill>
              <a:srgbClr val="FEE2E2"/>
            </a:solidFill>
            <a:prstDash val="solid"/>
          </a:ln>
        </p:spPr>
      </p:sp>
      <p:pic>
        <p:nvPicPr>
          <p:cNvPr id="10" name="Image 1" descr="preencoded.png">    </p:cNvPr>
          <p:cNvPicPr>
            <a:picLocks noChangeAspect="1"/>
          </p:cNvPicPr>
          <p:nvPr/>
        </p:nvPicPr>
        <p:blipFill>
          <a:blip r:embed="rId2"/>
          <a:stretch>
            <a:fillRect/>
          </a:stretch>
        </p:blipFill>
        <p:spPr>
          <a:xfrm>
            <a:off x="891540" y="2857500"/>
            <a:ext cx="320040" cy="320040"/>
          </a:xfrm>
          <a:prstGeom prst="rect">
            <a:avLst/>
          </a:prstGeom>
        </p:spPr>
      </p:pic>
      <p:sp>
        <p:nvSpPr>
          <p:cNvPr id="11" name="Text 7"/>
          <p:cNvSpPr txBox="1"/>
          <p:nvPr/>
        </p:nvSpPr>
        <p:spPr>
          <a:xfrm>
            <a:off x="731520" y="3429000"/>
            <a:ext cx="3474720" cy="3200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No single view of readiness</a:t>
            </a:r>
            <a:endParaRPr lang="en-US" sz="1600" dirty="0"/>
          </a:p>
        </p:txBody>
      </p:sp>
      <p:sp>
        <p:nvSpPr>
          <p:cNvPr id="12" name="Text 8"/>
          <p:cNvSpPr txBox="1"/>
          <p:nvPr/>
        </p:nvSpPr>
        <p:spPr>
          <a:xfrm>
            <a:off x="731520" y="3749040"/>
            <a:ext cx="347472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Availability and condition are scattered across memory, chats and paper logs.</a:t>
            </a:r>
            <a:endParaRPr lang="en-US" sz="1200" dirty="0"/>
          </a:p>
        </p:txBody>
      </p:sp>
      <p:sp>
        <p:nvSpPr>
          <p:cNvPr id="13" name="prob1"/>
          <p:cNvSpPr/>
          <p:nvPr/>
        </p:nvSpPr>
        <p:spPr>
          <a:xfrm>
            <a:off x="4663440" y="2423160"/>
            <a:ext cx="4023360" cy="1737360"/>
          </a:xfrm>
          <a:prstGeom prst="roundRect">
            <a:avLst>
              <a:gd name="adj" fmla="val 4211"/>
            </a:avLst>
          </a:prstGeom>
          <a:solidFill>
            <a:srgbClr val="F3F5F9"/>
          </a:solidFill>
          <a:ln w="9525">
            <a:solidFill>
              <a:srgbClr val="D5DBE5"/>
            </a:solidFill>
            <a:prstDash val="solid"/>
          </a:ln>
        </p:spPr>
      </p:sp>
      <p:sp>
        <p:nvSpPr>
          <p:cNvPr id="14" name="Shape 10"/>
          <p:cNvSpPr/>
          <p:nvPr/>
        </p:nvSpPr>
        <p:spPr>
          <a:xfrm>
            <a:off x="4937760" y="2697480"/>
            <a:ext cx="640080" cy="640080"/>
          </a:xfrm>
          <a:prstGeom prst="ellipse">
            <a:avLst/>
          </a:prstGeom>
          <a:solidFill>
            <a:srgbClr val="FEE2E2"/>
          </a:solidFill>
          <a:ln w="12700">
            <a:solidFill>
              <a:srgbClr val="FEE2E2"/>
            </a:solidFill>
            <a:prstDash val="solid"/>
          </a:ln>
        </p:spPr>
      </p:sp>
      <p:pic>
        <p:nvPicPr>
          <p:cNvPr id="15" name="Image 2" descr="preencoded.png">    </p:cNvPr>
          <p:cNvPicPr>
            <a:picLocks noChangeAspect="1"/>
          </p:cNvPicPr>
          <p:nvPr/>
        </p:nvPicPr>
        <p:blipFill>
          <a:blip r:embed="rId3"/>
          <a:stretch>
            <a:fillRect/>
          </a:stretch>
        </p:blipFill>
        <p:spPr>
          <a:xfrm>
            <a:off x="5097780" y="2857500"/>
            <a:ext cx="320040" cy="320040"/>
          </a:xfrm>
          <a:prstGeom prst="rect">
            <a:avLst/>
          </a:prstGeom>
        </p:spPr>
      </p:pic>
      <p:sp>
        <p:nvSpPr>
          <p:cNvPr id="16" name="Text 11"/>
          <p:cNvSpPr txBox="1"/>
          <p:nvPr/>
        </p:nvSpPr>
        <p:spPr>
          <a:xfrm>
            <a:off x="4937760" y="3429000"/>
            <a:ext cx="3474720" cy="32004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Issues are reported informally</a:t>
            </a:r>
            <a:endParaRPr lang="en-US" sz="1600" dirty="0"/>
          </a:p>
        </p:txBody>
      </p:sp>
      <p:sp>
        <p:nvSpPr>
          <p:cNvPr id="17" name="Text 12"/>
          <p:cNvSpPr txBox="1"/>
          <p:nvPr/>
        </p:nvSpPr>
        <p:spPr>
          <a:xfrm>
            <a:off x="4937760" y="3749040"/>
            <a:ext cx="3474720" cy="3657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Verbal reports get lost, carry no severity or evidence, and are never tracked to closure.</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03  THE PROBLEM (1 OF 2)</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Problem statement: the evidence</a:t>
            </a:r>
            <a:endParaRPr lang="en-US" sz="3000" dirty="0"/>
          </a:p>
        </p:txBody>
      </p:sp>
      <p:pic>
        <p:nvPicPr>
          <p:cNvPr id="4" name="Image 0" descr="ambulance.png">    </p:cNvPr>
          <p:cNvPicPr>
            <a:picLocks noChangeAspect="1"/>
          </p:cNvPicPr>
          <p:nvPr/>
        </p:nvPicPr>
        <p:blipFill>
          <a:blip r:embed="rId1"/>
          <a:srcRect l="0" r="0" t="0" b="0"/>
          <a:stretch/>
        </p:blipFill>
        <p:spPr>
          <a:xfrm>
            <a:off x="457200" y="1188720"/>
            <a:ext cx="4206240" cy="2377440"/>
          </a:xfrm>
          <a:prstGeom prst="rect">
            <a:avLst/>
          </a:prstGeom>
        </p:spPr>
      </p:pic>
      <p:sp>
        <p:nvSpPr>
          <p:cNvPr id="5" name="Text 2"/>
          <p:cNvSpPr txBox="1"/>
          <p:nvPr/>
        </p:nvSpPr>
        <p:spPr>
          <a:xfrm>
            <a:off x="457200" y="3657600"/>
            <a:ext cx="4206240" cy="6858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An emergency responder died and three others were injured when their ambulance rolled over after it blew a tire on the national highway in Argao, Cebu (June 13).</a:t>
            </a:r>
            <a:endParaRPr lang="en-US" sz="1200" dirty="0"/>
          </a:p>
        </p:txBody>
      </p:sp>
      <p:sp>
        <p:nvSpPr>
          <p:cNvPr id="6" name="survey"/>
          <p:cNvSpPr/>
          <p:nvPr/>
        </p:nvSpPr>
        <p:spPr>
          <a:xfrm>
            <a:off x="4937760" y="1188720"/>
            <a:ext cx="3749040" cy="2788920"/>
          </a:xfrm>
          <a:prstGeom prst="roundRect">
            <a:avLst>
              <a:gd name="adj" fmla="val 2623"/>
            </a:avLst>
          </a:prstGeom>
          <a:solidFill>
            <a:srgbClr val="F3F5F9"/>
          </a:solidFill>
          <a:ln w="9525">
            <a:solidFill>
              <a:srgbClr val="D5DBE5"/>
            </a:solidFill>
            <a:prstDash val="solid"/>
          </a:ln>
        </p:spPr>
      </p:sp>
      <p:sp>
        <p:nvSpPr>
          <p:cNvPr id="7" name="Text 4"/>
          <p:cNvSpPr txBox="1"/>
          <p:nvPr/>
        </p:nvSpPr>
        <p:spPr>
          <a:xfrm>
            <a:off x="5120640" y="1280160"/>
            <a:ext cx="3383280" cy="822960"/>
          </a:xfrm>
          <a:prstGeom prst="rect">
            <a:avLst/>
          </a:prstGeom>
          <a:noFill/>
          <a:ln/>
        </p:spPr>
        <p:txBody>
          <a:bodyPr wrap="square" lIns="0" tIns="0" rIns="0" bIns="0" rtlCol="0" anchor="ctr"/>
          <a:lstStyle/>
          <a:p>
            <a:pPr indent="0" marL="0">
              <a:buNone/>
            </a:pPr>
            <a:r>
              <a:rPr lang="en-US" sz="5400" b="1" dirty="0">
                <a:solidFill>
                  <a:srgbClr val="B91C1C"/>
                </a:solidFill>
                <a:latin typeface="Calibri" pitchFamily="34" charset="0"/>
                <a:ea typeface="Calibri" pitchFamily="34" charset="-122"/>
                <a:cs typeface="Calibri" pitchFamily="34" charset="-120"/>
              </a:rPr>
              <a:t>1 in 3</a:t>
            </a:r>
            <a:endParaRPr lang="en-US" sz="5400" dirty="0"/>
          </a:p>
        </p:txBody>
      </p:sp>
      <p:sp>
        <p:nvSpPr>
          <p:cNvPr id="8" name="Text 5"/>
          <p:cNvSpPr txBox="1"/>
          <p:nvPr/>
        </p:nvSpPr>
        <p:spPr>
          <a:xfrm>
            <a:off x="5120640" y="2148840"/>
            <a:ext cx="3383280" cy="914400"/>
          </a:xfrm>
          <a:prstGeom prst="rect">
            <a:avLst/>
          </a:prstGeom>
          <a:noFill/>
          <a:ln/>
        </p:spPr>
        <p:txBody>
          <a:bodyPr wrap="square" lIns="0" tIns="0" rIns="0" bIns="0" rtlCol="0" anchor="t"/>
          <a:lstStyle/>
          <a:p>
            <a:pPr indent="0" marL="0">
              <a:buNone/>
            </a:pPr>
            <a:r>
              <a:rPr lang="en-US" sz="1400" dirty="0">
                <a:solidFill>
                  <a:srgbClr val="0F172A"/>
                </a:solidFill>
                <a:latin typeface="Calibri" pitchFamily="34" charset="0"/>
                <a:ea typeface="Calibri" pitchFamily="34" charset="-122"/>
                <a:cs typeface="Calibri" pitchFamily="34" charset="-120"/>
              </a:rPr>
              <a:t>Filipinos view poor maintenance of vehicles as a primary cause of road accidents (33% of 1,418 respondents).</a:t>
            </a:r>
            <a:endParaRPr lang="en-US" sz="1400" dirty="0"/>
          </a:p>
        </p:txBody>
      </p:sp>
      <p:sp>
        <p:nvSpPr>
          <p:cNvPr id="9" name="Text 6"/>
          <p:cNvSpPr txBox="1"/>
          <p:nvPr/>
        </p:nvSpPr>
        <p:spPr>
          <a:xfrm>
            <a:off x="5120640" y="3108960"/>
            <a:ext cx="3383280" cy="822960"/>
          </a:xfrm>
          <a:prstGeom prst="rect">
            <a:avLst/>
          </a:prstGeom>
          <a:noFill/>
          <a:ln/>
        </p:spPr>
        <p:txBody>
          <a:bodyPr wrap="square" lIns="0" tIns="0" rIns="0" bIns="0" rtlCol="0" anchor="t"/>
          <a:lstStyle/>
          <a:p>
            <a:pPr indent="0" marL="0">
              <a:buNone/>
            </a:pPr>
            <a:r>
              <a:rPr lang="en-US" sz="1200" dirty="0">
                <a:solidFill>
                  <a:srgbClr val="5B6472"/>
                </a:solidFill>
                <a:latin typeface="Calibri" pitchFamily="34" charset="0"/>
                <a:ea typeface="Calibri" pitchFamily="34" charset="-122"/>
                <a:cs typeface="Calibri" pitchFamily="34" charset="-120"/>
              </a:rPr>
              <a:t>Poor vehicle maintenance is a safety risk to the public, and for emergency units it is also a risk to the people they are sent to save.</a:t>
            </a:r>
            <a:endParaRPr lang="en-US" sz="1200" dirty="0"/>
          </a:p>
        </p:txBody>
      </p:sp>
      <p:sp>
        <p:nvSpPr>
          <p:cNvPr id="10" name="Text 7"/>
          <p:cNvSpPr txBox="1"/>
          <p:nvPr/>
        </p:nvSpPr>
        <p:spPr>
          <a:xfrm>
            <a:off x="4937760" y="4069080"/>
            <a:ext cx="3749040" cy="594360"/>
          </a:xfrm>
          <a:prstGeom prst="rect">
            <a:avLst/>
          </a:prstGeom>
          <a:noFill/>
          <a:ln/>
        </p:spPr>
        <p:txBody>
          <a:bodyPr wrap="square" lIns="0" tIns="0" rIns="0" bIns="0" rtlCol="0" anchor="t"/>
          <a:lstStyle/>
          <a:p>
            <a:pPr indent="0" marL="0">
              <a:buNone/>
            </a:pPr>
            <a:r>
              <a:rPr lang="en-US" sz="900" b="1" dirty="0">
                <a:solidFill>
                  <a:srgbClr val="5B6472"/>
                </a:solidFill>
                <a:latin typeface="Calibri" pitchFamily="34" charset="0"/>
                <a:ea typeface="Calibri" pitchFamily="34" charset="-122"/>
                <a:cs typeface="Calibri" pitchFamily="34" charset="-120"/>
              </a:rPr>
              <a:t>Sources: </a:t>
            </a:r>
            <a:pPr indent="0" marL="0">
              <a:buNone/>
            </a:pPr>
            <a:r>
              <a:rPr lang="en-US" sz="900" dirty="0">
                <a:solidFill>
                  <a:srgbClr val="5B6472"/>
                </a:solidFill>
                <a:latin typeface="Calibri" pitchFamily="34" charset="0"/>
                <a:ea typeface="Calibri" pitchFamily="34" charset="-122"/>
                <a:cs typeface="Calibri" pitchFamily="34" charset="-120"/>
              </a:rPr>
              <a:t>Cebu Daily News, "Argao ambulance accident: emergency responder dead, 3 others hurt" (photo: Argao MDRRMO via Paul Lauro). WR Numero Research, Philippine Public Opinion Monitor, Issue 4, Vol. 2025 (n = 1,418; 29 Jul to 6 Aug 2025; margin of error ±2%).</a:t>
            </a:r>
            <a:endParaRPr lang="en-US" sz="9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03  THE PROBLEM (2 OF 2)</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Problem statement: the evidence</a:t>
            </a:r>
            <a:endParaRPr lang="en-US" sz="3000" dirty="0"/>
          </a:p>
        </p:txBody>
      </p:sp>
      <p:pic>
        <p:nvPicPr>
          <p:cNvPr id="4" name="Image 0" descr="C:/Users/Narra-Admin/AppData/Local/Temp/claude/c--Users-Narra-Admin-Documents-V2-VMS/0fa29221-2a45-4a0e-8599-97f92fce90e3/images/4.png">    </p:cNvPr>
          <p:cNvPicPr>
            <a:picLocks noChangeAspect="1"/>
          </p:cNvPicPr>
          <p:nvPr/>
        </p:nvPicPr>
        <p:blipFill>
          <a:blip r:embed="rId1"/>
          <a:stretch>
            <a:fillRect/>
          </a:stretch>
        </p:blipFill>
        <p:spPr>
          <a:xfrm>
            <a:off x="457200" y="1188720"/>
            <a:ext cx="3108960" cy="2259975"/>
          </a:xfrm>
          <a:prstGeom prst="rect">
            <a:avLst/>
          </a:prstGeom>
        </p:spPr>
      </p:pic>
      <p:sp>
        <p:nvSpPr>
          <p:cNvPr id="5" name="Text 2"/>
          <p:cNvSpPr txBox="1"/>
          <p:nvPr/>
        </p:nvSpPr>
        <p:spPr>
          <a:xfrm>
            <a:off x="457200" y="3540135"/>
            <a:ext cx="3108960" cy="64008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Preventive maintenance today: a handwritten logbook of dates, remarks and signatures.</a:t>
            </a:r>
            <a:endParaRPr lang="en-US" sz="1200" dirty="0"/>
          </a:p>
        </p:txBody>
      </p:sp>
      <p:sp>
        <p:nvSpPr>
          <p:cNvPr id="6" name="quote1"/>
          <p:cNvSpPr/>
          <p:nvPr/>
        </p:nvSpPr>
        <p:spPr>
          <a:xfrm>
            <a:off x="4297680" y="1188720"/>
            <a:ext cx="4389120" cy="1188720"/>
          </a:xfrm>
          <a:prstGeom prst="roundRect">
            <a:avLst>
              <a:gd name="adj" fmla="val 6154"/>
            </a:avLst>
          </a:prstGeom>
          <a:solidFill>
            <a:srgbClr val="F3F5F9"/>
          </a:solidFill>
          <a:ln w="9525">
            <a:solidFill>
              <a:srgbClr val="D5DBE5"/>
            </a:solidFill>
            <a:prstDash val="solid"/>
          </a:ln>
        </p:spPr>
      </p:sp>
      <p:sp>
        <p:nvSpPr>
          <p:cNvPr id="7" name="Text 4"/>
          <p:cNvSpPr txBox="1"/>
          <p:nvPr/>
        </p:nvSpPr>
        <p:spPr>
          <a:xfrm>
            <a:off x="4480560" y="1261872"/>
            <a:ext cx="4023360" cy="640080"/>
          </a:xfrm>
          <a:prstGeom prst="rect">
            <a:avLst/>
          </a:prstGeom>
          <a:noFill/>
          <a:ln/>
        </p:spPr>
        <p:txBody>
          <a:bodyPr wrap="square" lIns="0" tIns="0" rIns="0" bIns="0" rtlCol="0" anchor="ctr"/>
          <a:lstStyle/>
          <a:p>
            <a:pPr indent="0" marL="0">
              <a:buNone/>
            </a:pPr>
            <a:r>
              <a:rPr lang="en-US" sz="1400" b="1" i="1" dirty="0">
                <a:solidFill>
                  <a:srgbClr val="0F172A"/>
                </a:solidFill>
                <a:latin typeface="Calibri" pitchFamily="34" charset="0"/>
                <a:ea typeface="Calibri" pitchFamily="34" charset="-122"/>
                <a:cs typeface="Calibri" pitchFamily="34" charset="-120"/>
              </a:rPr>
              <a:t>"Many of the vehicles are so unserviceable that they are unsafe to use."</a:t>
            </a:r>
            <a:endParaRPr lang="en-US" sz="1400" dirty="0"/>
          </a:p>
        </p:txBody>
      </p:sp>
      <p:sp>
        <p:nvSpPr>
          <p:cNvPr id="8" name="Text 5"/>
          <p:cNvSpPr txBox="1"/>
          <p:nvPr/>
        </p:nvSpPr>
        <p:spPr>
          <a:xfrm>
            <a:off x="4480560" y="1920240"/>
            <a:ext cx="4023360" cy="411480"/>
          </a:xfrm>
          <a:prstGeom prst="rect">
            <a:avLst/>
          </a:prstGeom>
          <a:noFill/>
          <a:ln/>
        </p:spPr>
        <p:txBody>
          <a:bodyPr wrap="square" lIns="0" tIns="0" rIns="0" bIns="0" rtlCol="0" anchor="t"/>
          <a:lstStyle/>
          <a:p>
            <a:pPr indent="0" marL="0">
              <a:buNone/>
            </a:pPr>
            <a:r>
              <a:rPr lang="en-US" sz="1000" dirty="0">
                <a:solidFill>
                  <a:srgbClr val="5B6472"/>
                </a:solidFill>
                <a:latin typeface="Calibri" pitchFamily="34" charset="0"/>
                <a:ea typeface="Calibri" pitchFamily="34" charset="-122"/>
                <a:cs typeface="Calibri" pitchFamily="34" charset="-120"/>
              </a:rPr>
              <a:t>Cebu City Mayor Tomas Osmeña, on the recall of several barangays' vehicles for inventory, inspection and repair (SunStar Cebu)</a:t>
            </a:r>
            <a:endParaRPr lang="en-US" sz="1000" dirty="0"/>
          </a:p>
        </p:txBody>
      </p:sp>
      <p:sp>
        <p:nvSpPr>
          <p:cNvPr id="9" name="quote2"/>
          <p:cNvSpPr/>
          <p:nvPr/>
        </p:nvSpPr>
        <p:spPr>
          <a:xfrm>
            <a:off x="4297680" y="2514600"/>
            <a:ext cx="4389120" cy="1691640"/>
          </a:xfrm>
          <a:prstGeom prst="roundRect">
            <a:avLst>
              <a:gd name="adj" fmla="val 4324"/>
            </a:avLst>
          </a:prstGeom>
          <a:solidFill>
            <a:srgbClr val="DBEAFE"/>
          </a:solidFill>
          <a:ln w="19050">
            <a:solidFill>
              <a:srgbClr val="2563EB"/>
            </a:solidFill>
            <a:prstDash val="solid"/>
          </a:ln>
        </p:spPr>
      </p:sp>
      <p:sp>
        <p:nvSpPr>
          <p:cNvPr id="10" name="Text 7"/>
          <p:cNvSpPr txBox="1"/>
          <p:nvPr/>
        </p:nvSpPr>
        <p:spPr>
          <a:xfrm>
            <a:off x="4480560" y="2587752"/>
            <a:ext cx="4023360" cy="201168"/>
          </a:xfrm>
          <a:prstGeom prst="rect">
            <a:avLst/>
          </a:prstGeom>
          <a:noFill/>
          <a:ln/>
        </p:spPr>
        <p:txBody>
          <a:bodyPr wrap="square" lIns="0" tIns="0" rIns="0" bIns="0" rtlCol="0" anchor="t"/>
          <a:lstStyle/>
          <a:p>
            <a:pPr indent="0" marL="0">
              <a:buNone/>
            </a:pPr>
            <a:r>
              <a:rPr lang="en-US" sz="900" b="1" spc="200" kern="0" dirty="0">
                <a:solidFill>
                  <a:srgbClr val="2563EB"/>
                </a:solidFill>
                <a:latin typeface="Calibri" pitchFamily="34" charset="0"/>
                <a:ea typeface="Calibri" pitchFamily="34" charset="-122"/>
                <a:cs typeface="Calibri" pitchFamily="34" charset="-120"/>
              </a:rPr>
              <a:t>OFFICIAL STATEMENT, PROVINCE OF CEBU</a:t>
            </a:r>
            <a:endParaRPr lang="en-US" sz="900" dirty="0"/>
          </a:p>
        </p:txBody>
      </p:sp>
      <p:sp>
        <p:nvSpPr>
          <p:cNvPr id="11" name="Text 8"/>
          <p:cNvSpPr txBox="1"/>
          <p:nvPr/>
        </p:nvSpPr>
        <p:spPr>
          <a:xfrm>
            <a:off x="4480560" y="2788920"/>
            <a:ext cx="4023360" cy="868680"/>
          </a:xfrm>
          <a:prstGeom prst="rect">
            <a:avLst/>
          </a:prstGeom>
          <a:noFill/>
          <a:ln/>
        </p:spPr>
        <p:txBody>
          <a:bodyPr wrap="square" lIns="0" tIns="0" rIns="0" bIns="0" rtlCol="0" anchor="ctr"/>
          <a:lstStyle/>
          <a:p>
            <a:pPr indent="0" marL="0">
              <a:buNone/>
            </a:pPr>
            <a:r>
              <a:rPr lang="en-US" sz="1300" b="1" i="1" dirty="0">
                <a:solidFill>
                  <a:srgbClr val="0F172A"/>
                </a:solidFill>
                <a:latin typeface="Calibri" pitchFamily="34" charset="0"/>
                <a:ea typeface="Calibri" pitchFamily="34" charset="-122"/>
                <a:cs typeface="Calibri" pitchFamily="34" charset="-120"/>
              </a:rPr>
              <a:t>"When I came in, there were only 10 personnel and only three responders. The vehicles were not running, and we had a very dilapidated office."</a:t>
            </a:r>
            <a:endParaRPr lang="en-US" sz="1300" dirty="0"/>
          </a:p>
        </p:txBody>
      </p:sp>
      <p:sp>
        <p:nvSpPr>
          <p:cNvPr id="12" name="Text 9"/>
          <p:cNvSpPr txBox="1"/>
          <p:nvPr/>
        </p:nvSpPr>
        <p:spPr>
          <a:xfrm>
            <a:off x="4480560" y="3675888"/>
            <a:ext cx="4023360" cy="502920"/>
          </a:xfrm>
          <a:prstGeom prst="rect">
            <a:avLst/>
          </a:prstGeom>
          <a:noFill/>
          <a:ln/>
        </p:spPr>
        <p:txBody>
          <a:bodyPr wrap="square" lIns="0" tIns="0" rIns="0" bIns="0" rtlCol="0" anchor="t"/>
          <a:lstStyle/>
          <a:p>
            <a:pPr indent="0" marL="0">
              <a:buNone/>
            </a:pPr>
            <a:r>
              <a:rPr lang="en-US" sz="900" dirty="0">
                <a:solidFill>
                  <a:srgbClr val="5B6472"/>
                </a:solidFill>
                <a:latin typeface="Calibri" pitchFamily="34" charset="0"/>
                <a:ea typeface="Calibri" pitchFamily="34" charset="-122"/>
                <a:cs typeface="Calibri" pitchFamily="34" charset="-120"/>
              </a:rPr>
              <a:t>Ret. Col. Dennis Francis Pastor, head of the Provincial Disaster Risk Reduction and Management Office (PDRRMO), on iStorya Cebu, May 22. Report: "inheriting limited manpower, non-operational vehicles, and inadequate facilities." Source: Capitol PIO, cebu.gov.ph</a:t>
            </a:r>
            <a:endParaRPr lang="en-US" sz="900" dirty="0"/>
          </a:p>
        </p:txBody>
      </p:sp>
      <p:sp>
        <p:nvSpPr>
          <p:cNvPr id="13" name="Text 10"/>
          <p:cNvSpPr txBox="1"/>
          <p:nvPr/>
        </p:nvSpPr>
        <p:spPr>
          <a:xfrm>
            <a:off x="457200" y="4279392"/>
            <a:ext cx="8229600" cy="384048"/>
          </a:xfrm>
          <a:prstGeom prst="rect">
            <a:avLst/>
          </a:prstGeom>
          <a:noFill/>
          <a:ln/>
        </p:spPr>
        <p:txBody>
          <a:bodyPr wrap="square" lIns="0" tIns="0" rIns="0" bIns="0" rtlCol="0" anchor="t"/>
          <a:lstStyle/>
          <a:p>
            <a:pPr indent="0" marL="0">
              <a:buNone/>
            </a:pPr>
            <a:r>
              <a:rPr lang="en-US" sz="900" b="1" dirty="0">
                <a:solidFill>
                  <a:srgbClr val="5B6472"/>
                </a:solidFill>
                <a:latin typeface="Calibri" pitchFamily="34" charset="0"/>
                <a:ea typeface="Calibri" pitchFamily="34" charset="-122"/>
                <a:cs typeface="Calibri" pitchFamily="34" charset="-120"/>
              </a:rPr>
              <a:t>Sources: </a:t>
            </a:r>
            <a:pPr indent="0" marL="0">
              <a:buNone/>
            </a:pPr>
            <a:r>
              <a:rPr lang="en-US" sz="900" dirty="0">
                <a:solidFill>
                  <a:srgbClr val="5B6472"/>
                </a:solidFill>
                <a:latin typeface="Calibri" pitchFamily="34" charset="0"/>
                <a:ea typeface="Calibri" pitchFamily="34" charset="-122"/>
                <a:cs typeface="Calibri" pitchFamily="34" charset="-120"/>
              </a:rPr>
              <a:t>SunStar Cebu, "Safety, not politics behind recall of vehicles"; Province of Cebu, "PDRRMO highlights Gov. Pam Baricuatro's disaster preparedness programs, strategic warehouses in Cebu" (cebu.gov.ph); ambulance preventive maintenance logbook photo.</a:t>
            </a:r>
            <a:endParaRPr lang="en-US" sz="9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04  WHAT THE SYSTEM SOLVES</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Proposed solution</a:t>
            </a:r>
            <a:endParaRPr lang="en-US" sz="3000" dirty="0"/>
          </a:p>
        </p:txBody>
      </p:sp>
      <p:sp>
        <p:nvSpPr>
          <p:cNvPr id="4" name="Text 2"/>
          <p:cNvSpPr txBox="1"/>
          <p:nvPr/>
        </p:nvSpPr>
        <p:spPr>
          <a:xfrm>
            <a:off x="457200" y="1143000"/>
            <a:ext cx="8229600" cy="54864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The VMS replaces guesswork with one controlled workflow: every vehicle has a clear status, and every repair has an owner, an approval and proof.</a:t>
            </a:r>
            <a:endParaRPr lang="en-US" sz="1500" dirty="0"/>
          </a:p>
        </p:txBody>
      </p:sp>
      <p:sp>
        <p:nvSpPr>
          <p:cNvPr id="5" name="Text 3"/>
          <p:cNvSpPr txBox="1"/>
          <p:nvPr/>
        </p:nvSpPr>
        <p:spPr>
          <a:xfrm>
            <a:off x="457200" y="1783080"/>
            <a:ext cx="3017520" cy="228600"/>
          </a:xfrm>
          <a:prstGeom prst="rect">
            <a:avLst/>
          </a:prstGeom>
          <a:noFill/>
          <a:ln/>
        </p:spPr>
        <p:txBody>
          <a:bodyPr wrap="square" lIns="0" tIns="0" rIns="0" bIns="0" rtlCol="0" anchor="t"/>
          <a:lstStyle/>
          <a:p>
            <a:pPr indent="0" marL="0">
              <a:buNone/>
            </a:pPr>
            <a:r>
              <a:rPr lang="en-US" sz="1100" b="1" spc="300" kern="0" dirty="0">
                <a:solidFill>
                  <a:srgbClr val="B91C1C"/>
                </a:solidFill>
                <a:latin typeface="Calibri" pitchFamily="34" charset="0"/>
                <a:ea typeface="Calibri" pitchFamily="34" charset="-122"/>
                <a:cs typeface="Calibri" pitchFamily="34" charset="-120"/>
              </a:rPr>
              <a:t>PROBLEM</a:t>
            </a:r>
            <a:endParaRPr lang="en-US" sz="1100" dirty="0"/>
          </a:p>
        </p:txBody>
      </p:sp>
      <p:sp>
        <p:nvSpPr>
          <p:cNvPr id="6" name="Text 4"/>
          <p:cNvSpPr txBox="1"/>
          <p:nvPr/>
        </p:nvSpPr>
        <p:spPr>
          <a:xfrm>
            <a:off x="4114800" y="1783080"/>
            <a:ext cx="448056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HOW THE VMS SOLVES IT</a:t>
            </a:r>
            <a:endParaRPr lang="en-US" sz="1100" dirty="0"/>
          </a:p>
        </p:txBody>
      </p:sp>
      <p:sp>
        <p:nvSpPr>
          <p:cNvPr id="7" name="p0"/>
          <p:cNvSpPr/>
          <p:nvPr/>
        </p:nvSpPr>
        <p:spPr>
          <a:xfrm>
            <a:off x="457200" y="2148840"/>
            <a:ext cx="3200400" cy="960120"/>
          </a:xfrm>
          <a:prstGeom prst="roundRect">
            <a:avLst>
              <a:gd name="adj" fmla="val 7619"/>
            </a:avLst>
          </a:prstGeom>
          <a:solidFill>
            <a:srgbClr val="F3F5F9"/>
          </a:solidFill>
          <a:ln w="9525">
            <a:solidFill>
              <a:srgbClr val="D5DBE5"/>
            </a:solidFill>
            <a:prstDash val="solid"/>
          </a:ln>
        </p:spPr>
      </p:sp>
      <p:sp>
        <p:nvSpPr>
          <p:cNvPr id="8" name="Text 6"/>
          <p:cNvSpPr txBox="1"/>
          <p:nvPr/>
        </p:nvSpPr>
        <p:spPr>
          <a:xfrm>
            <a:off x="594360" y="2148840"/>
            <a:ext cx="2971800" cy="9601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Which vehicles can respond now?</a:t>
            </a:r>
            <a:endParaRPr lang="en-US" sz="1500" dirty="0"/>
          </a:p>
        </p:txBody>
      </p:sp>
      <p:pic>
        <p:nvPicPr>
          <p:cNvPr id="9" name="Image 0" descr="preencoded.png">    </p:cNvPr>
          <p:cNvPicPr>
            <a:picLocks noChangeAspect="1"/>
          </p:cNvPicPr>
          <p:nvPr/>
        </p:nvPicPr>
        <p:blipFill>
          <a:blip r:embed="rId1"/>
          <a:stretch>
            <a:fillRect/>
          </a:stretch>
        </p:blipFill>
        <p:spPr>
          <a:xfrm>
            <a:off x="3767328" y="2514600"/>
            <a:ext cx="219456" cy="219456"/>
          </a:xfrm>
          <a:prstGeom prst="rect">
            <a:avLst/>
          </a:prstGeom>
        </p:spPr>
      </p:pic>
      <p:sp>
        <p:nvSpPr>
          <p:cNvPr id="10" name="sol0"/>
          <p:cNvSpPr/>
          <p:nvPr/>
        </p:nvSpPr>
        <p:spPr>
          <a:xfrm>
            <a:off x="4114800" y="2148840"/>
            <a:ext cx="4572000" cy="960120"/>
          </a:xfrm>
          <a:prstGeom prst="roundRect">
            <a:avLst>
              <a:gd name="adj" fmla="val 7619"/>
            </a:avLst>
          </a:prstGeom>
          <a:solidFill>
            <a:srgbClr val="F3F5F9"/>
          </a:solidFill>
          <a:ln w="9525">
            <a:solidFill>
              <a:srgbClr val="D5DBE5"/>
            </a:solidFill>
            <a:prstDash val="solid"/>
          </a:ln>
        </p:spPr>
      </p:sp>
      <p:sp>
        <p:nvSpPr>
          <p:cNvPr id="11" name="Text 8"/>
          <p:cNvSpPr txBox="1"/>
          <p:nvPr/>
        </p:nvSpPr>
        <p:spPr>
          <a:xfrm>
            <a:off x="4251960" y="2148840"/>
            <a:ext cx="4343400" cy="9601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Availability and condition tracked separately, with a readiness dashboard and condition monitoring</a:t>
            </a:r>
            <a:endParaRPr lang="en-US" sz="1400" dirty="0"/>
          </a:p>
        </p:txBody>
      </p:sp>
      <p:sp>
        <p:nvSpPr>
          <p:cNvPr id="12" name="p1"/>
          <p:cNvSpPr/>
          <p:nvPr/>
        </p:nvSpPr>
        <p:spPr>
          <a:xfrm>
            <a:off x="457200" y="3246120"/>
            <a:ext cx="3200400" cy="960120"/>
          </a:xfrm>
          <a:prstGeom prst="roundRect">
            <a:avLst>
              <a:gd name="adj" fmla="val 7619"/>
            </a:avLst>
          </a:prstGeom>
          <a:solidFill>
            <a:srgbClr val="F3F5F9"/>
          </a:solidFill>
          <a:ln w="9525">
            <a:solidFill>
              <a:srgbClr val="D5DBE5"/>
            </a:solidFill>
            <a:prstDash val="solid"/>
          </a:ln>
        </p:spPr>
      </p:sp>
      <p:sp>
        <p:nvSpPr>
          <p:cNvPr id="13" name="Text 10"/>
          <p:cNvSpPr txBox="1"/>
          <p:nvPr/>
        </p:nvSpPr>
        <p:spPr>
          <a:xfrm>
            <a:off x="594360" y="3246120"/>
            <a:ext cx="2971800" cy="96012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Issues get lost</a:t>
            </a:r>
            <a:endParaRPr lang="en-US" sz="1500" dirty="0"/>
          </a:p>
        </p:txBody>
      </p:sp>
      <p:pic>
        <p:nvPicPr>
          <p:cNvPr id="14" name="Image 1" descr="preencoded.png">    </p:cNvPr>
          <p:cNvPicPr>
            <a:picLocks noChangeAspect="1"/>
          </p:cNvPicPr>
          <p:nvPr/>
        </p:nvPicPr>
        <p:blipFill>
          <a:blip r:embed="rId2"/>
          <a:stretch>
            <a:fillRect/>
          </a:stretch>
        </p:blipFill>
        <p:spPr>
          <a:xfrm>
            <a:off x="3767328" y="3611880"/>
            <a:ext cx="219456" cy="219456"/>
          </a:xfrm>
          <a:prstGeom prst="rect">
            <a:avLst/>
          </a:prstGeom>
        </p:spPr>
      </p:pic>
      <p:sp>
        <p:nvSpPr>
          <p:cNvPr id="15" name="sol1"/>
          <p:cNvSpPr/>
          <p:nvPr/>
        </p:nvSpPr>
        <p:spPr>
          <a:xfrm>
            <a:off x="4114800" y="3246120"/>
            <a:ext cx="4572000" cy="960120"/>
          </a:xfrm>
          <a:prstGeom prst="roundRect">
            <a:avLst>
              <a:gd name="adj" fmla="val 7619"/>
            </a:avLst>
          </a:prstGeom>
          <a:solidFill>
            <a:srgbClr val="F3F5F9"/>
          </a:solidFill>
          <a:ln w="9525">
            <a:solidFill>
              <a:srgbClr val="D5DBE5"/>
            </a:solidFill>
            <a:prstDash val="solid"/>
          </a:ln>
        </p:spPr>
      </p:sp>
      <p:sp>
        <p:nvSpPr>
          <p:cNvPr id="16" name="Text 12"/>
          <p:cNvSpPr txBox="1"/>
          <p:nvPr/>
        </p:nvSpPr>
        <p:spPr>
          <a:xfrm>
            <a:off x="4251960" y="3246120"/>
            <a:ext cx="4343400" cy="96012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Structured issue reports with vehicle, severity and evidence, turned into maintenance tickets</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05  GOALS</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Project objectives</a:t>
            </a:r>
            <a:endParaRPr lang="en-US" sz="3000" dirty="0"/>
          </a:p>
        </p:txBody>
      </p:sp>
      <p:sp>
        <p:nvSpPr>
          <p:cNvPr id="4" name="general"/>
          <p:cNvSpPr/>
          <p:nvPr/>
        </p:nvSpPr>
        <p:spPr>
          <a:xfrm>
            <a:off x="457200" y="1188720"/>
            <a:ext cx="8229600" cy="777240"/>
          </a:xfrm>
          <a:prstGeom prst="roundRect">
            <a:avLst>
              <a:gd name="adj" fmla="val 9412"/>
            </a:avLst>
          </a:prstGeom>
          <a:solidFill>
            <a:srgbClr val="F3F5F9"/>
          </a:solidFill>
          <a:ln w="9525">
            <a:solidFill>
              <a:srgbClr val="D5DBE5"/>
            </a:solidFill>
            <a:prstDash val="solid"/>
          </a:ln>
        </p:spPr>
      </p:sp>
      <p:sp>
        <p:nvSpPr>
          <p:cNvPr id="5" name="Text 3"/>
          <p:cNvSpPr txBox="1"/>
          <p:nvPr/>
        </p:nvSpPr>
        <p:spPr>
          <a:xfrm>
            <a:off x="640080" y="1188720"/>
            <a:ext cx="7863840" cy="77724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General objective  </a:t>
            </a:r>
            <a:pPr indent="0" marL="0">
              <a:buNone/>
            </a:pPr>
            <a:r>
              <a:rPr lang="en-US" sz="1400" dirty="0">
                <a:solidFill>
                  <a:srgbClr val="0F172A"/>
                </a:solidFill>
                <a:latin typeface="Calibri" pitchFamily="34" charset="0"/>
                <a:ea typeface="Calibri" pitchFamily="34" charset="-122"/>
                <a:cs typeface="Calibri" pitchFamily="34" charset="-120"/>
              </a:rPr>
              <a:t>Design and build a web-based system that keeps barangay emergency vehicles ready to respond through managed maintenance.</a:t>
            </a:r>
            <a:endParaRPr lang="en-US" sz="1400" dirty="0"/>
          </a:p>
        </p:txBody>
      </p:sp>
      <p:sp>
        <p:nvSpPr>
          <p:cNvPr id="6" name="obj0"/>
          <p:cNvSpPr/>
          <p:nvPr/>
        </p:nvSpPr>
        <p:spPr>
          <a:xfrm>
            <a:off x="457200" y="2194560"/>
            <a:ext cx="2651760" cy="1051560"/>
          </a:xfrm>
          <a:prstGeom prst="roundRect">
            <a:avLst>
              <a:gd name="adj" fmla="val 6957"/>
            </a:avLst>
          </a:prstGeom>
          <a:solidFill>
            <a:srgbClr val="F3F5F9"/>
          </a:solidFill>
          <a:ln w="9525">
            <a:solidFill>
              <a:srgbClr val="D5DBE5"/>
            </a:solidFill>
            <a:prstDash val="solid"/>
          </a:ln>
        </p:spPr>
      </p:sp>
      <p:sp>
        <p:nvSpPr>
          <p:cNvPr id="7" name="Shape 5"/>
          <p:cNvSpPr/>
          <p:nvPr/>
        </p:nvSpPr>
        <p:spPr>
          <a:xfrm>
            <a:off x="594360" y="2331720"/>
            <a:ext cx="365760" cy="365760"/>
          </a:xfrm>
          <a:prstGeom prst="ellipse">
            <a:avLst/>
          </a:prstGeom>
          <a:solidFill>
            <a:srgbClr val="DBEAFE"/>
          </a:solidFill>
          <a:ln w="12700">
            <a:solidFill>
              <a:srgbClr val="DBEAFE"/>
            </a:solidFill>
            <a:prstDash val="solid"/>
          </a:ln>
        </p:spPr>
      </p:sp>
      <p:pic>
        <p:nvPicPr>
          <p:cNvPr id="8" name="Image 0" descr="preencoded.png">    </p:cNvPr>
          <p:cNvPicPr>
            <a:picLocks noChangeAspect="1"/>
          </p:cNvPicPr>
          <p:nvPr/>
        </p:nvPicPr>
        <p:blipFill>
          <a:blip r:embed="rId1"/>
          <a:stretch>
            <a:fillRect/>
          </a:stretch>
        </p:blipFill>
        <p:spPr>
          <a:xfrm>
            <a:off x="685800" y="2423160"/>
            <a:ext cx="182880" cy="182880"/>
          </a:xfrm>
          <a:prstGeom prst="rect">
            <a:avLst/>
          </a:prstGeom>
        </p:spPr>
      </p:pic>
      <p:sp>
        <p:nvSpPr>
          <p:cNvPr id="9" name="Text 6"/>
          <p:cNvSpPr txBox="1"/>
          <p:nvPr/>
        </p:nvSpPr>
        <p:spPr>
          <a:xfrm>
            <a:off x="1051560" y="230428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Maintain a fleet inventory</a:t>
            </a:r>
            <a:endParaRPr lang="en-US" sz="1300" dirty="0"/>
          </a:p>
        </p:txBody>
      </p:sp>
      <p:sp>
        <p:nvSpPr>
          <p:cNvPr id="10" name="Text 7"/>
          <p:cNvSpPr txBox="1"/>
          <p:nvPr/>
        </p:nvSpPr>
        <p:spPr>
          <a:xfrm>
            <a:off x="594360" y="278892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Vehicle profiles, types, documents and station locations</a:t>
            </a:r>
            <a:endParaRPr lang="en-US" sz="1100" dirty="0"/>
          </a:p>
        </p:txBody>
      </p:sp>
      <p:sp>
        <p:nvSpPr>
          <p:cNvPr id="11" name="obj1"/>
          <p:cNvSpPr/>
          <p:nvPr/>
        </p:nvSpPr>
        <p:spPr>
          <a:xfrm>
            <a:off x="3246120" y="2194560"/>
            <a:ext cx="2651760" cy="1051560"/>
          </a:xfrm>
          <a:prstGeom prst="roundRect">
            <a:avLst>
              <a:gd name="adj" fmla="val 6957"/>
            </a:avLst>
          </a:prstGeom>
          <a:solidFill>
            <a:srgbClr val="F3F5F9"/>
          </a:solidFill>
          <a:ln w="9525">
            <a:solidFill>
              <a:srgbClr val="D5DBE5"/>
            </a:solidFill>
            <a:prstDash val="solid"/>
          </a:ln>
        </p:spPr>
      </p:sp>
      <p:sp>
        <p:nvSpPr>
          <p:cNvPr id="12" name="Shape 9"/>
          <p:cNvSpPr/>
          <p:nvPr/>
        </p:nvSpPr>
        <p:spPr>
          <a:xfrm>
            <a:off x="3383280" y="2331720"/>
            <a:ext cx="365760" cy="365760"/>
          </a:xfrm>
          <a:prstGeom prst="ellipse">
            <a:avLst/>
          </a:prstGeom>
          <a:solidFill>
            <a:srgbClr val="DBEAFE"/>
          </a:solidFill>
          <a:ln w="12700">
            <a:solidFill>
              <a:srgbClr val="DBEAFE"/>
            </a:solidFill>
            <a:prstDash val="solid"/>
          </a:ln>
        </p:spPr>
      </p:sp>
      <p:pic>
        <p:nvPicPr>
          <p:cNvPr id="13" name="Image 1" descr="preencoded.png">    </p:cNvPr>
          <p:cNvPicPr>
            <a:picLocks noChangeAspect="1"/>
          </p:cNvPicPr>
          <p:nvPr/>
        </p:nvPicPr>
        <p:blipFill>
          <a:blip r:embed="rId2"/>
          <a:stretch>
            <a:fillRect/>
          </a:stretch>
        </p:blipFill>
        <p:spPr>
          <a:xfrm>
            <a:off x="3474720" y="2423160"/>
            <a:ext cx="182880" cy="182880"/>
          </a:xfrm>
          <a:prstGeom prst="rect">
            <a:avLst/>
          </a:prstGeom>
        </p:spPr>
      </p:pic>
      <p:sp>
        <p:nvSpPr>
          <p:cNvPr id="14" name="Text 10"/>
          <p:cNvSpPr txBox="1"/>
          <p:nvPr/>
        </p:nvSpPr>
        <p:spPr>
          <a:xfrm>
            <a:off x="3840480" y="230428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Track readiness</a:t>
            </a:r>
            <a:endParaRPr lang="en-US" sz="1300" dirty="0"/>
          </a:p>
        </p:txBody>
      </p:sp>
      <p:sp>
        <p:nvSpPr>
          <p:cNvPr id="15" name="Text 11"/>
          <p:cNvSpPr txBox="1"/>
          <p:nvPr/>
        </p:nvSpPr>
        <p:spPr>
          <a:xfrm>
            <a:off x="3383280" y="278892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Availability and condition per vehicle, with fleet intelligence</a:t>
            </a:r>
            <a:endParaRPr lang="en-US" sz="1100" dirty="0"/>
          </a:p>
        </p:txBody>
      </p:sp>
      <p:sp>
        <p:nvSpPr>
          <p:cNvPr id="16" name="obj2"/>
          <p:cNvSpPr/>
          <p:nvPr/>
        </p:nvSpPr>
        <p:spPr>
          <a:xfrm>
            <a:off x="6035040" y="2194560"/>
            <a:ext cx="2651760" cy="1051560"/>
          </a:xfrm>
          <a:prstGeom prst="roundRect">
            <a:avLst>
              <a:gd name="adj" fmla="val 6957"/>
            </a:avLst>
          </a:prstGeom>
          <a:solidFill>
            <a:srgbClr val="F3F5F9"/>
          </a:solidFill>
          <a:ln w="9525">
            <a:solidFill>
              <a:srgbClr val="D5DBE5"/>
            </a:solidFill>
            <a:prstDash val="solid"/>
          </a:ln>
        </p:spPr>
      </p:sp>
      <p:sp>
        <p:nvSpPr>
          <p:cNvPr id="17" name="Shape 13"/>
          <p:cNvSpPr/>
          <p:nvPr/>
        </p:nvSpPr>
        <p:spPr>
          <a:xfrm>
            <a:off x="6172200" y="2331720"/>
            <a:ext cx="365760" cy="365760"/>
          </a:xfrm>
          <a:prstGeom prst="ellipse">
            <a:avLst/>
          </a:prstGeom>
          <a:solidFill>
            <a:srgbClr val="DBEAFE"/>
          </a:solidFill>
          <a:ln w="12700">
            <a:solidFill>
              <a:srgbClr val="DBEAFE"/>
            </a:solidFill>
            <a:prstDash val="solid"/>
          </a:ln>
        </p:spPr>
      </p:sp>
      <p:pic>
        <p:nvPicPr>
          <p:cNvPr id="18" name="Image 2" descr="preencoded.png">    </p:cNvPr>
          <p:cNvPicPr>
            <a:picLocks noChangeAspect="1"/>
          </p:cNvPicPr>
          <p:nvPr/>
        </p:nvPicPr>
        <p:blipFill>
          <a:blip r:embed="rId3"/>
          <a:stretch>
            <a:fillRect/>
          </a:stretch>
        </p:blipFill>
        <p:spPr>
          <a:xfrm>
            <a:off x="6263640" y="2423160"/>
            <a:ext cx="182880" cy="182880"/>
          </a:xfrm>
          <a:prstGeom prst="rect">
            <a:avLst/>
          </a:prstGeom>
        </p:spPr>
      </p:pic>
      <p:sp>
        <p:nvSpPr>
          <p:cNvPr id="19" name="Text 14"/>
          <p:cNvSpPr txBox="1"/>
          <p:nvPr/>
        </p:nvSpPr>
        <p:spPr>
          <a:xfrm>
            <a:off x="6629400" y="230428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Run a controlled ticket workflow</a:t>
            </a:r>
            <a:endParaRPr lang="en-US" sz="1300" dirty="0"/>
          </a:p>
        </p:txBody>
      </p:sp>
      <p:sp>
        <p:nvSpPr>
          <p:cNvPr id="20" name="Text 15"/>
          <p:cNvSpPr txBox="1"/>
          <p:nvPr/>
        </p:nvSpPr>
        <p:spPr>
          <a:xfrm>
            <a:off x="6172200" y="278892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Report, propose, approve, repair, verify, close</a:t>
            </a:r>
            <a:endParaRPr lang="en-US" sz="1100" dirty="0"/>
          </a:p>
        </p:txBody>
      </p:sp>
      <p:sp>
        <p:nvSpPr>
          <p:cNvPr id="21" name="obj3"/>
          <p:cNvSpPr/>
          <p:nvPr/>
        </p:nvSpPr>
        <p:spPr>
          <a:xfrm>
            <a:off x="457200" y="3383280"/>
            <a:ext cx="2651760" cy="1051560"/>
          </a:xfrm>
          <a:prstGeom prst="roundRect">
            <a:avLst>
              <a:gd name="adj" fmla="val 6957"/>
            </a:avLst>
          </a:prstGeom>
          <a:solidFill>
            <a:srgbClr val="F3F5F9"/>
          </a:solidFill>
          <a:ln w="9525">
            <a:solidFill>
              <a:srgbClr val="D5DBE5"/>
            </a:solidFill>
            <a:prstDash val="solid"/>
          </a:ln>
        </p:spPr>
      </p:sp>
      <p:sp>
        <p:nvSpPr>
          <p:cNvPr id="22" name="Shape 17"/>
          <p:cNvSpPr/>
          <p:nvPr/>
        </p:nvSpPr>
        <p:spPr>
          <a:xfrm>
            <a:off x="594360" y="3520440"/>
            <a:ext cx="365760" cy="365760"/>
          </a:xfrm>
          <a:prstGeom prst="ellipse">
            <a:avLst/>
          </a:prstGeom>
          <a:solidFill>
            <a:srgbClr val="DBEAFE"/>
          </a:solidFill>
          <a:ln w="12700">
            <a:solidFill>
              <a:srgbClr val="DBEAFE"/>
            </a:solidFill>
            <a:prstDash val="solid"/>
          </a:ln>
        </p:spPr>
      </p:sp>
      <p:pic>
        <p:nvPicPr>
          <p:cNvPr id="23" name="Image 3" descr="preencoded.png">    </p:cNvPr>
          <p:cNvPicPr>
            <a:picLocks noChangeAspect="1"/>
          </p:cNvPicPr>
          <p:nvPr/>
        </p:nvPicPr>
        <p:blipFill>
          <a:blip r:embed="rId4"/>
          <a:stretch>
            <a:fillRect/>
          </a:stretch>
        </p:blipFill>
        <p:spPr>
          <a:xfrm>
            <a:off x="685800" y="3611880"/>
            <a:ext cx="182880" cy="182880"/>
          </a:xfrm>
          <a:prstGeom prst="rect">
            <a:avLst/>
          </a:prstGeom>
        </p:spPr>
      </p:pic>
      <p:sp>
        <p:nvSpPr>
          <p:cNvPr id="24" name="Text 18"/>
          <p:cNvSpPr txBox="1"/>
          <p:nvPr/>
        </p:nvSpPr>
        <p:spPr>
          <a:xfrm>
            <a:off x="1051560" y="349300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Schedule preventive maintenance</a:t>
            </a:r>
            <a:endParaRPr lang="en-US" sz="1300" dirty="0"/>
          </a:p>
        </p:txBody>
      </p:sp>
      <p:sp>
        <p:nvSpPr>
          <p:cNvPr id="25" name="Text 19"/>
          <p:cNvSpPr txBox="1"/>
          <p:nvPr/>
        </p:nvSpPr>
        <p:spPr>
          <a:xfrm>
            <a:off x="594360" y="397764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Recurring schedules and maintenance records</a:t>
            </a:r>
            <a:endParaRPr lang="en-US" sz="1100" dirty="0"/>
          </a:p>
        </p:txBody>
      </p:sp>
      <p:sp>
        <p:nvSpPr>
          <p:cNvPr id="26" name="obj4"/>
          <p:cNvSpPr/>
          <p:nvPr/>
        </p:nvSpPr>
        <p:spPr>
          <a:xfrm>
            <a:off x="3246120" y="3383280"/>
            <a:ext cx="2651760" cy="1051560"/>
          </a:xfrm>
          <a:prstGeom prst="roundRect">
            <a:avLst>
              <a:gd name="adj" fmla="val 6957"/>
            </a:avLst>
          </a:prstGeom>
          <a:solidFill>
            <a:srgbClr val="F3F5F9"/>
          </a:solidFill>
          <a:ln w="9525">
            <a:solidFill>
              <a:srgbClr val="D5DBE5"/>
            </a:solidFill>
            <a:prstDash val="solid"/>
          </a:ln>
        </p:spPr>
      </p:sp>
      <p:sp>
        <p:nvSpPr>
          <p:cNvPr id="27" name="Shape 21"/>
          <p:cNvSpPr/>
          <p:nvPr/>
        </p:nvSpPr>
        <p:spPr>
          <a:xfrm>
            <a:off x="3383280" y="3520440"/>
            <a:ext cx="365760" cy="365760"/>
          </a:xfrm>
          <a:prstGeom prst="ellipse">
            <a:avLst/>
          </a:prstGeom>
          <a:solidFill>
            <a:srgbClr val="DBEAFE"/>
          </a:solidFill>
          <a:ln w="12700">
            <a:solidFill>
              <a:srgbClr val="DBEAFE"/>
            </a:solidFill>
            <a:prstDash val="solid"/>
          </a:ln>
        </p:spPr>
      </p:sp>
      <p:pic>
        <p:nvPicPr>
          <p:cNvPr id="28" name="Image 4" descr="preencoded.png">    </p:cNvPr>
          <p:cNvPicPr>
            <a:picLocks noChangeAspect="1"/>
          </p:cNvPicPr>
          <p:nvPr/>
        </p:nvPicPr>
        <p:blipFill>
          <a:blip r:embed="rId5"/>
          <a:stretch>
            <a:fillRect/>
          </a:stretch>
        </p:blipFill>
        <p:spPr>
          <a:xfrm>
            <a:off x="3474720" y="3611880"/>
            <a:ext cx="182880" cy="182880"/>
          </a:xfrm>
          <a:prstGeom prst="rect">
            <a:avLst/>
          </a:prstGeom>
        </p:spPr>
      </p:pic>
      <p:sp>
        <p:nvSpPr>
          <p:cNvPr id="29" name="Text 22"/>
          <p:cNvSpPr txBox="1"/>
          <p:nvPr/>
        </p:nvSpPr>
        <p:spPr>
          <a:xfrm>
            <a:off x="3840480" y="349300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Enforce roles and an audit trail</a:t>
            </a:r>
            <a:endParaRPr lang="en-US" sz="1300" dirty="0"/>
          </a:p>
        </p:txBody>
      </p:sp>
      <p:sp>
        <p:nvSpPr>
          <p:cNvPr id="30" name="Text 23"/>
          <p:cNvSpPr txBox="1"/>
          <p:nvPr/>
        </p:nvSpPr>
        <p:spPr>
          <a:xfrm>
            <a:off x="3383280" y="397764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Role-based access, separation of duties, activity log</a:t>
            </a:r>
            <a:endParaRPr lang="en-US" sz="1100" dirty="0"/>
          </a:p>
        </p:txBody>
      </p:sp>
      <p:sp>
        <p:nvSpPr>
          <p:cNvPr id="31" name="obj5"/>
          <p:cNvSpPr/>
          <p:nvPr/>
        </p:nvSpPr>
        <p:spPr>
          <a:xfrm>
            <a:off x="6035040" y="3383280"/>
            <a:ext cx="2651760" cy="1051560"/>
          </a:xfrm>
          <a:prstGeom prst="roundRect">
            <a:avLst>
              <a:gd name="adj" fmla="val 6957"/>
            </a:avLst>
          </a:prstGeom>
          <a:solidFill>
            <a:srgbClr val="F3F5F9"/>
          </a:solidFill>
          <a:ln w="9525">
            <a:solidFill>
              <a:srgbClr val="D5DBE5"/>
            </a:solidFill>
            <a:prstDash val="solid"/>
          </a:ln>
        </p:spPr>
      </p:sp>
      <p:sp>
        <p:nvSpPr>
          <p:cNvPr id="32" name="Shape 25"/>
          <p:cNvSpPr/>
          <p:nvPr/>
        </p:nvSpPr>
        <p:spPr>
          <a:xfrm>
            <a:off x="6172200" y="3520440"/>
            <a:ext cx="365760" cy="365760"/>
          </a:xfrm>
          <a:prstGeom prst="ellipse">
            <a:avLst/>
          </a:prstGeom>
          <a:solidFill>
            <a:srgbClr val="DBEAFE"/>
          </a:solidFill>
          <a:ln w="12700">
            <a:solidFill>
              <a:srgbClr val="DBEAFE"/>
            </a:solidFill>
            <a:prstDash val="solid"/>
          </a:ln>
        </p:spPr>
      </p:sp>
      <p:pic>
        <p:nvPicPr>
          <p:cNvPr id="33" name="Image 5" descr="preencoded.png">    </p:cNvPr>
          <p:cNvPicPr>
            <a:picLocks noChangeAspect="1"/>
          </p:cNvPicPr>
          <p:nvPr/>
        </p:nvPicPr>
        <p:blipFill>
          <a:blip r:embed="rId6"/>
          <a:stretch>
            <a:fillRect/>
          </a:stretch>
        </p:blipFill>
        <p:spPr>
          <a:xfrm>
            <a:off x="6263640" y="3611880"/>
            <a:ext cx="182880" cy="182880"/>
          </a:xfrm>
          <a:prstGeom prst="rect">
            <a:avLst/>
          </a:prstGeom>
        </p:spPr>
      </p:pic>
      <p:sp>
        <p:nvSpPr>
          <p:cNvPr id="34" name="Text 26"/>
          <p:cNvSpPr txBox="1"/>
          <p:nvPr/>
        </p:nvSpPr>
        <p:spPr>
          <a:xfrm>
            <a:off x="6629400" y="3493008"/>
            <a:ext cx="1965960" cy="41148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Report and notify</a:t>
            </a:r>
            <a:endParaRPr lang="en-US" sz="1300" dirty="0"/>
          </a:p>
        </p:txBody>
      </p:sp>
      <p:sp>
        <p:nvSpPr>
          <p:cNvPr id="35" name="Text 27"/>
          <p:cNvSpPr txBox="1"/>
          <p:nvPr/>
        </p:nvSpPr>
        <p:spPr>
          <a:xfrm>
            <a:off x="6172200" y="3977640"/>
            <a:ext cx="2423160" cy="438912"/>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Reports, notifications and archived tickets</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06  BOUNDARIES</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Scope and delimitations</a:t>
            </a:r>
            <a:endParaRPr lang="en-US" sz="3000" dirty="0"/>
          </a:p>
        </p:txBody>
      </p:sp>
      <p:sp>
        <p:nvSpPr>
          <p:cNvPr id="4" name="inscope"/>
          <p:cNvSpPr/>
          <p:nvPr/>
        </p:nvSpPr>
        <p:spPr>
          <a:xfrm>
            <a:off x="457200" y="1188720"/>
            <a:ext cx="4023360" cy="3291840"/>
          </a:xfrm>
          <a:prstGeom prst="roundRect">
            <a:avLst>
              <a:gd name="adj" fmla="val 2222"/>
            </a:avLst>
          </a:prstGeom>
          <a:solidFill>
            <a:srgbClr val="F3F5F9"/>
          </a:solidFill>
          <a:ln w="9525">
            <a:solidFill>
              <a:srgbClr val="D5DBE5"/>
            </a:solidFill>
            <a:prstDash val="solid"/>
          </a:ln>
        </p:spPr>
      </p:sp>
      <p:sp>
        <p:nvSpPr>
          <p:cNvPr id="5" name="Shape 3"/>
          <p:cNvSpPr/>
          <p:nvPr/>
        </p:nvSpPr>
        <p:spPr>
          <a:xfrm>
            <a:off x="640080" y="1325880"/>
            <a:ext cx="384048" cy="384048"/>
          </a:xfrm>
          <a:prstGeom prst="ellipse">
            <a:avLst/>
          </a:prstGeom>
          <a:solidFill>
            <a:srgbClr val="DCFCE7"/>
          </a:solidFill>
          <a:ln w="12700">
            <a:solidFill>
              <a:srgbClr val="DCFCE7"/>
            </a:solidFill>
            <a:prstDash val="solid"/>
          </a:ln>
        </p:spPr>
      </p:sp>
      <p:pic>
        <p:nvPicPr>
          <p:cNvPr id="6" name="Image 0" descr="preencoded.png">    </p:cNvPr>
          <p:cNvPicPr>
            <a:picLocks noChangeAspect="1"/>
          </p:cNvPicPr>
          <p:nvPr/>
        </p:nvPicPr>
        <p:blipFill>
          <a:blip r:embed="rId1"/>
          <a:stretch>
            <a:fillRect/>
          </a:stretch>
        </p:blipFill>
        <p:spPr>
          <a:xfrm>
            <a:off x="736092" y="1421892"/>
            <a:ext cx="192024" cy="192024"/>
          </a:xfrm>
          <a:prstGeom prst="rect">
            <a:avLst/>
          </a:prstGeom>
        </p:spPr>
      </p:pic>
      <p:sp>
        <p:nvSpPr>
          <p:cNvPr id="7" name="Text 4"/>
          <p:cNvSpPr txBox="1"/>
          <p:nvPr/>
        </p:nvSpPr>
        <p:spPr>
          <a:xfrm>
            <a:off x="1143000" y="1325880"/>
            <a:ext cx="2743200"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In scope</a:t>
            </a:r>
            <a:endParaRPr lang="en-US" sz="1800" dirty="0"/>
          </a:p>
        </p:txBody>
      </p:sp>
      <p:sp>
        <p:nvSpPr>
          <p:cNvPr id="8" name="Text 5"/>
          <p:cNvSpPr txBox="1"/>
          <p:nvPr/>
        </p:nvSpPr>
        <p:spPr>
          <a:xfrm>
            <a:off x="685800" y="1920240"/>
            <a:ext cx="3611880" cy="24688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Fleet inventory and vehicle profiles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Availability and condition, tracked independently</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Issue reporting, tickets, repairs, verification, closure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Preventive and recurring maintenance schedules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Readiness checks and fleet intelligence</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Vehicle station locations (hubs)</a:t>
            </a:r>
            <a:endParaRPr lang="en-US" sz="1300" dirty="0"/>
          </a:p>
        </p:txBody>
      </p:sp>
      <p:sp>
        <p:nvSpPr>
          <p:cNvPr id="9" name="outscope"/>
          <p:cNvSpPr/>
          <p:nvPr/>
        </p:nvSpPr>
        <p:spPr>
          <a:xfrm>
            <a:off x="4663440" y="1188720"/>
            <a:ext cx="4023360" cy="3291840"/>
          </a:xfrm>
          <a:prstGeom prst="roundRect">
            <a:avLst>
              <a:gd name="adj" fmla="val 2222"/>
            </a:avLst>
          </a:prstGeom>
          <a:solidFill>
            <a:srgbClr val="F3F5F9"/>
          </a:solidFill>
          <a:ln w="9525">
            <a:solidFill>
              <a:srgbClr val="D5DBE5"/>
            </a:solidFill>
            <a:prstDash val="solid"/>
          </a:ln>
        </p:spPr>
      </p:sp>
      <p:sp>
        <p:nvSpPr>
          <p:cNvPr id="10" name="Shape 7"/>
          <p:cNvSpPr/>
          <p:nvPr/>
        </p:nvSpPr>
        <p:spPr>
          <a:xfrm>
            <a:off x="4846320" y="1325880"/>
            <a:ext cx="384048" cy="384048"/>
          </a:xfrm>
          <a:prstGeom prst="ellipse">
            <a:avLst/>
          </a:prstGeom>
          <a:solidFill>
            <a:srgbClr val="FEF3C7"/>
          </a:solidFill>
          <a:ln w="12700">
            <a:solidFill>
              <a:srgbClr val="FEF3C7"/>
            </a:solidFill>
            <a:prstDash val="solid"/>
          </a:ln>
        </p:spPr>
      </p:sp>
      <p:pic>
        <p:nvPicPr>
          <p:cNvPr id="11" name="Image 1" descr="preencoded.png">    </p:cNvPr>
          <p:cNvPicPr>
            <a:picLocks noChangeAspect="1"/>
          </p:cNvPicPr>
          <p:nvPr/>
        </p:nvPicPr>
        <p:blipFill>
          <a:blip r:embed="rId2"/>
          <a:stretch>
            <a:fillRect/>
          </a:stretch>
        </p:blipFill>
        <p:spPr>
          <a:xfrm>
            <a:off x="4942332" y="1421892"/>
            <a:ext cx="192024" cy="192024"/>
          </a:xfrm>
          <a:prstGeom prst="rect">
            <a:avLst/>
          </a:prstGeom>
        </p:spPr>
      </p:pic>
      <p:sp>
        <p:nvSpPr>
          <p:cNvPr id="12" name="Text 8"/>
          <p:cNvSpPr txBox="1"/>
          <p:nvPr/>
        </p:nvSpPr>
        <p:spPr>
          <a:xfrm>
            <a:off x="5349240" y="1325880"/>
            <a:ext cx="3200400" cy="384048"/>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Delimitations (out of scope)</a:t>
            </a:r>
            <a:endParaRPr lang="en-US" sz="1800" dirty="0"/>
          </a:p>
        </p:txBody>
      </p:sp>
      <p:sp>
        <p:nvSpPr>
          <p:cNvPr id="13" name="Text 9"/>
          <p:cNvSpPr txBox="1"/>
          <p:nvPr/>
        </p:nvSpPr>
        <p:spPr>
          <a:xfrm>
            <a:off x="4892040" y="1874520"/>
            <a:ext cx="3611880" cy="256032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Operations and dispatch</a:t>
            </a:r>
            <a:endParaRPr lang="en-US" sz="1300" dirty="0"/>
          </a:p>
          <a:p>
            <a:pPr indent="0" marL="0">
              <a:buNone/>
            </a:pPr>
            <a:r>
              <a:rPr lang="en-US" sz="1100" dirty="0">
                <a:solidFill>
                  <a:srgbClr val="5B6472"/>
                </a:solidFill>
                <a:latin typeface="Calibri" pitchFamily="34" charset="0"/>
                <a:ea typeface="Calibri" pitchFamily="34" charset="-122"/>
                <a:cs typeface="Calibri" pitchFamily="34" charset="-120"/>
              </a:rPr>
              <a:t>Who drove where on a call is not recorded.</a:t>
            </a:r>
            <a:endParaRPr lang="en-US" sz="1300" dirty="0"/>
          </a:p>
          <a:p>
            <a:pPr indent="0" marL="0">
              <a:buNone/>
            </a:pPr>
            <a:r>
              <a:rPr lang="en-US" sz="400" dirty="0">
                <a:solidFill>
                  <a:srgbClr val="1F2937"/>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Document compliance</a:t>
            </a:r>
            <a:endParaRPr lang="en-US" sz="1300" dirty="0"/>
          </a:p>
          <a:p>
            <a:pPr indent="0" marL="0">
              <a:buNone/>
            </a:pPr>
            <a:r>
              <a:rPr lang="en-US" sz="1100" dirty="0">
                <a:solidFill>
                  <a:srgbClr val="5B6472"/>
                </a:solidFill>
                <a:latin typeface="Calibri" pitchFamily="34" charset="0"/>
                <a:ea typeface="Calibri" pitchFamily="34" charset="-122"/>
                <a:cs typeface="Calibri" pitchFamily="34" charset="-120"/>
              </a:rPr>
              <a:t>Registration, insurance and permit expiry are not tracked.</a:t>
            </a:r>
            <a:endParaRPr lang="en-US" sz="1300" dirty="0"/>
          </a:p>
          <a:p>
            <a:pPr indent="0" marL="0">
              <a:buNone/>
            </a:pPr>
            <a:r>
              <a:rPr lang="en-US" sz="400" dirty="0">
                <a:solidFill>
                  <a:srgbClr val="1F2937"/>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Mileage-based servicing</a:t>
            </a:r>
            <a:endParaRPr lang="en-US" sz="1300" dirty="0"/>
          </a:p>
          <a:p>
            <a:pPr indent="0" marL="0">
              <a:buNone/>
            </a:pPr>
            <a:r>
              <a:rPr lang="en-US" sz="1100" dirty="0">
                <a:solidFill>
                  <a:srgbClr val="5B6472"/>
                </a:solidFill>
                <a:latin typeface="Calibri" pitchFamily="34" charset="0"/>
                <a:ea typeface="Calibri" pitchFamily="34" charset="-122"/>
                <a:cs typeface="Calibri" pitchFamily="34" charset="-120"/>
              </a:rPr>
              <a:t>Odometer readings do not drive maintenance.</a:t>
            </a:r>
            <a:endParaRPr lang="en-US" sz="1300" dirty="0"/>
          </a:p>
          <a:p>
            <a:pPr indent="0" marL="0">
              <a:buNone/>
            </a:pPr>
            <a:r>
              <a:rPr lang="en-US" sz="400" dirty="0">
                <a:solidFill>
                  <a:srgbClr val="1F2937"/>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Real-time GPS tracking</a:t>
            </a:r>
            <a:endParaRPr lang="en-US" sz="1300" dirty="0"/>
          </a:p>
          <a:p>
            <a:pPr indent="0" marL="0">
              <a:buNone/>
            </a:pPr>
            <a:r>
              <a:rPr lang="en-US" sz="1100" dirty="0">
                <a:solidFill>
                  <a:srgbClr val="5B6472"/>
                </a:solidFill>
                <a:latin typeface="Calibri" pitchFamily="34" charset="0"/>
                <a:ea typeface="Calibri" pitchFamily="34" charset="-122"/>
                <a:cs typeface="Calibri" pitchFamily="34" charset="-120"/>
              </a:rPr>
              <a:t>Only the station (hub) of each vehicle is recorded.</a:t>
            </a:r>
            <a:endParaRPr lang="en-US" sz="1300" dirty="0"/>
          </a:p>
          <a:p>
            <a:pPr indent="0" marL="0">
              <a:buNone/>
            </a:pPr>
            <a:r>
              <a:rPr lang="en-US" sz="400" dirty="0">
                <a:solidFill>
                  <a:srgbClr val="1F2937"/>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F2937"/>
                </a:solidFill>
                <a:latin typeface="Calibri" pitchFamily="34" charset="0"/>
                <a:ea typeface="Calibri" pitchFamily="34" charset="-122"/>
                <a:cs typeface="Calibri" pitchFamily="34" charset="-120"/>
              </a:rPr>
              <a:t>Native mobile apps</a:t>
            </a:r>
            <a:endParaRPr lang="en-US" sz="1300" dirty="0"/>
          </a:p>
          <a:p>
            <a:pPr indent="0" marL="0">
              <a:buNone/>
            </a:pPr>
            <a:r>
              <a:rPr lang="en-US" sz="1100" dirty="0">
                <a:solidFill>
                  <a:srgbClr val="5B6472"/>
                </a:solidFill>
                <a:latin typeface="Calibri" pitchFamily="34" charset="0"/>
                <a:ea typeface="Calibri" pitchFamily="34" charset="-122"/>
                <a:cs typeface="Calibri" pitchFamily="34" charset="-120"/>
              </a:rPr>
              <a:t>The system is web-based only.</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07  WHO USES IT</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Target users</a:t>
            </a:r>
            <a:endParaRPr lang="en-US" sz="3000" dirty="0"/>
          </a:p>
        </p:txBody>
      </p:sp>
      <p:sp>
        <p:nvSpPr>
          <p:cNvPr id="4" name="user0"/>
          <p:cNvSpPr/>
          <p:nvPr/>
        </p:nvSpPr>
        <p:spPr>
          <a:xfrm>
            <a:off x="457200" y="1188720"/>
            <a:ext cx="2651760" cy="3291840"/>
          </a:xfrm>
          <a:prstGeom prst="roundRect">
            <a:avLst>
              <a:gd name="adj" fmla="val 2759"/>
            </a:avLst>
          </a:prstGeom>
          <a:solidFill>
            <a:srgbClr val="F3F5F9"/>
          </a:solidFill>
          <a:ln w="9525">
            <a:solidFill>
              <a:srgbClr val="D5DBE5"/>
            </a:solidFill>
            <a:prstDash val="solid"/>
          </a:ln>
        </p:spPr>
      </p:sp>
      <p:sp>
        <p:nvSpPr>
          <p:cNvPr id="5" name="Shape 3"/>
          <p:cNvSpPr/>
          <p:nvPr/>
        </p:nvSpPr>
        <p:spPr>
          <a:xfrm>
            <a:off x="1371600" y="1371600"/>
            <a:ext cx="822960" cy="822960"/>
          </a:xfrm>
          <a:prstGeom prst="ellipse">
            <a:avLst/>
          </a:prstGeom>
          <a:solidFill>
            <a:srgbClr val="2563EB"/>
          </a:solidFill>
          <a:ln w="12700">
            <a:solidFill>
              <a:srgbClr val="2563EB"/>
            </a:solidFill>
            <a:prstDash val="solid"/>
          </a:ln>
        </p:spPr>
      </p:sp>
      <p:pic>
        <p:nvPicPr>
          <p:cNvPr id="6" name="Image 0" descr="preencoded.png">    </p:cNvPr>
          <p:cNvPicPr>
            <a:picLocks noChangeAspect="1"/>
          </p:cNvPicPr>
          <p:nvPr/>
        </p:nvPicPr>
        <p:blipFill>
          <a:blip r:embed="rId1"/>
          <a:stretch>
            <a:fillRect/>
          </a:stretch>
        </p:blipFill>
        <p:spPr>
          <a:xfrm>
            <a:off x="1577340" y="1577340"/>
            <a:ext cx="411480" cy="411480"/>
          </a:xfrm>
          <a:prstGeom prst="rect">
            <a:avLst/>
          </a:prstGeom>
        </p:spPr>
      </p:pic>
      <p:sp>
        <p:nvSpPr>
          <p:cNvPr id="7" name="Text 4"/>
          <p:cNvSpPr txBox="1"/>
          <p:nvPr/>
        </p:nvSpPr>
        <p:spPr>
          <a:xfrm>
            <a:off x="548640" y="2286000"/>
            <a:ext cx="246888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Admin</a:t>
            </a:r>
            <a:endParaRPr lang="en-US" sz="1800" dirty="0"/>
          </a:p>
        </p:txBody>
      </p:sp>
      <p:sp>
        <p:nvSpPr>
          <p:cNvPr id="8" name="Text 5"/>
          <p:cNvSpPr txBox="1"/>
          <p:nvPr/>
        </p:nvSpPr>
        <p:spPr>
          <a:xfrm>
            <a:off x="685800" y="2743200"/>
            <a:ext cx="2240280"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Approves or declines proposed tickets</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Assigns and reassigns personnel</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Manages fleet, accounts and reports</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Confirms the repair route and reassigns when needed</a:t>
            </a:r>
            <a:endParaRPr lang="en-US" sz="1200" dirty="0"/>
          </a:p>
        </p:txBody>
      </p:sp>
      <p:sp>
        <p:nvSpPr>
          <p:cNvPr id="9" name="user1"/>
          <p:cNvSpPr/>
          <p:nvPr/>
        </p:nvSpPr>
        <p:spPr>
          <a:xfrm>
            <a:off x="3246120" y="1188720"/>
            <a:ext cx="2651760" cy="3291840"/>
          </a:xfrm>
          <a:prstGeom prst="roundRect">
            <a:avLst>
              <a:gd name="adj" fmla="val 2759"/>
            </a:avLst>
          </a:prstGeom>
          <a:solidFill>
            <a:srgbClr val="F3F5F9"/>
          </a:solidFill>
          <a:ln w="9525">
            <a:solidFill>
              <a:srgbClr val="D5DBE5"/>
            </a:solidFill>
            <a:prstDash val="solid"/>
          </a:ln>
        </p:spPr>
      </p:sp>
      <p:sp>
        <p:nvSpPr>
          <p:cNvPr id="10" name="Shape 7"/>
          <p:cNvSpPr/>
          <p:nvPr/>
        </p:nvSpPr>
        <p:spPr>
          <a:xfrm>
            <a:off x="4160520" y="1371600"/>
            <a:ext cx="822960" cy="822960"/>
          </a:xfrm>
          <a:prstGeom prst="ellipse">
            <a:avLst/>
          </a:prstGeom>
          <a:solidFill>
            <a:srgbClr val="2563EB"/>
          </a:solidFill>
          <a:ln w="12700">
            <a:solidFill>
              <a:srgbClr val="2563EB"/>
            </a:solidFill>
            <a:prstDash val="solid"/>
          </a:ln>
        </p:spPr>
      </p:sp>
      <p:pic>
        <p:nvPicPr>
          <p:cNvPr id="11" name="Image 1" descr="preencoded.png">    </p:cNvPr>
          <p:cNvPicPr>
            <a:picLocks noChangeAspect="1"/>
          </p:cNvPicPr>
          <p:nvPr/>
        </p:nvPicPr>
        <p:blipFill>
          <a:blip r:embed="rId2"/>
          <a:stretch>
            <a:fillRect/>
          </a:stretch>
        </p:blipFill>
        <p:spPr>
          <a:xfrm>
            <a:off x="4366260" y="1577340"/>
            <a:ext cx="411480" cy="411480"/>
          </a:xfrm>
          <a:prstGeom prst="rect">
            <a:avLst/>
          </a:prstGeom>
        </p:spPr>
      </p:pic>
      <p:sp>
        <p:nvSpPr>
          <p:cNvPr id="12" name="Text 8"/>
          <p:cNvSpPr txBox="1"/>
          <p:nvPr/>
        </p:nvSpPr>
        <p:spPr>
          <a:xfrm>
            <a:off x="3337560" y="2286000"/>
            <a:ext cx="246888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Custodian</a:t>
            </a:r>
            <a:endParaRPr lang="en-US" sz="1800" dirty="0"/>
          </a:p>
        </p:txBody>
      </p:sp>
      <p:sp>
        <p:nvSpPr>
          <p:cNvPr id="13" name="Text 9"/>
          <p:cNvSpPr txBox="1"/>
          <p:nvPr/>
        </p:nvSpPr>
        <p:spPr>
          <a:xfrm>
            <a:off x="3474720" y="2743200"/>
            <a:ext cx="2240280"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Reports issues and registers vehicles</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Proposes tickets and sends vehicles to the external shop</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Verifies the completed repair independently</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Monitors vehicle condition</a:t>
            </a:r>
            <a:endParaRPr lang="en-US" sz="1200" dirty="0"/>
          </a:p>
        </p:txBody>
      </p:sp>
      <p:sp>
        <p:nvSpPr>
          <p:cNvPr id="14" name="user2"/>
          <p:cNvSpPr/>
          <p:nvPr/>
        </p:nvSpPr>
        <p:spPr>
          <a:xfrm>
            <a:off x="6035040" y="1188720"/>
            <a:ext cx="2651760" cy="3291840"/>
          </a:xfrm>
          <a:prstGeom prst="roundRect">
            <a:avLst>
              <a:gd name="adj" fmla="val 2759"/>
            </a:avLst>
          </a:prstGeom>
          <a:solidFill>
            <a:srgbClr val="F3F5F9"/>
          </a:solidFill>
          <a:ln w="9525">
            <a:solidFill>
              <a:srgbClr val="D5DBE5"/>
            </a:solidFill>
            <a:prstDash val="solid"/>
          </a:ln>
        </p:spPr>
      </p:sp>
      <p:sp>
        <p:nvSpPr>
          <p:cNvPr id="15" name="Shape 11"/>
          <p:cNvSpPr/>
          <p:nvPr/>
        </p:nvSpPr>
        <p:spPr>
          <a:xfrm>
            <a:off x="6949440" y="1371600"/>
            <a:ext cx="822960" cy="822960"/>
          </a:xfrm>
          <a:prstGeom prst="ellipse">
            <a:avLst/>
          </a:prstGeom>
          <a:solidFill>
            <a:srgbClr val="2563EB"/>
          </a:solidFill>
          <a:ln w="12700">
            <a:solidFill>
              <a:srgbClr val="2563EB"/>
            </a:solidFill>
            <a:prstDash val="solid"/>
          </a:ln>
        </p:spPr>
      </p:sp>
      <p:pic>
        <p:nvPicPr>
          <p:cNvPr id="16" name="Image 2" descr="preencoded.png">    </p:cNvPr>
          <p:cNvPicPr>
            <a:picLocks noChangeAspect="1"/>
          </p:cNvPicPr>
          <p:nvPr/>
        </p:nvPicPr>
        <p:blipFill>
          <a:blip r:embed="rId3"/>
          <a:stretch>
            <a:fillRect/>
          </a:stretch>
        </p:blipFill>
        <p:spPr>
          <a:xfrm>
            <a:off x="7155180" y="1577340"/>
            <a:ext cx="411480" cy="411480"/>
          </a:xfrm>
          <a:prstGeom prst="rect">
            <a:avLst/>
          </a:prstGeom>
        </p:spPr>
      </p:pic>
      <p:sp>
        <p:nvSpPr>
          <p:cNvPr id="17" name="Text 12"/>
          <p:cNvSpPr txBox="1"/>
          <p:nvPr/>
        </p:nvSpPr>
        <p:spPr>
          <a:xfrm>
            <a:off x="6126480" y="2286000"/>
            <a:ext cx="246888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Maintenance Personnel</a:t>
            </a:r>
            <a:endParaRPr lang="en-US" sz="1800" dirty="0"/>
          </a:p>
        </p:txBody>
      </p:sp>
      <p:sp>
        <p:nvSpPr>
          <p:cNvPr id="18" name="Text 13"/>
          <p:cNvSpPr txBox="1"/>
          <p:nvPr/>
        </p:nvSpPr>
        <p:spPr>
          <a:xfrm>
            <a:off x="6263640" y="2743200"/>
            <a:ext cx="2240280" cy="1691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Executes assigned repairs</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Logs work performed and parts used</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Submits work orders for verification</a:t>
            </a:r>
            <a:endParaRPr lang="en-US" sz="1200" dirty="0"/>
          </a:p>
          <a:p>
            <a:pPr marL="342900" indent="-3429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Reports technical issues</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08  PROCESS</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Ticket flow: in-house and external shop</a:t>
            </a:r>
            <a:endParaRPr lang="en-US" sz="3000" dirty="0"/>
          </a:p>
        </p:txBody>
      </p:sp>
      <p:sp>
        <p:nvSpPr>
          <p:cNvPr id="4" name="step"/>
          <p:cNvSpPr/>
          <p:nvPr/>
        </p:nvSpPr>
        <p:spPr>
          <a:xfrm>
            <a:off x="457200" y="1188720"/>
            <a:ext cx="2560320" cy="640080"/>
          </a:xfrm>
          <a:prstGeom prst="roundRect">
            <a:avLst>
              <a:gd name="adj" fmla="val 8571"/>
            </a:avLst>
          </a:prstGeom>
          <a:solidFill>
            <a:srgbClr val="F3F5F9"/>
          </a:solidFill>
          <a:ln w="12700">
            <a:solidFill>
              <a:srgbClr val="D5DBE5"/>
            </a:solidFill>
            <a:prstDash val="solid"/>
          </a:ln>
        </p:spPr>
      </p:sp>
      <p:sp>
        <p:nvSpPr>
          <p:cNvPr id="5" name="Text 3"/>
          <p:cNvSpPr txBox="1"/>
          <p:nvPr/>
        </p:nvSpPr>
        <p:spPr>
          <a:xfrm>
            <a:off x="530352" y="1188720"/>
            <a:ext cx="2414016" cy="6400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1  Report issue</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Custodian, with severity and evidence</a:t>
            </a:r>
            <a:endParaRPr lang="en-US" sz="1100" dirty="0"/>
          </a:p>
        </p:txBody>
      </p:sp>
      <p:sp>
        <p:nvSpPr>
          <p:cNvPr id="6" name="step"/>
          <p:cNvSpPr/>
          <p:nvPr/>
        </p:nvSpPr>
        <p:spPr>
          <a:xfrm>
            <a:off x="3291840" y="1188720"/>
            <a:ext cx="2560320" cy="640080"/>
          </a:xfrm>
          <a:prstGeom prst="roundRect">
            <a:avLst>
              <a:gd name="adj" fmla="val 8571"/>
            </a:avLst>
          </a:prstGeom>
          <a:solidFill>
            <a:srgbClr val="F3F5F9"/>
          </a:solidFill>
          <a:ln w="12700">
            <a:solidFill>
              <a:srgbClr val="D5DBE5"/>
            </a:solidFill>
            <a:prstDash val="solid"/>
          </a:ln>
        </p:spPr>
      </p:sp>
      <p:sp>
        <p:nvSpPr>
          <p:cNvPr id="7" name="Text 5"/>
          <p:cNvSpPr txBox="1"/>
          <p:nvPr/>
        </p:nvSpPr>
        <p:spPr>
          <a:xfrm>
            <a:off x="3364992" y="1188720"/>
            <a:ext cx="2414016" cy="6400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2  Propose ticket</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Custodian picks route and repair lines</a:t>
            </a:r>
            <a:endParaRPr lang="en-US" sz="1100" dirty="0"/>
          </a:p>
        </p:txBody>
      </p:sp>
      <p:sp>
        <p:nvSpPr>
          <p:cNvPr id="8" name="step"/>
          <p:cNvSpPr/>
          <p:nvPr/>
        </p:nvSpPr>
        <p:spPr>
          <a:xfrm>
            <a:off x="6126480" y="1188720"/>
            <a:ext cx="2560320" cy="640080"/>
          </a:xfrm>
          <a:prstGeom prst="roundRect">
            <a:avLst>
              <a:gd name="adj" fmla="val 8571"/>
            </a:avLst>
          </a:prstGeom>
          <a:solidFill>
            <a:srgbClr val="DBEAFE"/>
          </a:solidFill>
          <a:ln w="12700">
            <a:solidFill>
              <a:srgbClr val="2563EB"/>
            </a:solidFill>
            <a:prstDash val="solid"/>
          </a:ln>
        </p:spPr>
      </p:sp>
      <p:sp>
        <p:nvSpPr>
          <p:cNvPr id="9" name="Text 7"/>
          <p:cNvSpPr txBox="1"/>
          <p:nvPr/>
        </p:nvSpPr>
        <p:spPr>
          <a:xfrm>
            <a:off x="6199632" y="1188720"/>
            <a:ext cx="2414016" cy="64008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3  Admin review</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Approve, or decline with reason</a:t>
            </a:r>
            <a:endParaRPr lang="en-US" sz="1100" dirty="0"/>
          </a:p>
        </p:txBody>
      </p:sp>
      <p:sp>
        <p:nvSpPr>
          <p:cNvPr id="10" name="Shape 8"/>
          <p:cNvSpPr/>
          <p:nvPr/>
        </p:nvSpPr>
        <p:spPr>
          <a:xfrm>
            <a:off x="3017520" y="1508760"/>
            <a:ext cx="274320" cy="0"/>
          </a:xfrm>
          <a:prstGeom prst="line">
            <a:avLst/>
          </a:prstGeom>
          <a:noFill/>
          <a:ln w="19050">
            <a:solidFill>
              <a:srgbClr val="5B6472"/>
            </a:solidFill>
            <a:prstDash val="solid"/>
            <a:tailEnd type="triangle"/>
          </a:ln>
        </p:spPr>
      </p:sp>
      <p:sp>
        <p:nvSpPr>
          <p:cNvPr id="11" name="Shape 9"/>
          <p:cNvSpPr/>
          <p:nvPr/>
        </p:nvSpPr>
        <p:spPr>
          <a:xfrm>
            <a:off x="5852160" y="1508760"/>
            <a:ext cx="274320" cy="0"/>
          </a:xfrm>
          <a:prstGeom prst="line">
            <a:avLst/>
          </a:prstGeom>
          <a:noFill/>
          <a:ln w="19050">
            <a:solidFill>
              <a:srgbClr val="5B6472"/>
            </a:solidFill>
            <a:prstDash val="solid"/>
            <a:tailEnd type="triangle"/>
          </a:ln>
        </p:spPr>
      </p:sp>
      <p:sp>
        <p:nvSpPr>
          <p:cNvPr id="12" name="Shape 10"/>
          <p:cNvSpPr/>
          <p:nvPr/>
        </p:nvSpPr>
        <p:spPr>
          <a:xfrm>
            <a:off x="7406640" y="1828800"/>
            <a:ext cx="0" cy="274320"/>
          </a:xfrm>
          <a:prstGeom prst="line">
            <a:avLst/>
          </a:prstGeom>
          <a:noFill/>
          <a:ln w="19050">
            <a:solidFill>
              <a:srgbClr val="2563EB"/>
            </a:solidFill>
            <a:prstDash val="solid"/>
            <a:tailEnd type="triangle"/>
          </a:ln>
        </p:spPr>
      </p:sp>
      <p:sp>
        <p:nvSpPr>
          <p:cNvPr id="13" name="Text 11"/>
          <p:cNvSpPr txBox="1"/>
          <p:nvPr/>
        </p:nvSpPr>
        <p:spPr>
          <a:xfrm>
            <a:off x="4297680" y="1856232"/>
            <a:ext cx="3017520" cy="228600"/>
          </a:xfrm>
          <a:prstGeom prst="rect">
            <a:avLst/>
          </a:prstGeom>
          <a:noFill/>
          <a:ln/>
        </p:spPr>
        <p:txBody>
          <a:bodyPr wrap="square" lIns="0" tIns="0" rIns="0" bIns="0" rtlCol="0" anchor="t"/>
          <a:lstStyle/>
          <a:p>
            <a:pPr algn="r" indent="0" marL="0">
              <a:buNone/>
            </a:pPr>
            <a:r>
              <a:rPr lang="en-US" sz="1000" dirty="0">
                <a:solidFill>
                  <a:srgbClr val="5B6472"/>
                </a:solidFill>
                <a:latin typeface="Calibri" pitchFamily="34" charset="0"/>
                <a:ea typeface="Calibri" pitchFamily="34" charset="-122"/>
                <a:cs typeface="Calibri" pitchFamily="34" charset="-120"/>
              </a:rPr>
              <a:t>Approved: repair route set at proposal</a:t>
            </a:r>
            <a:endParaRPr lang="en-US" sz="1000" dirty="0"/>
          </a:p>
        </p:txBody>
      </p:sp>
      <p:sp>
        <p:nvSpPr>
          <p:cNvPr id="14" name="lane"/>
          <p:cNvSpPr/>
          <p:nvPr/>
        </p:nvSpPr>
        <p:spPr>
          <a:xfrm>
            <a:off x="457200" y="2148840"/>
            <a:ext cx="1234440" cy="777240"/>
          </a:xfrm>
          <a:prstGeom prst="roundRect">
            <a:avLst>
              <a:gd name="adj" fmla="val 7059"/>
            </a:avLst>
          </a:prstGeom>
          <a:solidFill>
            <a:srgbClr val="DBEAFE"/>
          </a:solidFill>
          <a:ln w="12700">
            <a:solidFill>
              <a:srgbClr val="2563EB"/>
            </a:solidFill>
            <a:prstDash val="solid"/>
          </a:ln>
        </p:spPr>
      </p:sp>
      <p:sp>
        <p:nvSpPr>
          <p:cNvPr id="15" name="Text 13"/>
          <p:cNvSpPr txBox="1"/>
          <p:nvPr/>
        </p:nvSpPr>
        <p:spPr>
          <a:xfrm>
            <a:off x="502920" y="2148840"/>
            <a:ext cx="1143000" cy="777240"/>
          </a:xfrm>
          <a:prstGeom prst="rect">
            <a:avLst/>
          </a:prstGeom>
          <a:noFill/>
          <a:ln/>
        </p:spPr>
        <p:txBody>
          <a:bodyPr wrap="square" lIns="0" tIns="0" rIns="0" bIns="0" rtlCol="0" anchor="ctr"/>
          <a:lstStyle/>
          <a:p>
            <a:pPr algn="ctr" indent="0" marL="0">
              <a:buNone/>
            </a:pPr>
            <a:r>
              <a:rPr lang="en-US" sz="1200" b="1" dirty="0">
                <a:solidFill>
                  <a:srgbClr val="2563EB"/>
                </a:solidFill>
                <a:latin typeface="Calibri" pitchFamily="34" charset="0"/>
                <a:ea typeface="Calibri" pitchFamily="34" charset="-122"/>
                <a:cs typeface="Calibri" pitchFamily="34" charset="-120"/>
              </a:rPr>
              <a:t>IN-HOUSE</a:t>
            </a:r>
            <a:endParaRPr lang="en-US" sz="1200" dirty="0"/>
          </a:p>
        </p:txBody>
      </p:sp>
      <p:sp>
        <p:nvSpPr>
          <p:cNvPr id="16" name="step"/>
          <p:cNvSpPr/>
          <p:nvPr/>
        </p:nvSpPr>
        <p:spPr>
          <a:xfrm>
            <a:off x="1920240" y="2148840"/>
            <a:ext cx="1554480" cy="777240"/>
          </a:xfrm>
          <a:prstGeom prst="roundRect">
            <a:avLst>
              <a:gd name="adj" fmla="val 7059"/>
            </a:avLst>
          </a:prstGeom>
          <a:solidFill>
            <a:srgbClr val="F3F5F9"/>
          </a:solidFill>
          <a:ln w="12700">
            <a:solidFill>
              <a:srgbClr val="D5DBE5"/>
            </a:solidFill>
            <a:prstDash val="solid"/>
          </a:ln>
        </p:spPr>
      </p:sp>
      <p:sp>
        <p:nvSpPr>
          <p:cNvPr id="17" name="Text 15"/>
          <p:cNvSpPr txBox="1"/>
          <p:nvPr/>
        </p:nvSpPr>
        <p:spPr>
          <a:xfrm>
            <a:off x="1993392" y="21488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Custodian suggests a mechanic; Admin confirms or reassigns</a:t>
            </a:r>
            <a:endParaRPr lang="en-US" sz="1050" dirty="0"/>
          </a:p>
        </p:txBody>
      </p:sp>
      <p:sp>
        <p:nvSpPr>
          <p:cNvPr id="18" name="Shape 16"/>
          <p:cNvSpPr/>
          <p:nvPr/>
        </p:nvSpPr>
        <p:spPr>
          <a:xfrm>
            <a:off x="1691640" y="2537460"/>
            <a:ext cx="228600" cy="0"/>
          </a:xfrm>
          <a:prstGeom prst="line">
            <a:avLst/>
          </a:prstGeom>
          <a:noFill/>
          <a:ln w="19050">
            <a:solidFill>
              <a:srgbClr val="2563EB"/>
            </a:solidFill>
            <a:prstDash val="solid"/>
            <a:tailEnd type="triangle"/>
          </a:ln>
        </p:spPr>
      </p:sp>
      <p:sp>
        <p:nvSpPr>
          <p:cNvPr id="19" name="step"/>
          <p:cNvSpPr/>
          <p:nvPr/>
        </p:nvSpPr>
        <p:spPr>
          <a:xfrm>
            <a:off x="3703320" y="2148840"/>
            <a:ext cx="1554480" cy="777240"/>
          </a:xfrm>
          <a:prstGeom prst="roundRect">
            <a:avLst>
              <a:gd name="adj" fmla="val 7059"/>
            </a:avLst>
          </a:prstGeom>
          <a:solidFill>
            <a:srgbClr val="F3F5F9"/>
          </a:solidFill>
          <a:ln w="12700">
            <a:solidFill>
              <a:srgbClr val="D5DBE5"/>
            </a:solidFill>
            <a:prstDash val="solid"/>
          </a:ln>
        </p:spPr>
      </p:sp>
      <p:sp>
        <p:nvSpPr>
          <p:cNvPr id="20" name="Text 18"/>
          <p:cNvSpPr txBox="1"/>
          <p:nvPr/>
        </p:nvSpPr>
        <p:spPr>
          <a:xfrm>
            <a:off x="3776472" y="21488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Mechanic repairs, logs work and parts</a:t>
            </a:r>
            <a:endParaRPr lang="en-US" sz="1050" dirty="0"/>
          </a:p>
        </p:txBody>
      </p:sp>
      <p:sp>
        <p:nvSpPr>
          <p:cNvPr id="21" name="Shape 19"/>
          <p:cNvSpPr/>
          <p:nvPr/>
        </p:nvSpPr>
        <p:spPr>
          <a:xfrm>
            <a:off x="3474720" y="2537460"/>
            <a:ext cx="228600" cy="0"/>
          </a:xfrm>
          <a:prstGeom prst="line">
            <a:avLst/>
          </a:prstGeom>
          <a:noFill/>
          <a:ln w="19050">
            <a:solidFill>
              <a:srgbClr val="2563EB"/>
            </a:solidFill>
            <a:prstDash val="solid"/>
            <a:tailEnd type="triangle"/>
          </a:ln>
        </p:spPr>
      </p:sp>
      <p:sp>
        <p:nvSpPr>
          <p:cNvPr id="22" name="step"/>
          <p:cNvSpPr/>
          <p:nvPr/>
        </p:nvSpPr>
        <p:spPr>
          <a:xfrm>
            <a:off x="5486400" y="2148840"/>
            <a:ext cx="1554480" cy="777240"/>
          </a:xfrm>
          <a:prstGeom prst="roundRect">
            <a:avLst>
              <a:gd name="adj" fmla="val 7059"/>
            </a:avLst>
          </a:prstGeom>
          <a:solidFill>
            <a:srgbClr val="F3F5F9"/>
          </a:solidFill>
          <a:ln w="12700">
            <a:solidFill>
              <a:srgbClr val="D5DBE5"/>
            </a:solidFill>
            <a:prstDash val="solid"/>
          </a:ln>
        </p:spPr>
      </p:sp>
      <p:sp>
        <p:nvSpPr>
          <p:cNvPr id="23" name="Text 21"/>
          <p:cNvSpPr txBox="1"/>
          <p:nvPr/>
        </p:nvSpPr>
        <p:spPr>
          <a:xfrm>
            <a:off x="5559552" y="21488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Custodian verifies the completed repair</a:t>
            </a:r>
            <a:endParaRPr lang="en-US" sz="1050" dirty="0"/>
          </a:p>
        </p:txBody>
      </p:sp>
      <p:sp>
        <p:nvSpPr>
          <p:cNvPr id="24" name="Shape 22"/>
          <p:cNvSpPr/>
          <p:nvPr/>
        </p:nvSpPr>
        <p:spPr>
          <a:xfrm>
            <a:off x="5257800" y="2537460"/>
            <a:ext cx="228600" cy="0"/>
          </a:xfrm>
          <a:prstGeom prst="line">
            <a:avLst/>
          </a:prstGeom>
          <a:noFill/>
          <a:ln w="19050">
            <a:solidFill>
              <a:srgbClr val="2563EB"/>
            </a:solidFill>
            <a:prstDash val="solid"/>
            <a:tailEnd type="triangle"/>
          </a:ln>
        </p:spPr>
      </p:sp>
      <p:sp>
        <p:nvSpPr>
          <p:cNvPr id="25" name="lane"/>
          <p:cNvSpPr/>
          <p:nvPr/>
        </p:nvSpPr>
        <p:spPr>
          <a:xfrm>
            <a:off x="457200" y="3063240"/>
            <a:ext cx="1234440" cy="777240"/>
          </a:xfrm>
          <a:prstGeom prst="roundRect">
            <a:avLst>
              <a:gd name="adj" fmla="val 7059"/>
            </a:avLst>
          </a:prstGeom>
          <a:solidFill>
            <a:srgbClr val="FEF3C7"/>
          </a:solidFill>
          <a:ln w="12700">
            <a:solidFill>
              <a:srgbClr val="B45309"/>
            </a:solidFill>
            <a:prstDash val="solid"/>
          </a:ln>
        </p:spPr>
      </p:sp>
      <p:sp>
        <p:nvSpPr>
          <p:cNvPr id="26" name="Text 24"/>
          <p:cNvSpPr txBox="1"/>
          <p:nvPr/>
        </p:nvSpPr>
        <p:spPr>
          <a:xfrm>
            <a:off x="502920" y="3063240"/>
            <a:ext cx="1143000" cy="777240"/>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EXTERNAL SHOP</a:t>
            </a:r>
            <a:endParaRPr lang="en-US" sz="1200" dirty="0"/>
          </a:p>
        </p:txBody>
      </p:sp>
      <p:sp>
        <p:nvSpPr>
          <p:cNvPr id="27" name="step"/>
          <p:cNvSpPr/>
          <p:nvPr/>
        </p:nvSpPr>
        <p:spPr>
          <a:xfrm>
            <a:off x="1920240" y="3063240"/>
            <a:ext cx="1554480" cy="777240"/>
          </a:xfrm>
          <a:prstGeom prst="roundRect">
            <a:avLst>
              <a:gd name="adj" fmla="val 7059"/>
            </a:avLst>
          </a:prstGeom>
          <a:solidFill>
            <a:srgbClr val="F3F5F9"/>
          </a:solidFill>
          <a:ln w="12700">
            <a:solidFill>
              <a:srgbClr val="D5DBE5"/>
            </a:solidFill>
            <a:prstDash val="solid"/>
          </a:ln>
        </p:spPr>
      </p:sp>
      <p:sp>
        <p:nvSpPr>
          <p:cNvPr id="28" name="Text 26"/>
          <p:cNvSpPr txBox="1"/>
          <p:nvPr/>
        </p:nvSpPr>
        <p:spPr>
          <a:xfrm>
            <a:off x="1993392" y="30632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Admin approves the shop repair</a:t>
            </a:r>
            <a:endParaRPr lang="en-US" sz="1050" dirty="0"/>
          </a:p>
        </p:txBody>
      </p:sp>
      <p:sp>
        <p:nvSpPr>
          <p:cNvPr id="29" name="Shape 27"/>
          <p:cNvSpPr/>
          <p:nvPr/>
        </p:nvSpPr>
        <p:spPr>
          <a:xfrm>
            <a:off x="1691640" y="3451860"/>
            <a:ext cx="228600" cy="0"/>
          </a:xfrm>
          <a:prstGeom prst="line">
            <a:avLst/>
          </a:prstGeom>
          <a:noFill/>
          <a:ln w="19050">
            <a:solidFill>
              <a:srgbClr val="B45309"/>
            </a:solidFill>
            <a:prstDash val="solid"/>
            <a:tailEnd type="triangle"/>
          </a:ln>
        </p:spPr>
      </p:sp>
      <p:sp>
        <p:nvSpPr>
          <p:cNvPr id="30" name="step"/>
          <p:cNvSpPr/>
          <p:nvPr/>
        </p:nvSpPr>
        <p:spPr>
          <a:xfrm>
            <a:off x="3703320" y="3063240"/>
            <a:ext cx="1554480" cy="777240"/>
          </a:xfrm>
          <a:prstGeom prst="roundRect">
            <a:avLst>
              <a:gd name="adj" fmla="val 7059"/>
            </a:avLst>
          </a:prstGeom>
          <a:solidFill>
            <a:srgbClr val="F3F5F9"/>
          </a:solidFill>
          <a:ln w="12700">
            <a:solidFill>
              <a:srgbClr val="D5DBE5"/>
            </a:solidFill>
            <a:prstDash val="solid"/>
          </a:ln>
        </p:spPr>
      </p:sp>
      <p:sp>
        <p:nvSpPr>
          <p:cNvPr id="31" name="Text 29"/>
          <p:cNvSpPr txBox="1"/>
          <p:nvPr/>
        </p:nvSpPr>
        <p:spPr>
          <a:xfrm>
            <a:off x="3776472" y="30632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Custodian sends the vehicle to the shop; it is returned</a:t>
            </a:r>
            <a:endParaRPr lang="en-US" sz="1050" dirty="0"/>
          </a:p>
        </p:txBody>
      </p:sp>
      <p:sp>
        <p:nvSpPr>
          <p:cNvPr id="32" name="Shape 30"/>
          <p:cNvSpPr/>
          <p:nvPr/>
        </p:nvSpPr>
        <p:spPr>
          <a:xfrm>
            <a:off x="3474720" y="3451860"/>
            <a:ext cx="228600" cy="0"/>
          </a:xfrm>
          <a:prstGeom prst="line">
            <a:avLst/>
          </a:prstGeom>
          <a:noFill/>
          <a:ln w="19050">
            <a:solidFill>
              <a:srgbClr val="B45309"/>
            </a:solidFill>
            <a:prstDash val="solid"/>
            <a:tailEnd type="triangle"/>
          </a:ln>
        </p:spPr>
      </p:sp>
      <p:sp>
        <p:nvSpPr>
          <p:cNvPr id="33" name="step"/>
          <p:cNvSpPr/>
          <p:nvPr/>
        </p:nvSpPr>
        <p:spPr>
          <a:xfrm>
            <a:off x="5486400" y="3063240"/>
            <a:ext cx="1554480" cy="777240"/>
          </a:xfrm>
          <a:prstGeom prst="roundRect">
            <a:avLst>
              <a:gd name="adj" fmla="val 7059"/>
            </a:avLst>
          </a:prstGeom>
          <a:solidFill>
            <a:srgbClr val="F3F5F9"/>
          </a:solidFill>
          <a:ln w="12700">
            <a:solidFill>
              <a:srgbClr val="D5DBE5"/>
            </a:solidFill>
            <a:prstDash val="solid"/>
          </a:ln>
        </p:spPr>
      </p:sp>
      <p:sp>
        <p:nvSpPr>
          <p:cNvPr id="34" name="Text 32"/>
          <p:cNvSpPr txBox="1"/>
          <p:nvPr/>
        </p:nvSpPr>
        <p:spPr>
          <a:xfrm>
            <a:off x="5559552" y="3063240"/>
            <a:ext cx="1408176" cy="77724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Custodian verifies the returned vehicle</a:t>
            </a:r>
            <a:endParaRPr lang="en-US" sz="1050" dirty="0"/>
          </a:p>
        </p:txBody>
      </p:sp>
      <p:sp>
        <p:nvSpPr>
          <p:cNvPr id="35" name="Shape 33"/>
          <p:cNvSpPr/>
          <p:nvPr/>
        </p:nvSpPr>
        <p:spPr>
          <a:xfrm>
            <a:off x="5257800" y="3451860"/>
            <a:ext cx="228600" cy="0"/>
          </a:xfrm>
          <a:prstGeom prst="line">
            <a:avLst/>
          </a:prstGeom>
          <a:noFill/>
          <a:ln w="19050">
            <a:solidFill>
              <a:srgbClr val="B45309"/>
            </a:solidFill>
            <a:prstDash val="solid"/>
            <a:tailEnd type="triangle"/>
          </a:ln>
        </p:spPr>
      </p:sp>
      <p:sp>
        <p:nvSpPr>
          <p:cNvPr id="36" name="Shape 34"/>
          <p:cNvSpPr/>
          <p:nvPr/>
        </p:nvSpPr>
        <p:spPr>
          <a:xfrm>
            <a:off x="7132320" y="2537460"/>
            <a:ext cx="320040" cy="0"/>
          </a:xfrm>
          <a:prstGeom prst="line">
            <a:avLst/>
          </a:prstGeom>
          <a:noFill/>
          <a:ln w="19050">
            <a:solidFill>
              <a:srgbClr val="2563EB"/>
            </a:solidFill>
            <a:prstDash val="solid"/>
            <a:tailEnd type="triangle"/>
          </a:ln>
        </p:spPr>
      </p:sp>
      <p:sp>
        <p:nvSpPr>
          <p:cNvPr id="37" name="Shape 35"/>
          <p:cNvSpPr/>
          <p:nvPr/>
        </p:nvSpPr>
        <p:spPr>
          <a:xfrm>
            <a:off x="7132320" y="3451860"/>
            <a:ext cx="320040" cy="0"/>
          </a:xfrm>
          <a:prstGeom prst="line">
            <a:avLst/>
          </a:prstGeom>
          <a:noFill/>
          <a:ln w="19050">
            <a:solidFill>
              <a:srgbClr val="B45309"/>
            </a:solidFill>
            <a:prstDash val="solid"/>
            <a:tailEnd type="triangle"/>
          </a:ln>
        </p:spPr>
      </p:sp>
      <p:sp>
        <p:nvSpPr>
          <p:cNvPr id="38" name="step"/>
          <p:cNvSpPr/>
          <p:nvPr/>
        </p:nvSpPr>
        <p:spPr>
          <a:xfrm>
            <a:off x="7452360" y="2148840"/>
            <a:ext cx="1234440" cy="1691640"/>
          </a:xfrm>
          <a:prstGeom prst="roundRect">
            <a:avLst>
              <a:gd name="adj" fmla="val 4444"/>
            </a:avLst>
          </a:prstGeom>
          <a:solidFill>
            <a:srgbClr val="DCFCE7"/>
          </a:solidFill>
          <a:ln w="12700">
            <a:solidFill>
              <a:srgbClr val="15803D"/>
            </a:solidFill>
            <a:prstDash val="solid"/>
          </a:ln>
        </p:spPr>
      </p:sp>
      <p:sp>
        <p:nvSpPr>
          <p:cNvPr id="39" name="Text 37"/>
          <p:cNvSpPr txBox="1"/>
          <p:nvPr/>
        </p:nvSpPr>
        <p:spPr>
          <a:xfrm>
            <a:off x="7525512" y="2148840"/>
            <a:ext cx="1088136" cy="1691640"/>
          </a:xfrm>
          <a:prstGeom prst="rect">
            <a:avLst/>
          </a:prstGeom>
          <a:noFill/>
          <a:ln/>
        </p:spPr>
        <p:txBody>
          <a:bodyPr wrap="square" lIns="0" tIns="0" rIns="0" bIns="0" rtlCol="0" anchor="ctr"/>
          <a:lstStyle/>
          <a:p>
            <a:pPr algn="ctr" indent="0" marL="0">
              <a:buNone/>
            </a:pPr>
            <a:r>
              <a:rPr lang="en-US" sz="1100" dirty="0">
                <a:solidFill>
                  <a:srgbClr val="1F2937"/>
                </a:solidFill>
                <a:latin typeface="Calibri" pitchFamily="34" charset="0"/>
                <a:ea typeface="Calibri" pitchFamily="34" charset="-122"/>
                <a:cs typeface="Calibri" pitchFamily="34" charset="-120"/>
              </a:rPr>
              <a:t>4  Outcome</a:t>
            </a:r>
            <a:endParaRPr lang="en-US" sz="1100" dirty="0"/>
          </a:p>
          <a:p>
            <a:pPr algn="ctr" indent="0" marL="0">
              <a:buNone/>
            </a:pPr>
            <a:r>
              <a:rPr lang="en-US" sz="1100" dirty="0">
                <a:solidFill>
                  <a:srgbClr val="1F2937"/>
                </a:solidFill>
                <a:latin typeface="Calibri" pitchFamily="34" charset="0"/>
                <a:ea typeface="Calibri" pitchFamily="34" charset="-122"/>
                <a:cs typeface="Calibri" pitchFamily="34" charset="-120"/>
              </a:rPr>
              <a:t>Satisfactory: ticket closes. Not satisfactory: rework</a:t>
            </a:r>
            <a:endParaRPr lang="en-US" sz="1100" dirty="0"/>
          </a:p>
        </p:txBody>
      </p:sp>
      <p:sp>
        <p:nvSpPr>
          <p:cNvPr id="40" name="Shape 38"/>
          <p:cNvSpPr/>
          <p:nvPr/>
        </p:nvSpPr>
        <p:spPr>
          <a:xfrm>
            <a:off x="8069580" y="3840480"/>
            <a:ext cx="0" cy="228600"/>
          </a:xfrm>
          <a:prstGeom prst="line">
            <a:avLst/>
          </a:prstGeom>
          <a:noFill/>
          <a:ln w="19050">
            <a:solidFill>
              <a:srgbClr val="15803D"/>
            </a:solidFill>
            <a:prstDash val="solid"/>
            <a:tailEnd type="triangle"/>
          </a:ln>
        </p:spPr>
      </p:sp>
      <p:sp>
        <p:nvSpPr>
          <p:cNvPr id="41" name="step"/>
          <p:cNvSpPr/>
          <p:nvPr/>
        </p:nvSpPr>
        <p:spPr>
          <a:xfrm>
            <a:off x="7452360" y="4069080"/>
            <a:ext cx="1234440" cy="457200"/>
          </a:xfrm>
          <a:prstGeom prst="roundRect">
            <a:avLst>
              <a:gd name="adj" fmla="val 12000"/>
            </a:avLst>
          </a:prstGeom>
          <a:solidFill>
            <a:srgbClr val="DCFCE7"/>
          </a:solidFill>
          <a:ln w="12700">
            <a:solidFill>
              <a:srgbClr val="15803D"/>
            </a:solidFill>
            <a:prstDash val="solid"/>
          </a:ln>
        </p:spPr>
      </p:sp>
      <p:sp>
        <p:nvSpPr>
          <p:cNvPr id="42" name="Text 40"/>
          <p:cNvSpPr txBox="1"/>
          <p:nvPr/>
        </p:nvSpPr>
        <p:spPr>
          <a:xfrm>
            <a:off x="7525512" y="4069080"/>
            <a:ext cx="1088136" cy="457200"/>
          </a:xfrm>
          <a:prstGeom prst="rect">
            <a:avLst/>
          </a:prstGeom>
          <a:noFill/>
          <a:ln/>
        </p:spPr>
        <p:txBody>
          <a:bodyPr wrap="square" lIns="0" tIns="0" rIns="0" bIns="0" rtlCol="0" anchor="ctr"/>
          <a:lstStyle/>
          <a:p>
            <a:pPr algn="ctr" indent="0" marL="0">
              <a:buNone/>
            </a:pPr>
            <a:r>
              <a:rPr lang="en-US" sz="1050" b="1" dirty="0">
                <a:solidFill>
                  <a:srgbClr val="15803D"/>
                </a:solidFill>
                <a:latin typeface="Calibri" pitchFamily="34" charset="0"/>
                <a:ea typeface="Calibri" pitchFamily="34" charset="-122"/>
                <a:cs typeface="Calibri" pitchFamily="34" charset="-120"/>
              </a:rPr>
              <a:t>Closed and archived</a:t>
            </a:r>
            <a:endParaRPr lang="en-US" sz="1050" dirty="0"/>
          </a:p>
        </p:txBody>
      </p:sp>
      <p:sp>
        <p:nvSpPr>
          <p:cNvPr id="43" name="Text 41"/>
          <p:cNvSpPr txBox="1"/>
          <p:nvPr/>
        </p:nvSpPr>
        <p:spPr>
          <a:xfrm>
            <a:off x="457200" y="4023360"/>
            <a:ext cx="6766560" cy="502920"/>
          </a:xfrm>
          <a:prstGeom prst="rect">
            <a:avLst/>
          </a:prstGeom>
          <a:noFill/>
          <a:ln/>
        </p:spPr>
        <p:txBody>
          <a:bodyPr wrap="square" lIns="0" tIns="0" rIns="0" bIns="0" rtlCol="0" anchor="t"/>
          <a:lstStyle/>
          <a:p>
            <a:pPr indent="0" marL="0">
              <a:buNone/>
            </a:pPr>
            <a:r>
              <a:rPr lang="en-US" sz="1100" b="1" dirty="0">
                <a:solidFill>
                  <a:srgbClr val="B91C1C"/>
                </a:solidFill>
                <a:latin typeface="Calibri" pitchFamily="34" charset="0"/>
                <a:ea typeface="Calibri" pitchFamily="34" charset="-122"/>
                <a:cs typeface="Calibri" pitchFamily="34" charset="-120"/>
              </a:rPr>
              <a:t>Disapproved </a:t>
            </a:r>
            <a:pPr indent="0" marL="0">
              <a:buNone/>
            </a:pPr>
            <a:r>
              <a:rPr lang="en-US" sz="1100" dirty="0">
                <a:solidFill>
                  <a:srgbClr val="5B6472"/>
                </a:solidFill>
                <a:latin typeface="Calibri" pitchFamily="34" charset="0"/>
                <a:ea typeface="Calibri" pitchFamily="34" charset="-122"/>
                <a:cs typeface="Calibri" pitchFamily="34" charset="-120"/>
              </a:rPr>
              <a:t>returns the ticket for rework with a reason. Whoever repaired or handled the work cannot verify it.</a:t>
            </a:r>
            <a:endParaRPr lang="en-US" sz="11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09  REQUIREMENTS</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Use case diagram</a:t>
            </a:r>
            <a:endParaRPr lang="en-US" sz="3000" dirty="0"/>
          </a:p>
        </p:txBody>
      </p:sp>
      <p:sp>
        <p:nvSpPr>
          <p:cNvPr id="4" name="diagram-frame"/>
          <p:cNvSpPr/>
          <p:nvPr/>
        </p:nvSpPr>
        <p:spPr>
          <a:xfrm>
            <a:off x="457200" y="1188720"/>
            <a:ext cx="8229600" cy="3291840"/>
          </a:xfrm>
          <a:prstGeom prst="roundRect">
            <a:avLst>
              <a:gd name="adj" fmla="val 2778"/>
            </a:avLst>
          </a:prstGeom>
          <a:solidFill>
            <a:srgbClr val="F8FAFC"/>
          </a:solidFill>
          <a:ln w="15875">
            <a:solidFill>
              <a:srgbClr val="9AA3B2"/>
            </a:solidFill>
            <a:prstDash val="dash"/>
          </a:ln>
        </p:spPr>
      </p:sp>
      <p:sp>
        <p:nvSpPr>
          <p:cNvPr id="5" name="Shape 3"/>
          <p:cNvSpPr/>
          <p:nvPr/>
        </p:nvSpPr>
        <p:spPr>
          <a:xfrm>
            <a:off x="4160520" y="2011680"/>
            <a:ext cx="822960" cy="82296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4366260" y="2217420"/>
            <a:ext cx="411480" cy="411480"/>
          </a:xfrm>
          <a:prstGeom prst="rect">
            <a:avLst/>
          </a:prstGeom>
        </p:spPr>
      </p:pic>
      <p:sp>
        <p:nvSpPr>
          <p:cNvPr id="7" name="Text 4"/>
          <p:cNvSpPr txBox="1"/>
          <p:nvPr/>
        </p:nvSpPr>
        <p:spPr>
          <a:xfrm>
            <a:off x="914400" y="2971800"/>
            <a:ext cx="731520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Diagram to be attached</a:t>
            </a:r>
            <a:endParaRPr lang="en-US" sz="1800" dirty="0"/>
          </a:p>
        </p:txBody>
      </p:sp>
      <p:sp>
        <p:nvSpPr>
          <p:cNvPr id="8" name="Text 5"/>
          <p:cNvSpPr txBox="1"/>
          <p:nvPr/>
        </p:nvSpPr>
        <p:spPr>
          <a:xfrm>
            <a:off x="1371600" y="3383280"/>
            <a:ext cx="6400800" cy="5486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Shows how Admin, Custodian and Maintenance Personnel interact with the system.</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10  DESIGN</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System architecture diagram</a:t>
            </a:r>
            <a:endParaRPr lang="en-US" sz="3000" dirty="0"/>
          </a:p>
        </p:txBody>
      </p:sp>
      <p:sp>
        <p:nvSpPr>
          <p:cNvPr id="4" name="diagram-frame"/>
          <p:cNvSpPr/>
          <p:nvPr/>
        </p:nvSpPr>
        <p:spPr>
          <a:xfrm>
            <a:off x="457200" y="1188720"/>
            <a:ext cx="8229600" cy="3291840"/>
          </a:xfrm>
          <a:prstGeom prst="roundRect">
            <a:avLst>
              <a:gd name="adj" fmla="val 2778"/>
            </a:avLst>
          </a:prstGeom>
          <a:solidFill>
            <a:srgbClr val="F8FAFC"/>
          </a:solidFill>
          <a:ln w="15875">
            <a:solidFill>
              <a:srgbClr val="9AA3B2"/>
            </a:solidFill>
            <a:prstDash val="dash"/>
          </a:ln>
        </p:spPr>
      </p:sp>
      <p:sp>
        <p:nvSpPr>
          <p:cNvPr id="5" name="Shape 3"/>
          <p:cNvSpPr/>
          <p:nvPr/>
        </p:nvSpPr>
        <p:spPr>
          <a:xfrm>
            <a:off x="4160520" y="2011680"/>
            <a:ext cx="822960" cy="82296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4366260" y="2217420"/>
            <a:ext cx="411480" cy="411480"/>
          </a:xfrm>
          <a:prstGeom prst="rect">
            <a:avLst/>
          </a:prstGeom>
        </p:spPr>
      </p:pic>
      <p:sp>
        <p:nvSpPr>
          <p:cNvPr id="7" name="Text 4"/>
          <p:cNvSpPr txBox="1"/>
          <p:nvPr/>
        </p:nvSpPr>
        <p:spPr>
          <a:xfrm>
            <a:off x="914400" y="2971800"/>
            <a:ext cx="731520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Diagram to be attached</a:t>
            </a:r>
            <a:endParaRPr lang="en-US" sz="1800" dirty="0"/>
          </a:p>
        </p:txBody>
      </p:sp>
      <p:sp>
        <p:nvSpPr>
          <p:cNvPr id="8" name="Text 5"/>
          <p:cNvSpPr txBox="1"/>
          <p:nvPr/>
        </p:nvSpPr>
        <p:spPr>
          <a:xfrm>
            <a:off x="1371600" y="3383280"/>
            <a:ext cx="6400800" cy="5486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Shows the React single-page app, Laravel REST API, database and cloud storage.</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82296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11  DATA</a:t>
            </a:r>
            <a:endParaRPr lang="en-US" sz="1100" dirty="0"/>
          </a:p>
        </p:txBody>
      </p:sp>
      <p:sp>
        <p:nvSpPr>
          <p:cNvPr id="3" name="Text 1"/>
          <p:cNvSpPr txBox="1"/>
          <p:nvPr/>
        </p:nvSpPr>
        <p:spPr>
          <a:xfrm>
            <a:off x="457200" y="502920"/>
            <a:ext cx="7589520" cy="548640"/>
          </a:xfrm>
          <a:prstGeom prst="rect">
            <a:avLst/>
          </a:prstGeom>
          <a:noFill/>
          <a:ln/>
        </p:spPr>
        <p:txBody>
          <a:bodyPr wrap="square" lIns="0" tIns="0" rIns="0" bIns="0" rtlCol="0" anchor="ctr"/>
          <a:lstStyle/>
          <a:p>
            <a:pPr indent="0" marL="0">
              <a:buNone/>
            </a:pPr>
            <a:r>
              <a:rPr lang="en-US" sz="3000" b="1" dirty="0">
                <a:solidFill>
                  <a:srgbClr val="0F172A"/>
                </a:solidFill>
                <a:latin typeface="Calibri" pitchFamily="34" charset="0"/>
                <a:ea typeface="Calibri" pitchFamily="34" charset="-122"/>
                <a:cs typeface="Calibri" pitchFamily="34" charset="-120"/>
              </a:rPr>
              <a:t>Entity relationship diagram</a:t>
            </a:r>
            <a:endParaRPr lang="en-US" sz="3000" dirty="0"/>
          </a:p>
        </p:txBody>
      </p:sp>
      <p:sp>
        <p:nvSpPr>
          <p:cNvPr id="4" name="diagram-frame"/>
          <p:cNvSpPr/>
          <p:nvPr/>
        </p:nvSpPr>
        <p:spPr>
          <a:xfrm>
            <a:off x="457200" y="1188720"/>
            <a:ext cx="8229600" cy="3291840"/>
          </a:xfrm>
          <a:prstGeom prst="roundRect">
            <a:avLst>
              <a:gd name="adj" fmla="val 2778"/>
            </a:avLst>
          </a:prstGeom>
          <a:solidFill>
            <a:srgbClr val="F8FAFC"/>
          </a:solidFill>
          <a:ln w="15875">
            <a:solidFill>
              <a:srgbClr val="9AA3B2"/>
            </a:solidFill>
            <a:prstDash val="dash"/>
          </a:ln>
        </p:spPr>
      </p:sp>
      <p:sp>
        <p:nvSpPr>
          <p:cNvPr id="5" name="Shape 3"/>
          <p:cNvSpPr/>
          <p:nvPr/>
        </p:nvSpPr>
        <p:spPr>
          <a:xfrm>
            <a:off x="4160520" y="2011680"/>
            <a:ext cx="822960" cy="82296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4366260" y="2217420"/>
            <a:ext cx="411480" cy="411480"/>
          </a:xfrm>
          <a:prstGeom prst="rect">
            <a:avLst/>
          </a:prstGeom>
        </p:spPr>
      </p:pic>
      <p:sp>
        <p:nvSpPr>
          <p:cNvPr id="7" name="Text 4"/>
          <p:cNvSpPr txBox="1"/>
          <p:nvPr/>
        </p:nvSpPr>
        <p:spPr>
          <a:xfrm>
            <a:off x="914400" y="2971800"/>
            <a:ext cx="7315200" cy="365760"/>
          </a:xfrm>
          <a:prstGeom prst="rect">
            <a:avLst/>
          </a:prstGeom>
          <a:noFill/>
          <a:ln/>
        </p:spPr>
        <p:txBody>
          <a:bodyPr wrap="square" lIns="0" tIns="0" rIns="0" bIns="0" rtlCol="0" anchor="t"/>
          <a:lstStyle/>
          <a:p>
            <a:pPr algn="ctr" indent="0" marL="0">
              <a:buNone/>
            </a:pPr>
            <a:r>
              <a:rPr lang="en-US" sz="1800" b="1" dirty="0">
                <a:solidFill>
                  <a:srgbClr val="0F172A"/>
                </a:solidFill>
                <a:latin typeface="Calibri" pitchFamily="34" charset="0"/>
                <a:ea typeface="Calibri" pitchFamily="34" charset="-122"/>
                <a:cs typeface="Calibri" pitchFamily="34" charset="-120"/>
              </a:rPr>
              <a:t>Diagram to be attached</a:t>
            </a:r>
            <a:endParaRPr lang="en-US" sz="1800" dirty="0"/>
          </a:p>
        </p:txBody>
      </p:sp>
      <p:sp>
        <p:nvSpPr>
          <p:cNvPr id="8" name="Text 5"/>
          <p:cNvSpPr txBox="1"/>
          <p:nvPr/>
        </p:nvSpPr>
        <p:spPr>
          <a:xfrm>
            <a:off x="1371600" y="3383280"/>
            <a:ext cx="6400800" cy="548640"/>
          </a:xfrm>
          <a:prstGeom prst="rect">
            <a:avLst/>
          </a:prstGeom>
          <a:noFill/>
          <a:ln/>
        </p:spPr>
        <p:txBody>
          <a:bodyPr wrap="square" lIns="0" tIns="0" rIns="0" bIns="0" rtlCol="0" anchor="t"/>
          <a:lstStyle/>
          <a:p>
            <a:pPr algn="ctr" indent="0" marL="0">
              <a:buNone/>
            </a:pPr>
            <a:r>
              <a:rPr lang="en-US" sz="1300" dirty="0">
                <a:solidFill>
                  <a:srgbClr val="5B6472"/>
                </a:solidFill>
                <a:latin typeface="Calibri" pitchFamily="34" charset="0"/>
                <a:ea typeface="Calibri" pitchFamily="34" charset="-122"/>
                <a:cs typeface="Calibri" pitchFamily="34" charset="-120"/>
              </a:rPr>
              <a:t>Shows the vehicles, issues, tickets, repairs, schedules and users tables and how they relate.</a:t>
            </a:r>
            <a:endParaRPr lang="en-US" sz="13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ogo-t.png">    </p:cNvPr>
          <p:cNvPicPr>
            <a:picLocks noChangeAspect="1"/>
          </p:cNvPicPr>
          <p:nvPr/>
        </p:nvPicPr>
        <p:blipFill>
          <a:blip r:embed="rId1"/>
          <a:stretch>
            <a:fillRect/>
          </a:stretch>
        </p:blipFill>
        <p:spPr>
          <a:xfrm>
            <a:off x="8183880" y="256032"/>
            <a:ext cx="502920" cy="502920"/>
          </a:xfrm>
          <a:prstGeom prst="rect">
            <a:avLst/>
          </a:prstGeom>
        </p:spPr>
      </p:pic>
      <p:sp>
        <p:nvSpPr>
          <p:cNvPr id="3" name="Text 0"/>
          <p:cNvSpPr txBox="1"/>
          <p:nvPr/>
        </p:nvSpPr>
        <p:spPr>
          <a:xfrm>
            <a:off x="457200" y="274320"/>
            <a:ext cx="5486400" cy="228600"/>
          </a:xfrm>
          <a:prstGeom prst="rect">
            <a:avLst/>
          </a:prstGeom>
          <a:noFill/>
          <a:ln/>
        </p:spPr>
        <p:txBody>
          <a:bodyPr wrap="square" lIns="0" tIns="0" rIns="0" bIns="0" rtlCol="0" anchor="t"/>
          <a:lstStyle/>
          <a:p>
            <a:pPr indent="0" marL="0">
              <a:buNone/>
            </a:pPr>
            <a:r>
              <a:rPr lang="en-US" sz="1100" b="1" spc="300" kern="0" dirty="0">
                <a:solidFill>
                  <a:srgbClr val="2563EB"/>
                </a:solidFill>
                <a:latin typeface="Calibri" pitchFamily="34" charset="0"/>
                <a:ea typeface="Calibri" pitchFamily="34" charset="-122"/>
                <a:cs typeface="Calibri" pitchFamily="34" charset="-120"/>
              </a:rPr>
              <a:t>12  LIVE DEMONSTRATION</a:t>
            </a:r>
            <a:endParaRPr lang="en-US" sz="1100" dirty="0"/>
          </a:p>
        </p:txBody>
      </p:sp>
      <p:sp>
        <p:nvSpPr>
          <p:cNvPr id="4" name="Text 1"/>
          <p:cNvSpPr txBox="1"/>
          <p:nvPr/>
        </p:nvSpPr>
        <p:spPr>
          <a:xfrm>
            <a:off x="457200" y="502920"/>
            <a:ext cx="758952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Demo: the core workflow</a:t>
            </a:r>
            <a:endParaRPr lang="en-US" sz="3200" dirty="0"/>
          </a:p>
        </p:txBody>
      </p:sp>
      <p:sp>
        <p:nvSpPr>
          <p:cNvPr id="5" name="demo-row"/>
          <p:cNvSpPr/>
          <p:nvPr/>
        </p:nvSpPr>
        <p:spPr>
          <a:xfrm>
            <a:off x="457200" y="1371600"/>
            <a:ext cx="8229600" cy="658368"/>
          </a:xfrm>
          <a:prstGeom prst="roundRect">
            <a:avLst>
              <a:gd name="adj" fmla="val 11111"/>
            </a:avLst>
          </a:prstGeom>
          <a:solidFill>
            <a:srgbClr val="DBEAFE"/>
          </a:solidFill>
          <a:ln w="12700">
            <a:solidFill>
              <a:srgbClr val="2563EB"/>
            </a:solidFill>
            <a:prstDash val="solid"/>
          </a:ln>
        </p:spPr>
      </p:sp>
      <p:sp>
        <p:nvSpPr>
          <p:cNvPr id="6" name="Shape 3"/>
          <p:cNvSpPr/>
          <p:nvPr/>
        </p:nvSpPr>
        <p:spPr>
          <a:xfrm>
            <a:off x="640080" y="1499616"/>
            <a:ext cx="402336" cy="402336"/>
          </a:xfrm>
          <a:prstGeom prst="ellipse">
            <a:avLst/>
          </a:prstGeom>
          <a:solidFill>
            <a:srgbClr val="2563EB"/>
          </a:solidFill>
          <a:ln w="12700">
            <a:solidFill>
              <a:srgbClr val="2563EB"/>
            </a:solidFill>
            <a:prstDash val="solid"/>
          </a:ln>
        </p:spPr>
      </p:sp>
      <p:sp>
        <p:nvSpPr>
          <p:cNvPr id="7" name="Text 4"/>
          <p:cNvSpPr txBox="1"/>
          <p:nvPr/>
        </p:nvSpPr>
        <p:spPr>
          <a:xfrm>
            <a:off x="640080" y="149961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1234440" y="1444752"/>
            <a:ext cx="576072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Custodian reports an issue and sets a maintenance schedule</a:t>
            </a:r>
            <a:endParaRPr lang="en-US" sz="1500" dirty="0"/>
          </a:p>
        </p:txBody>
      </p:sp>
      <p:sp>
        <p:nvSpPr>
          <p:cNvPr id="9" name="Text 6"/>
          <p:cNvSpPr txBox="1"/>
          <p:nvPr/>
        </p:nvSpPr>
        <p:spPr>
          <a:xfrm>
            <a:off x="1234440" y="1737360"/>
            <a:ext cx="5760720" cy="22860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In-house or sent to an external shop</a:t>
            </a:r>
            <a:endParaRPr lang="en-US" sz="1100" dirty="0"/>
          </a:p>
        </p:txBody>
      </p:sp>
      <p:sp>
        <p:nvSpPr>
          <p:cNvPr id="10" name="Text 7"/>
          <p:cNvSpPr txBox="1"/>
          <p:nvPr/>
        </p:nvSpPr>
        <p:spPr>
          <a:xfrm>
            <a:off x="7040880" y="1371600"/>
            <a:ext cx="1463040" cy="658368"/>
          </a:xfrm>
          <a:prstGeom prst="rect">
            <a:avLst/>
          </a:prstGeom>
          <a:noFill/>
          <a:ln/>
        </p:spPr>
        <p:txBody>
          <a:bodyPr wrap="square" lIns="0" tIns="0" rIns="0" bIns="0" rtlCol="0" anchor="ctr"/>
          <a:lstStyle/>
          <a:p>
            <a:pPr algn="r" indent="0" marL="0">
              <a:buNone/>
            </a:pPr>
            <a:r>
              <a:rPr lang="en-US" sz="1100" b="1" spc="100" kern="0" dirty="0">
                <a:solidFill>
                  <a:srgbClr val="2563EB"/>
                </a:solidFill>
                <a:latin typeface="Calibri" pitchFamily="34" charset="0"/>
                <a:ea typeface="Calibri" pitchFamily="34" charset="-122"/>
                <a:cs typeface="Calibri" pitchFamily="34" charset="-120"/>
              </a:rPr>
              <a:t>CUSTODIAN</a:t>
            </a:r>
            <a:endParaRPr lang="en-US" sz="1100" dirty="0"/>
          </a:p>
        </p:txBody>
      </p:sp>
      <p:sp>
        <p:nvSpPr>
          <p:cNvPr id="11" name="demo-row"/>
          <p:cNvSpPr/>
          <p:nvPr/>
        </p:nvSpPr>
        <p:spPr>
          <a:xfrm>
            <a:off x="457200" y="2148840"/>
            <a:ext cx="8229600" cy="658368"/>
          </a:xfrm>
          <a:prstGeom prst="roundRect">
            <a:avLst>
              <a:gd name="adj" fmla="val 11111"/>
            </a:avLst>
          </a:prstGeom>
          <a:solidFill>
            <a:srgbClr val="DBEAFE"/>
          </a:solidFill>
          <a:ln w="12700">
            <a:solidFill>
              <a:srgbClr val="2563EB"/>
            </a:solidFill>
            <a:prstDash val="solid"/>
          </a:ln>
        </p:spPr>
      </p:sp>
      <p:sp>
        <p:nvSpPr>
          <p:cNvPr id="12" name="Shape 9"/>
          <p:cNvSpPr/>
          <p:nvPr/>
        </p:nvSpPr>
        <p:spPr>
          <a:xfrm>
            <a:off x="640080" y="2276856"/>
            <a:ext cx="402336" cy="402336"/>
          </a:xfrm>
          <a:prstGeom prst="ellipse">
            <a:avLst/>
          </a:prstGeom>
          <a:solidFill>
            <a:srgbClr val="2563EB"/>
          </a:solidFill>
          <a:ln w="12700">
            <a:solidFill>
              <a:srgbClr val="2563EB"/>
            </a:solidFill>
            <a:prstDash val="solid"/>
          </a:ln>
        </p:spPr>
      </p:sp>
      <p:sp>
        <p:nvSpPr>
          <p:cNvPr id="13" name="Text 10"/>
          <p:cNvSpPr txBox="1"/>
          <p:nvPr/>
        </p:nvSpPr>
        <p:spPr>
          <a:xfrm>
            <a:off x="640080" y="227685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234440" y="2221992"/>
            <a:ext cx="576072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Admin approves the ticket</a:t>
            </a:r>
            <a:endParaRPr lang="en-US" sz="1500" dirty="0"/>
          </a:p>
        </p:txBody>
      </p:sp>
      <p:sp>
        <p:nvSpPr>
          <p:cNvPr id="15" name="Text 12"/>
          <p:cNvSpPr txBox="1"/>
          <p:nvPr/>
        </p:nvSpPr>
        <p:spPr>
          <a:xfrm>
            <a:off x="1234440" y="2514600"/>
            <a:ext cx="5760720" cy="22860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Confirms the repair route</a:t>
            </a:r>
            <a:endParaRPr lang="en-US" sz="1100" dirty="0"/>
          </a:p>
        </p:txBody>
      </p:sp>
      <p:sp>
        <p:nvSpPr>
          <p:cNvPr id="16" name="Text 13"/>
          <p:cNvSpPr txBox="1"/>
          <p:nvPr/>
        </p:nvSpPr>
        <p:spPr>
          <a:xfrm>
            <a:off x="7040880" y="2148840"/>
            <a:ext cx="1463040" cy="658368"/>
          </a:xfrm>
          <a:prstGeom prst="rect">
            <a:avLst/>
          </a:prstGeom>
          <a:noFill/>
          <a:ln/>
        </p:spPr>
        <p:txBody>
          <a:bodyPr wrap="square" lIns="0" tIns="0" rIns="0" bIns="0" rtlCol="0" anchor="ctr"/>
          <a:lstStyle/>
          <a:p>
            <a:pPr algn="r" indent="0" marL="0">
              <a:buNone/>
            </a:pPr>
            <a:r>
              <a:rPr lang="en-US" sz="1100" b="1" spc="100" kern="0" dirty="0">
                <a:solidFill>
                  <a:srgbClr val="2563EB"/>
                </a:solidFill>
                <a:latin typeface="Calibri" pitchFamily="34" charset="0"/>
                <a:ea typeface="Calibri" pitchFamily="34" charset="-122"/>
                <a:cs typeface="Calibri" pitchFamily="34" charset="-120"/>
              </a:rPr>
              <a:t>ADMIN</a:t>
            </a:r>
            <a:endParaRPr lang="en-US" sz="1100" dirty="0"/>
          </a:p>
        </p:txBody>
      </p:sp>
      <p:sp>
        <p:nvSpPr>
          <p:cNvPr id="17" name="demo-row"/>
          <p:cNvSpPr/>
          <p:nvPr/>
        </p:nvSpPr>
        <p:spPr>
          <a:xfrm>
            <a:off x="457200" y="2926080"/>
            <a:ext cx="8229600" cy="658368"/>
          </a:xfrm>
          <a:prstGeom prst="roundRect">
            <a:avLst>
              <a:gd name="adj" fmla="val 11111"/>
            </a:avLst>
          </a:prstGeom>
          <a:solidFill>
            <a:srgbClr val="DBEAFE"/>
          </a:solidFill>
          <a:ln w="12700">
            <a:solidFill>
              <a:srgbClr val="2563EB"/>
            </a:solidFill>
            <a:prstDash val="solid"/>
          </a:ln>
        </p:spPr>
      </p:sp>
      <p:sp>
        <p:nvSpPr>
          <p:cNvPr id="18" name="Shape 15"/>
          <p:cNvSpPr/>
          <p:nvPr/>
        </p:nvSpPr>
        <p:spPr>
          <a:xfrm>
            <a:off x="640080" y="3054096"/>
            <a:ext cx="402336" cy="402336"/>
          </a:xfrm>
          <a:prstGeom prst="ellipse">
            <a:avLst/>
          </a:prstGeom>
          <a:solidFill>
            <a:srgbClr val="2563EB"/>
          </a:solidFill>
          <a:ln w="12700">
            <a:solidFill>
              <a:srgbClr val="2563EB"/>
            </a:solidFill>
            <a:prstDash val="solid"/>
          </a:ln>
        </p:spPr>
      </p:sp>
      <p:sp>
        <p:nvSpPr>
          <p:cNvPr id="19" name="Text 16"/>
          <p:cNvSpPr txBox="1"/>
          <p:nvPr/>
        </p:nvSpPr>
        <p:spPr>
          <a:xfrm>
            <a:off x="640080" y="305409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7"/>
          <p:cNvSpPr txBox="1"/>
          <p:nvPr/>
        </p:nvSpPr>
        <p:spPr>
          <a:xfrm>
            <a:off x="1234440" y="2999232"/>
            <a:ext cx="576072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Maintenance personnel performs the repair</a:t>
            </a:r>
            <a:endParaRPr lang="en-US" sz="1500" dirty="0"/>
          </a:p>
        </p:txBody>
      </p:sp>
      <p:sp>
        <p:nvSpPr>
          <p:cNvPr id="21" name="Text 18"/>
          <p:cNvSpPr txBox="1"/>
          <p:nvPr/>
        </p:nvSpPr>
        <p:spPr>
          <a:xfrm>
            <a:off x="1234440" y="3291840"/>
            <a:ext cx="5760720" cy="22860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Logs work and parts used</a:t>
            </a:r>
            <a:endParaRPr lang="en-US" sz="1100" dirty="0"/>
          </a:p>
        </p:txBody>
      </p:sp>
      <p:sp>
        <p:nvSpPr>
          <p:cNvPr id="22" name="Text 19"/>
          <p:cNvSpPr txBox="1"/>
          <p:nvPr/>
        </p:nvSpPr>
        <p:spPr>
          <a:xfrm>
            <a:off x="7040880" y="2926080"/>
            <a:ext cx="1463040" cy="658368"/>
          </a:xfrm>
          <a:prstGeom prst="rect">
            <a:avLst/>
          </a:prstGeom>
          <a:noFill/>
          <a:ln/>
        </p:spPr>
        <p:txBody>
          <a:bodyPr wrap="square" lIns="0" tIns="0" rIns="0" bIns="0" rtlCol="0" anchor="ctr"/>
          <a:lstStyle/>
          <a:p>
            <a:pPr algn="r" indent="0" marL="0">
              <a:buNone/>
            </a:pPr>
            <a:r>
              <a:rPr lang="en-US" sz="1100" b="1" spc="100" kern="0" dirty="0">
                <a:solidFill>
                  <a:srgbClr val="2563EB"/>
                </a:solidFill>
                <a:latin typeface="Calibri" pitchFamily="34" charset="0"/>
                <a:ea typeface="Calibri" pitchFamily="34" charset="-122"/>
                <a:cs typeface="Calibri" pitchFamily="34" charset="-120"/>
              </a:rPr>
              <a:t>MAINTENANCE</a:t>
            </a:r>
            <a:endParaRPr lang="en-US" sz="1100" dirty="0"/>
          </a:p>
        </p:txBody>
      </p:sp>
      <p:sp>
        <p:nvSpPr>
          <p:cNvPr id="23" name="demo-row"/>
          <p:cNvSpPr/>
          <p:nvPr/>
        </p:nvSpPr>
        <p:spPr>
          <a:xfrm>
            <a:off x="457200" y="3703320"/>
            <a:ext cx="8229600" cy="658368"/>
          </a:xfrm>
          <a:prstGeom prst="roundRect">
            <a:avLst>
              <a:gd name="adj" fmla="val 11111"/>
            </a:avLst>
          </a:prstGeom>
          <a:solidFill>
            <a:srgbClr val="DBEAFE"/>
          </a:solidFill>
          <a:ln w="12700">
            <a:solidFill>
              <a:srgbClr val="2563EB"/>
            </a:solidFill>
            <a:prstDash val="solid"/>
          </a:ln>
        </p:spPr>
      </p:sp>
      <p:sp>
        <p:nvSpPr>
          <p:cNvPr id="24" name="Shape 21"/>
          <p:cNvSpPr/>
          <p:nvPr/>
        </p:nvSpPr>
        <p:spPr>
          <a:xfrm>
            <a:off x="640080" y="3831336"/>
            <a:ext cx="402336" cy="402336"/>
          </a:xfrm>
          <a:prstGeom prst="ellipse">
            <a:avLst/>
          </a:prstGeom>
          <a:solidFill>
            <a:srgbClr val="2563EB"/>
          </a:solidFill>
          <a:ln w="12700">
            <a:solidFill>
              <a:srgbClr val="2563EB"/>
            </a:solidFill>
            <a:prstDash val="solid"/>
          </a:ln>
        </p:spPr>
      </p:sp>
      <p:sp>
        <p:nvSpPr>
          <p:cNvPr id="25" name="Text 22"/>
          <p:cNvSpPr txBox="1"/>
          <p:nvPr/>
        </p:nvSpPr>
        <p:spPr>
          <a:xfrm>
            <a:off x="640080" y="3831336"/>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3"/>
          <p:cNvSpPr txBox="1"/>
          <p:nvPr/>
        </p:nvSpPr>
        <p:spPr>
          <a:xfrm>
            <a:off x="1234440" y="3776472"/>
            <a:ext cx="5760720" cy="292608"/>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Custodian verifies the work and closes the ticket</a:t>
            </a:r>
            <a:endParaRPr lang="en-US" sz="1500" dirty="0"/>
          </a:p>
        </p:txBody>
      </p:sp>
      <p:sp>
        <p:nvSpPr>
          <p:cNvPr id="27" name="Text 24"/>
          <p:cNvSpPr txBox="1"/>
          <p:nvPr/>
        </p:nvSpPr>
        <p:spPr>
          <a:xfrm>
            <a:off x="1234440" y="4069080"/>
            <a:ext cx="5760720" cy="22860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Satisfactory: closed and archived. Otherwise: rework</a:t>
            </a:r>
            <a:endParaRPr lang="en-US" sz="1100" dirty="0"/>
          </a:p>
        </p:txBody>
      </p:sp>
      <p:sp>
        <p:nvSpPr>
          <p:cNvPr id="28" name="Text 25"/>
          <p:cNvSpPr txBox="1"/>
          <p:nvPr/>
        </p:nvSpPr>
        <p:spPr>
          <a:xfrm>
            <a:off x="7040880" y="3703320"/>
            <a:ext cx="1463040" cy="658368"/>
          </a:xfrm>
          <a:prstGeom prst="rect">
            <a:avLst/>
          </a:prstGeom>
          <a:noFill/>
          <a:ln/>
        </p:spPr>
        <p:txBody>
          <a:bodyPr wrap="square" lIns="0" tIns="0" rIns="0" bIns="0" rtlCol="0" anchor="ctr"/>
          <a:lstStyle/>
          <a:p>
            <a:pPr algn="r" indent="0" marL="0">
              <a:buNone/>
            </a:pPr>
            <a:r>
              <a:rPr lang="en-US" sz="1100" b="1" spc="100" kern="0" dirty="0">
                <a:solidFill>
                  <a:srgbClr val="2563EB"/>
                </a:solidFill>
                <a:latin typeface="Calibri" pitchFamily="34" charset="0"/>
                <a:ea typeface="Calibri" pitchFamily="34" charset="-122"/>
                <a:cs typeface="Calibri" pitchFamily="34" charset="-120"/>
              </a:rPr>
              <a:t>CUSTODIAN</a:t>
            </a:r>
            <a:endParaRPr lang="en-US" sz="1100" dirty="0"/>
          </a:p>
        </p:txBody>
      </p:sp>
      <p:sp>
        <p:nvSpPr>
          <p:cNvPr id="29" name="Text 26"/>
          <p:cNvSpPr txBox="1"/>
          <p:nvPr/>
        </p:nvSpPr>
        <p:spPr>
          <a:xfrm>
            <a:off x="457200" y="4526280"/>
            <a:ext cx="6858000" cy="274320"/>
          </a:xfrm>
          <a:prstGeom prst="rect">
            <a:avLst/>
          </a:prstGeom>
          <a:noFill/>
          <a:ln/>
        </p:spPr>
        <p:txBody>
          <a:bodyPr wrap="square" lIns="0" tIns="0" rIns="0" bIns="0" rtlCol="0" anchor="t"/>
          <a:lstStyle/>
          <a:p>
            <a:pPr indent="0" marL="0">
              <a:buNone/>
            </a:pPr>
            <a:r>
              <a:rPr lang="en-US" sz="1100" dirty="0">
                <a:solidFill>
                  <a:srgbClr val="5B6472"/>
                </a:solidFill>
                <a:latin typeface="Calibri" pitchFamily="34" charset="0"/>
                <a:ea typeface="Calibri" pitchFamily="34" charset="-122"/>
                <a:cs typeface="Calibri" pitchFamily="34" charset="-120"/>
              </a:rPr>
              <a:t>Setup steps (barangay registration, accounts, vehicle) are in the complete demo workflow PDF.</a:t>
            </a:r>
            <a:endParaRPr lang="en-US" sz="1100" dirty="0"/>
          </a:p>
        </p:txBody>
      </p:sp>
      <p:sp>
        <p:nvSpPr>
          <p:cNvPr id="30" name="Text 27"/>
          <p:cNvSpPr txBox="1"/>
          <p:nvPr/>
        </p:nvSpPr>
        <p:spPr>
          <a:xfrm>
            <a:off x="5486400" y="4480560"/>
            <a:ext cx="3200400" cy="320040"/>
          </a:xfrm>
          <a:prstGeom prst="rect">
            <a:avLst/>
          </a:prstGeom>
          <a:noFill/>
          <a:ln/>
        </p:spPr>
        <p:txBody>
          <a:bodyPr wrap="square" lIns="0" tIns="0" rIns="0" bIns="0" rtlCol="0" anchor="ctr"/>
          <a:lstStyle/>
          <a:p>
            <a:pPr algn="r" indent="0" marL="0">
              <a:buNone/>
            </a:pPr>
            <a:r>
              <a:rPr lang="en-US" sz="1400" b="1" dirty="0">
                <a:solidFill>
                  <a:srgbClr val="0F172A"/>
                </a:solidFill>
                <a:latin typeface="Calibri" pitchFamily="34" charset="0"/>
                <a:ea typeface="Calibri" pitchFamily="34" charset="-122"/>
                <a:cs typeface="Calibri" pitchFamily="34" charset="-120"/>
              </a:rPr>
              <a:t>Thank you. Questions?</a:t>
            </a:r>
            <a:endParaRPr lang="en-US" sz="1400" dirty="0"/>
          </a:p>
        </p:txBody>
      </p:sp>
    </p:spTree>
  </p:cSld>
  <p:clrMapOvr>
    <a:masterClrMapping/>
  </p:clrMapOvr>
</p:sld>
</file>

<file path=ppt/theme/theme1.xml><?xml version="1.0" encoding="utf-8"?>
<a:theme xmlns:a="http://schemas.openxmlformats.org/drawingml/2006/main" name="VMS Dark">
  <a:themeElements>
    <a:clrScheme name="VMS Dark">
      <a:dk1>
        <a:srgbClr val="0F172A"/>
      </a:dk1>
      <a:lt1>
        <a:srgbClr val="FFFFFF"/>
      </a:lt1>
      <a:dk2>
        <a:srgbClr val="1F2937"/>
      </a:dk2>
      <a:lt2>
        <a:srgbClr val="F3F5F9"/>
      </a:lt2>
      <a:accent1>
        <a:srgbClr val="2563EB"/>
      </a:accent1>
      <a:accent2>
        <a:srgbClr val="3B82F6"/>
      </a:accent2>
      <a:accent3>
        <a:srgbClr val="F59E0B"/>
      </a:accent3>
      <a:accent4>
        <a:srgbClr val="22C55E"/>
      </a:accent4>
      <a:accent5>
        <a:srgbClr val="EF4444"/>
      </a:accent5>
      <a:accent6>
        <a:srgbClr val="25272D"/>
      </a:accent6>
      <a:hlink>
        <a:srgbClr val="3B82F6"/>
      </a:hlink>
      <a:folHlink>
        <a:srgbClr val="8F929A"/>
      </a:folHlink>
    </a:clrScheme>
    <a:fontScheme name="VMS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VMS Final Defense</dc:title>
  <dc:subject>PptxGenJS Presentation</dc:subject>
  <dc:creator>PptxGenJS</dc:creator>
  <cp:lastModifiedBy>PptxGenJS</cp:lastModifiedBy>
  <cp:revision>1</cp:revision>
  <dcterms:created xsi:type="dcterms:W3CDTF">2026-10-25T11:39:25Z</dcterms:created>
  <dcterms:modified xsi:type="dcterms:W3CDTF">2026-10-25T11:39:25Z</dcterms:modified>
</cp:coreProperties>
</file>
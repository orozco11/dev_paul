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92" r:id="rId6"/>
    <p:sldId id="258" r:id="rId7"/>
    <p:sldId id="291" r:id="rId8"/>
    <p:sldId id="259" r:id="rId9"/>
    <p:sldId id="290" r:id="rId10"/>
    <p:sldId id="260" r:id="rId11"/>
    <p:sldId id="289" r:id="rId12"/>
    <p:sldId id="261" r:id="rId13"/>
    <p:sldId id="288" r:id="rId14"/>
    <p:sldId id="262" r:id="rId15"/>
    <p:sldId id="287" r:id="rId16"/>
    <p:sldId id="263" r:id="rId17"/>
    <p:sldId id="286" r:id="rId18"/>
    <p:sldId id="264" r:id="rId19"/>
    <p:sldId id="285" r:id="rId20"/>
    <p:sldId id="265" r:id="rId21"/>
    <p:sldId id="284" r:id="rId22"/>
    <p:sldId id="266" r:id="rId23"/>
    <p:sldId id="283" r:id="rId24"/>
    <p:sldId id="267" r:id="rId25"/>
    <p:sldId id="282" r:id="rId26"/>
    <p:sldId id="268" r:id="rId27"/>
    <p:sldId id="281" r:id="rId28"/>
    <p:sldId id="269" r:id="rId29"/>
    <p:sldId id="280" r:id="rId30"/>
    <p:sldId id="270" r:id="rId31"/>
    <p:sldId id="279" r:id="rId32"/>
    <p:sldId id="271" r:id="rId33"/>
    <p:sldId id="278" r:id="rId34"/>
    <p:sldId id="272" r:id="rId35"/>
    <p:sldId id="277" r:id="rId36"/>
    <p:sldId id="273" r:id="rId37"/>
    <p:sldId id="276" r:id="rId38"/>
    <p:sldId id="274" r:id="rId39"/>
    <p:sldId id="27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Purpose: explain the seven evaluation criteria using evidence available as of 24 October 2026. Current application revision: 72d754c. This is a preparation deck, not a claim of completed field validation. Source: README.md; VMS Docs/Sample-Data.md; VMS Docs/System-Audit-2026-10-24.md. Cover photo: existing project mockup, backend-api/public/mockups/vehicles/firetruck-03-ladder-28.jpg. Asset licensing remains part of the documentation review.</a:t>
            </a:r>
            <a:endParaRPr lang="en-US"/>
          </a:p>
          <a:p>
            <a:endParaRPr lang="en-US"/>
          </a:p>
          <a:p>
            <a:r>
              <a:rPr lang="en-US"/>
              <a:t>PRESENTER GUIDE: This expanded deck keeps the original 19 topic slides and adds 18 concrete example companions. Use the examples to practice actions, expected results and explanations. Examples involving real-user research are proposed procedures, not completed studies. Rehearse the repair, reassignment and schedule branches on isolated sample data and reset before repeating mutually exclusive scenarios.</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Use supported, partly supported and unverified as evidence descriptions, not numerical grades. Unverified means the reviewed materials did not establish the claim. It does not mean that the team has no such evidence elsewhere. Source: repository review at 72d754c; pasted assessment supplied by the user; VMS Docs/Must-Haves.md; System-Audit-2026-10-24.md.</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Open VMS Docs/Sample-Data.md and System-Audit-2026-10-24.md. Say: We can demonstrate technical functionality and reproducible setup, but cannot yet claim measured community impact. The 489-test figure is the recorded result at revision 72d754c, not a new run performed for this edit.</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1b, 1c, 7a and 7b. Residents are potential indirect beneficiaries. Do not claim documented downtime or response delays unless the team has actual records. The repository defines the intended problem but does not establish how often it occurs in the community. Sources: README.md purpose and scope; VMS Docs/Documentation.md sections 1 and 3. Photo: bundled project mockup ambulance-01-hiace-carryboy.jpg.</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Use Admin or Custodian. Find INEM-112 and FDR-303. Reset before rehearsal if checks are stale. Do not equate Available with verified readiness. Ask actual users where they record defects and confirm repair completion, then retain authorized real responses. Source: Sample-Data.md.</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1a. These indicators describe different questions. Available alone does not certify verified readiness. A passing readiness check normally expires after 24 hours. Explain the contribution as an application suited to a barangay workflow. Do not claim global novelty or measured improvement over an existing process without comparative evidence. Source: System-Capabilities.md sections 3.1 and 3.7. Caveat: the stale-readiness finding after parts removal remains open, AUD-24-04.</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Open each vehicle profile and point to availability, condition and readiness separately. Counts change when demonstration work finishes. Source: Sample-Data.md and System-Capabilities.md. The stale-readiness issue after parts removal remains open under AUD-24-04.</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Explain the current ticket lifecycle. The proposing Custodian may later verify if independent of the repair. A second Custodian is not mandatory. A repairer cannot verify their own work. Different in-house sub-issues may have different assigned mechanics. External-shop handling stays within maintenance scope. Sources: TicketController.php; config/permissions.php; System-Capabilities.md section 5. The slide describes intended workflow guards and does not claim every authorization path is defect-free.</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Start from the reset sample dataset. Accounts: maintenance@barangay.gov for Jake, maintenance2@barangay.gov for Rohan, custodian@barangay.gov for Precious. Sample notes: Replaced the sample pump seal and checked for leakage. Rohan logs regulator observations. The assigned Custodian receives the handoff after all required repairs are logged. Never certify real physical work from a software demonstration.</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2a. These are proposed review themes, not citations to studies already reviewed. The team needs authentic literature, a comparison matrix and a synthesis that connects evidence to its design. Do not invent studies or describe vendor pages as empirical evidence. The current review did not find a complete assessable manuscript in the supplied materials.</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Open the team's real literature matrix. Suggested columns: author/year, setting, method, actual finding, limitation and relevance to VMS. Do not cite fictional papers or unverified claims. Project code supports implementation claims but does not replace related literature. This research task remains unfinished until actual sources are reviewed.</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2b and 2c. Do not label the project Agile or prototyping merely because it underwent revisions. Separate the software-development method from the research-evaluation method. Dashboard statistics are system output, not a substitute for research analysis. Choose analysis appropriate to the measures and participants, and justify the choices with the adviser.</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Use a sample database and obtain required participation permission. Define consistent task instructions and start/stop events. Record assistance. Do not invent timings, success rates or satisfaction scores. Explain the actual development process separately from this evaluation method and obtain the adviser's guidance.</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3a. Architecture, ERD and use-case files exist. Their existence does not certify complete alignment with current code. PostgreSQL/Supabase deployment is not established by the local SQLite demonstration. Sources: backend-api/composer.json; frontend-spa/package.json and package-lock.json; README.md; System-Architecture.svg; ERD.svg; Use-Case-Diagram.svg. Workspace.jsx remains a substantial maintenance concern.</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If showing browser Network tools, explain the actual request and response using current record IDs. Keep bearer tokens hidden. Endpoint pattern: PUT /api/tickets/{ticket}/sub-issues/{subIssue}/log-repairs. SQLite is the demonstrated local database. PostgreSQL deployment needs separate evidence. Source: TicketController.php and README.md.</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3d and the technical part of criterion 4a. These are recorded results from the preceding verification, not a newly conducted field study. Nine focused setup/sample checks contributed 94 assertions. A separate checkout installed locked Composer/npm dependencies, migrated and seeded SQLite, matched the semantic demo data and all 11 photo files, preserved environment files on rerun and created valid backups. Earlier reports include targeted browser checks. Sources: VMS Docs/Sample-Data.md verification section; backend-api/tests/Feature/SampleFleetSeederTest.php; SyncDemoTest.php. Test counts do not establish uptime, security completeness or user effectiveness.</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Do not run demo:sync during the live story because it resets demo work. Sample tests do not complete live demonstration tickets. If running the full suite, use php artisan test and report its actual current count. Existing regressions do not close the six audit findings. Optional Metro rework branch: Precious returns AMB-1101 with a reason, Jake records rework, and Precious independently verifies again.</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3c accurately. IDs abbreviate AUD-24-01 through AUD-24-06. Findings were reproduced in isolated investigation and remain open. Six passing investigation tests asserted defective behavior and therefore did not establish fixes. CSV spreadsheet behavior depends on the receiving application. Do not claim cross-barangay file access from the same-barangay signing probe. Source: VMS Docs/System-Audit-2026-10-24.md. Recent sample/setup changes do not resolve these issues.</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Use isolated fixtures and the existing audit report. Do not project private references or use production records. Demonstrate required rejection tests and explain current observed failures. Source: System-Audit-2026-10-24.md, AUD-24-01 through AUD-24-06. CSV behavior depends on the receiving spreadsheet application.</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usability and error handling in criteria 3c and 3d. Existing features suggest attention to usability, but only actual evaluation can establish usability for target users. Use representative devices and accessibility needs. Test incorrect input, denied access, network loss and retry behavior as appropriate. Do not convert a developer walkthrough into a user satisfaction result. Sources: System-Capabilities.md interface conventions; backend feature tests; Must-Haves.md acceptance section.</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This scenario avoids changing the main repair story. Explain the message, focus behavior and correction path. For actual usability evaluation, observe whether users understand and recover without help. A developer walkthrough is not a measured user-satisfaction result. Source: current proposal form and System-Capabilities.md interface conventions.</a:t>
            </a: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3b and 4a. Technical operation differs from effectiveness in a real barangay. For example, compare how long staff need to locate current vehicle readiness using the existing process versus the system. Predefine tasks and metrics before gathering results. Keep raw anonymized data, expected/actual test results and participant feedback. Never invent UAT respondents, scores or improvement percentages. Source: Must-Haves.md acceptance checks; Sample-Data.md; System-Audit-2026-10-24.md.</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Example task: identify current readiness evidence or retrieve a maintenance record. Record an anonymized participant code, role, device, task, expected/observed outcomes, elapsed time, errors and assistance. Preserve raw data and explain sample limitations. Dashboard values do not replace research analysis.</a:t>
            </a:r>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5a, 5b and 5c. Review every citation against the reference list and verify that the source supports the claim. Older impersonation descriptions remain inconsistent with the current dedicated Account Switcher permission. Obtain the relevant barangay/institutional authorization and participant information/consent where appropriate. A permission letter does not replace lawful processing requirements. Philippine data privacy principles include transparency, legitimate purpose and proportionality. Consent is one lawful basis, not the only one. Official source: https://privacy.gov.ph/data-privacy-act/ sections 11, 12 and 20, checked 24 October 2026. Have the adviser and responsible barangay official confirm the applicable arrangements. Also verify asset licensing.</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Include storage, lawful basis, access, retention, deletion and incident responsibilities in the data inventory. Obtain adviser and responsible barangay-official review. Consent is one lawful basis, not the only one. Do not imply signed authorization exists without evidence. Official source: https://privacy.gov.ph/data-privacy-act/, sections 11, 12 and 20, checked 24 October 2026.</a:t>
            </a: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5d. AI assistance is confirmed by this work session. Do not claim that all code was manually authored, or that the proponents personally reviewed every contribution, without evidence. Automated tests and AI review do not replace the team understanding its work. This slide discloses actual categories of assistance, while the team still needs to complete a full tool/use/verification record according to school policy.</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AI assistance and recorded automated checks are confirmed in this session. Do not claim every proponent personally reviewed all changes. Maintain a real tool/use/review log and follow school disclosure policy. Be transparent about unresolved findings and how the team checked outputs.</a:t>
            </a:r>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6a through 6d. A clear opening: Barangay VMS supports emergency-fleet readiness and maintenance accountability through reported defects, approved repair work and independent verification. Follow this with evidence of the actual community problem. Rehearse a maintenance demonstration with expected states and a return-for-rework branch. The existence of this presentation cannot establish the proponents understanding or their live delivery.</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Practice a short answer, then open the screen or document. For security, show the audit. For readiness, compare FDR-303 and FDT-2801. For testing, open Sample-Data.md or dated actual output. For verification, show the assigned Custodian and server restrictions. Each member should explain the answer in their own words.</a:t>
            </a:r>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practical feasibility and likely defense questions. Admin alone does not hold impersonation.start. The separate Account Switcher can switch accounts for demonstration/support. Its impersonation writes are blocked outside local development. A genuinely authorized backup Custodian may be a multi-role account, but the system still requires assignment and independence from the repair or external handling. Sources: config/permissions.php; AuthController.php canImpersonate; RestrictImpersonatedToReadOnly.php; TicketController.php verifier guards.</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Start with AMB-1101 at For Verification. Admin selects active custodian2@barangay.gov through the current Custodian reassignment action. Justine signs in independently. If no qualified replacement exists, verification waits. An Admin-only role cannot verify. Account switching is not a staffing solution. Reset before repeating mutually exclusive Metro scenarios.</a:t>
            </a:r>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7a through 7d. Residents may indirectly benefit from better maintained vehicles, but the project has not measured that outcome. Cost, hosting, connectivity and training must be assessed for the intended deployment. No offline operation has been demonstrated. Real target-host storage and restoration acceptance remain open. Sources: README.md scope; Must-Haves.md acceptance section; System-Audit-2026-10-24.md. Photo: bundled project mockup ambulance-02-sprinter.jpg.</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Use INEM-112: Scheduled, assigned to Jake, monthly recurrence, no resulting ticket. If conversion already created a ticket, continue through that ticket instead. The standalone record requires Custodian verification and Admin confirmation. This differs from ticket closure on Custodian approval. Dates and record numbers vary by machine. Demonstration work is simulated.</a:t>
            </a: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Suggested preparation order, not a promise that no other defects exist. Resolve safety and authorization findings before collecting sensitive real operational records. Do not expand features to avoid the current gaps. The team and adviser should approve an achievable evaluation plan and acceptance criteria. Sources: System-Audit-2026-10-24.md retest order; Must-Haves.md acceptance checks; Sample-Data.md verification results.</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Use the actual audit criteria. Final tests must reject unsafe behavior rather than confirm the bypass still works. Recheck ownership and tenant cases, relevant workflows and the regression suite. A presentation or documentation change cannot itself close an implementation finding.</a:t>
            </a:r>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All repository paths refer to the V2-VMS project at revision 72d754c unless a dated audit specifies its earlier reviewed revision. Living documents and old generated PDFs may differ. Use current code and dated evidence to resolve disagreement. External source: National Privacy Commission, Republic Act 10173, https://privacy.gov.ph/data-privacy-act/, checked 24 October 2026. Speaker notes identify the source and limits for each substantive slide. The complete research manuscript, literature bibliography, signed UAT dataset and permission records were not available to this review.</a:t>
            </a:r>
            <a:endParaRPr lang="en-US"/>
          </a:p>
          <a:p>
            <a:endParaRPr lang="en-US"/>
          </a:p>
          <a:p>
            <a:r>
              <a:rPr lang="en-US"/>
              <a:t>FOLLOW-ALONG EXAMPLE: The next slide gives a concrete practice case. Use the sample dataset, actual current screen labels and expected results. Research procedures remain proposals until the team carries them out.</a:t>
            </a: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Keep evidence tabs ready. Technical test counts are dated recorded results. The impersonation permission belongs to the dedicated Impersonator role, while older documentation may differ. Sources: the repository files shown and https://privacy.gov.ph/data-privacy-act/. This example is not a complete research bibliography.</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3F"/>
        </a:solidFill>
        <a:effectLst/>
      </p:bgPr>
    </p:bg>
    <p:spTree>
      <p:nvGrpSpPr>
        <p:cNvPr id="1" name=""/>
        <p:cNvGrpSpPr/>
        <p:nvPr/>
      </p:nvGrpSpPr>
      <p:grpSpPr/>
      <p:sp>
        <p:nvSpPr>
          <p:cNvPr id="2" name="Text 1"/>
          <p:cNvSpPr txBox="1"/>
          <p:nvPr/>
        </p:nvSpPr>
        <p:spPr>
          <a:xfrm>
            <a:off x="660400" y="1498600"/>
            <a:ext cx="6985000" cy="1905000"/>
          </a:xfrm>
          <a:prstGeom prst="rect">
            <a:avLst/>
          </a:prstGeom>
          <a:noFill/>
        </p:spPr>
        <p:txBody>
          <a:bodyPr wrap="square" lIns="0" tIns="0" rIns="0" bIns="0" rtlCol="0" anchor="t">
            <a:noAutofit/>
          </a:bodyPr>
          <a:p>
            <a:pPr>
              <a:spcAft>
                <a:spcPts val="0"/>
              </a:spcAft>
            </a:pPr>
            <a:r>
              <a:rPr lang="en-US" sz="4200" b="1">
                <a:solidFill>
                  <a:srgbClr val="FFFFFF"/>
                </a:solidFill>
                <a:latin typeface="Arial" panose="020B0604020202020204" pitchFamily="34" charset="0"/>
                <a:cs typeface="Arial" panose="020B0604020202020204" pitchFamily="34" charset="0"/>
              </a:rPr>
              <a:t>Barangay Vehicle
Management System</a:t>
            </a:r>
            <a:endParaRPr lang="en-US" sz="4200" b="1">
              <a:solidFill>
                <a:srgbClr val="FFFFFF"/>
              </a:solidFill>
              <a:latin typeface="Arial" panose="020B0604020202020204" pitchFamily="34" charset="0"/>
              <a:cs typeface="Arial" panose="020B0604020202020204" pitchFamily="34" charset="0"/>
            </a:endParaRPr>
          </a:p>
        </p:txBody>
      </p:sp>
      <p:sp>
        <p:nvSpPr>
          <p:cNvPr id="3" name="Text 2"/>
          <p:cNvSpPr txBox="1"/>
          <p:nvPr/>
        </p:nvSpPr>
        <p:spPr>
          <a:xfrm>
            <a:off x="711200" y="3721100"/>
            <a:ext cx="6604000" cy="952500"/>
          </a:xfrm>
          <a:prstGeom prst="rect">
            <a:avLst/>
          </a:prstGeom>
          <a:noFill/>
        </p:spPr>
        <p:txBody>
          <a:bodyPr wrap="square" lIns="0" tIns="0" rIns="0" bIns="0" rtlCol="0" anchor="t">
            <a:noAutofit/>
          </a:bodyPr>
          <a:p>
            <a:pPr>
              <a:spcAft>
                <a:spcPts val="0"/>
              </a:spcAft>
            </a:pPr>
            <a:r>
              <a:rPr lang="en-US" sz="2300">
                <a:solidFill>
                  <a:srgbClr val="BDD1F5"/>
                </a:solidFill>
                <a:latin typeface="Arial" panose="020B0604020202020204" pitchFamily="34" charset="0"/>
                <a:cs typeface="Arial" panose="020B0604020202020204" pitchFamily="34" charset="0"/>
              </a:rPr>
              <a:t>Evidence review and defense preparation</a:t>
            </a:r>
            <a:endParaRPr lang="en-US" sz="2300">
              <a:solidFill>
                <a:srgbClr val="BDD1F5"/>
              </a:solidFill>
              <a:latin typeface="Arial" panose="020B0604020202020204" pitchFamily="34" charset="0"/>
              <a:cs typeface="Arial" panose="020B0604020202020204" pitchFamily="34" charset="0"/>
            </a:endParaRPr>
          </a:p>
        </p:txBody>
      </p:sp>
      <p:pic>
        <p:nvPicPr>
          <p:cNvPr id="4" name="Picture 3" descr="firetruck-03-ladder-28"/>
          <p:cNvPicPr>
            <a:picLocks noChangeAspect="1"/>
          </p:cNvPicPr>
          <p:nvPr/>
        </p:nvPicPr>
        <p:blipFill>
          <a:blip r:embed="rId1"/>
          <a:stretch>
            <a:fillRect/>
          </a:stretch>
        </p:blipFill>
        <p:spPr>
          <a:xfrm>
            <a:off x="8064500" y="2032000"/>
            <a:ext cx="3302000" cy="3302000"/>
          </a:xfrm>
          <a:prstGeom prst="rect">
            <a:avLst/>
          </a:prstGeom>
        </p:spPr>
      </p:pic>
      <p:sp>
        <p:nvSpPr>
          <p:cNvPr id="5" name="Text 4"/>
          <p:cNvSpPr txBox="1"/>
          <p:nvPr/>
        </p:nvSpPr>
        <p:spPr>
          <a:xfrm>
            <a:off x="7874000" y="5499100"/>
            <a:ext cx="3683000" cy="317500"/>
          </a:xfrm>
          <a:prstGeom prst="rect">
            <a:avLst/>
          </a:prstGeom>
          <a:noFill/>
        </p:spPr>
        <p:txBody>
          <a:bodyPr wrap="square" lIns="0" tIns="0" rIns="0" bIns="0" rtlCol="0" anchor="t">
            <a:noAutofit/>
          </a:bodyPr>
          <a:p>
            <a:pPr>
              <a:spcAft>
                <a:spcPts val="0"/>
              </a:spcAft>
            </a:pPr>
            <a:r>
              <a:rPr lang="en-US" sz="1300">
                <a:solidFill>
                  <a:srgbClr val="BDD1F5"/>
                </a:solidFill>
                <a:latin typeface="Arial" panose="020B0604020202020204" pitchFamily="34" charset="0"/>
                <a:cs typeface="Arial" panose="020B0604020202020204" pitchFamily="34" charset="0"/>
              </a:rPr>
              <a:t>Illustrative vehicle mockup</a:t>
            </a:r>
            <a:endParaRPr lang="en-US" sz="1300">
              <a:solidFill>
                <a:srgbClr val="BDD1F5"/>
              </a:solidFill>
              <a:latin typeface="Arial" panose="020B0604020202020204" pitchFamily="34" charset="0"/>
              <a:cs typeface="Arial" panose="020B0604020202020204" pitchFamily="34" charset="0"/>
            </a:endParaRPr>
          </a:p>
        </p:txBody>
      </p:sp>
      <p:sp>
        <p:nvSpPr>
          <p:cNvPr id="6" name="Text 5"/>
          <p:cNvSpPr txBox="1"/>
          <p:nvPr/>
        </p:nvSpPr>
        <p:spPr>
          <a:xfrm>
            <a:off x="711200" y="5969000"/>
            <a:ext cx="7620000" cy="254000"/>
          </a:xfrm>
          <a:prstGeom prst="rect">
            <a:avLst/>
          </a:prstGeom>
          <a:noFill/>
        </p:spPr>
        <p:txBody>
          <a:bodyPr wrap="square" lIns="0" tIns="0" rIns="0" bIns="0" rtlCol="0" anchor="t">
            <a:noAutofit/>
          </a:bodyPr>
          <a:p>
            <a:pPr>
              <a:spcAft>
                <a:spcPts val="0"/>
              </a:spcAft>
            </a:pPr>
            <a:r>
              <a:rPr lang="en-US" sz="1300">
                <a:solidFill>
                  <a:srgbClr val="BDD1F5"/>
                </a:solidFill>
                <a:latin typeface="Arial" panose="020B0604020202020204" pitchFamily="34" charset="0"/>
                <a:cs typeface="Arial" panose="020B0604020202020204" pitchFamily="34" charset="0"/>
              </a:rPr>
              <a:t>24 October 2026</a:t>
            </a:r>
            <a:endParaRPr lang="en-US" sz="1300">
              <a:solidFill>
                <a:srgbClr val="BDD1F5"/>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Current assessment</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4445000"/>
        </p:xfrm>
        <a:graphic>
          <a:graphicData uri="http://schemas.openxmlformats.org/drawingml/2006/table">
            <a:tbl>
              <a:tblPr firstRow="1" bandRow="1">
                <a:tableStyleId>{5C22544A-7EE6-4342-B048-85BDC9FD1C3A}</a:tableStyleId>
              </a:tblPr>
              <a:tblGrid>
                <a:gridCol w="3302000"/>
                <a:gridCol w="7620000"/>
              </a:tblGrid>
              <a:tr h="555625">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Criterion</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Current assessment</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Originality and relevance</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Relevant design. Community evidence still needed.</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Research quality</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Literature review, method and dataset unverified.</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Technical quality</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Local functionality demonstrated. Six findings remain open.</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Results and validation</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Technical evidence exists. Field effectiveness unverified.</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Documentation and ethics</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Technical references exist. Manuscript and permissions unverified.</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Presentation and defense</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Evidence available. Team understanding needs rehearsal.</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Practical impact</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Potential benefit. Deployment and adoption need validation.</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an answer backed by evidence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429000"/>
        </p:xfrm>
        <a:graphic>
          <a:graphicData uri="http://schemas.openxmlformats.org/drawingml/2006/table">
            <a:tbl>
              <a:tblPr firstRow="1" bandRow="1">
                <a:tableStyleId>{5C22544A-7EE6-4342-B048-85BDC9FD1C3A}</a:tableStyleId>
              </a:tblPr>
              <a:tblGrid>
                <a:gridCol w="3048000"/>
                <a:gridCol w="7874000"/>
              </a:tblGrid>
              <a:tr h="85725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Action</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What to show or say</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85725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Open Sample-Data.md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the recorded 489-test result and separate-checkout verification.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85725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Open the current audit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Identify the six open findings instead of claiming complete security.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85725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Answer the panel</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prototype works locally. Community effectiveness still needs evaluation.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Technical evidence and community validation support different claims.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The problem and the intended users</a:t>
            </a:r>
            <a:endParaRPr lang="en-US" sz="3300" b="1">
              <a:solidFill>
                <a:srgbClr val="10233F"/>
              </a:solidFill>
              <a:latin typeface="Arial" panose="020B0604020202020204" pitchFamily="34" charset="0"/>
              <a:cs typeface="Arial" panose="020B0604020202020204" pitchFamily="34" charset="0"/>
            </a:endParaRPr>
          </a:p>
        </p:txBody>
      </p:sp>
      <p:pic>
        <p:nvPicPr>
          <p:cNvPr id="3" name="Picture 2" descr="ambulance-01-hiace-carryboy"/>
          <p:cNvPicPr>
            <a:picLocks noChangeAspect="1"/>
          </p:cNvPicPr>
          <p:nvPr/>
        </p:nvPicPr>
        <p:blipFill>
          <a:blip r:embed="rId1"/>
          <a:stretch>
            <a:fillRect/>
          </a:stretch>
        </p:blipFill>
        <p:spPr>
          <a:xfrm>
            <a:off x="7454900" y="2584450"/>
            <a:ext cx="4102100" cy="2374265"/>
          </a:xfrm>
          <a:prstGeom prst="rect">
            <a:avLst/>
          </a:prstGeom>
        </p:spPr>
      </p:pic>
      <p:sp>
        <p:nvSpPr>
          <p:cNvPr id="4" name="Text 3"/>
          <p:cNvSpPr txBox="1"/>
          <p:nvPr/>
        </p:nvSpPr>
        <p:spPr>
          <a:xfrm>
            <a:off x="7454900" y="5930900"/>
            <a:ext cx="4102100" cy="317500"/>
          </a:xfrm>
          <a:prstGeom prst="rect">
            <a:avLst/>
          </a:prstGeom>
          <a:noFill/>
        </p:spPr>
        <p:txBody>
          <a:bodyPr wrap="square" lIns="0" tIns="0" rIns="0" bIns="0" rtlCol="0" anchor="t">
            <a:noAutofit/>
          </a:bodyPr>
          <a:p>
            <a:pPr>
              <a:spcAft>
                <a:spcPts val="0"/>
              </a:spcAft>
            </a:pPr>
            <a:r>
              <a:rPr lang="en-US" sz="1300">
                <a:solidFill>
                  <a:srgbClr val="53647A"/>
                </a:solidFill>
                <a:latin typeface="Arial" panose="020B0604020202020204" pitchFamily="34" charset="0"/>
                <a:cs typeface="Arial" panose="020B0604020202020204" pitchFamily="34" charset="0"/>
              </a:rPr>
              <a:t>Illustrative vehicle mockup</a:t>
            </a:r>
            <a:endParaRPr lang="en-US" sz="13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635000" y="16383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System objective</a:t>
            </a:r>
            <a:endParaRPr lang="en-US" sz="1900" b="1">
              <a:solidFill>
                <a:srgbClr val="245FEA"/>
              </a:solidFill>
              <a:latin typeface="Arial" panose="020B0604020202020204" pitchFamily="34" charset="0"/>
              <a:cs typeface="Arial" panose="020B0604020202020204" pitchFamily="34" charset="0"/>
            </a:endParaRPr>
          </a:p>
        </p:txBody>
      </p:sp>
      <p:sp>
        <p:nvSpPr>
          <p:cNvPr id="6" name="Text 5"/>
          <p:cNvSpPr txBox="1"/>
          <p:nvPr/>
        </p:nvSpPr>
        <p:spPr>
          <a:xfrm>
            <a:off x="635000" y="20574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Keep a current record of emergency-vehicle readiness and accountable maintenance.</a:t>
            </a:r>
            <a:endParaRPr lang="en-US" sz="20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30480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Direct users</a:t>
            </a:r>
            <a:endParaRPr lang="en-US" sz="1900" b="1">
              <a:solidFill>
                <a:srgbClr val="245FEA"/>
              </a:solidFill>
              <a:latin typeface="Arial" panose="020B0604020202020204" pitchFamily="34" charset="0"/>
              <a:cs typeface="Arial" panose="020B0604020202020204" pitchFamily="34" charset="0"/>
            </a:endParaRPr>
          </a:p>
        </p:txBody>
      </p:sp>
      <p:sp>
        <p:nvSpPr>
          <p:cNvPr id="8" name="Text 7"/>
          <p:cNvSpPr txBox="1"/>
          <p:nvPr/>
        </p:nvSpPr>
        <p:spPr>
          <a:xfrm>
            <a:off x="635000" y="34671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Barangay Admins, Custodians and Maintenance Personnel.</a:t>
            </a:r>
            <a:endParaRPr lang="en-US" sz="20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35000" y="44577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Evidence still needed</a:t>
            </a:r>
            <a:endParaRPr lang="en-US" sz="1900" b="1">
              <a:solidFill>
                <a:srgbClr val="245FEA"/>
              </a:solidFill>
              <a:latin typeface="Arial" panose="020B0604020202020204" pitchFamily="34" charset="0"/>
              <a:cs typeface="Arial" panose="020B0604020202020204" pitchFamily="34" charset="0"/>
            </a:endParaRPr>
          </a:p>
        </p:txBody>
      </p:sp>
      <p:sp>
        <p:nvSpPr>
          <p:cNvPr id="10" name="Text 9"/>
          <p:cNvSpPr txBox="1"/>
          <p:nvPr/>
        </p:nvSpPr>
        <p:spPr>
          <a:xfrm>
            <a:off x="635000" y="48768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Interviews, current forms and real examples that establish the local problem.</a:t>
            </a:r>
            <a:endParaRPr lang="en-US" sz="2000">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4</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a barangay readiness question</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Step</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Follow-along example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Ask the question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Which ambulance has current readiness evidence?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Open View Vehicles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Compare INEM Portuguese Ambulance with Rescue Response Ambulance.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Explain the indicators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INEM starts with a passing check. Rescue Response starts Needs Inspection.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Validate the problem</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Ask actual staff how they currently obtain this information.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The interview question is proposed. No interview result is claimed.</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5</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A meaningful design contribution</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302000"/>
        </p:xfrm>
        <a:graphic>
          <a:graphicData uri="http://schemas.openxmlformats.org/drawingml/2006/table">
            <a:tbl>
              <a:tblPr firstRow="1" bandRow="1">
                <a:tableStyleId>{5C22544A-7EE6-4342-B048-85BDC9FD1C3A}</a:tableStyleId>
              </a:tblPr>
              <a:tblGrid>
                <a:gridCol w="3302000"/>
                <a:gridCol w="7620000"/>
              </a:tblGrid>
              <a:tr h="8255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Indicator</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What it tells the user</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8255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Availability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Whether the vehicle is available or undergoing maintenance.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8255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Physical condition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Whether it is Good, Needs Inspection or Needs Repair.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8255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Verified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Whether a recent checklist supports readiness for use.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The workflow also records repair responsibility and independent verification.</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6</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three vehicle indicators</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429000"/>
        </p:xfrm>
        <a:graphic>
          <a:graphicData uri="http://schemas.openxmlformats.org/drawingml/2006/table">
            <a:tbl>
              <a:tblPr firstRow="1" bandRow="1">
                <a:tableStyleId>{5C22544A-7EE6-4342-B048-85BDC9FD1C3A}</a:tableStyleId>
              </a:tblPr>
              <a:tblGrid>
                <a:gridCol w="3048000"/>
                <a:gridCol w="7874000"/>
              </a:tblGrid>
              <a:tr h="85725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Sample vehicle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Starting state to explain</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85725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Ladder Company 28</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Available and Good. A fresh pass supports verified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85725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Rescue Response Ambulance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Available but Needs Inspection. It has no passing readiness check.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85725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Barangay Fire Responder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Under Maintenance and Needs Repair. Its repairs remain unfinished.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These states describe the reset demo. Passing checks age normally after 24 hours.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7</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Maintenance responsibility</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1714500"/>
                <a:gridCol w="2857500"/>
                <a:gridCol w="6350000"/>
              </a:tblGrid>
              <a:tr h="655955">
                <a:tc>
                  <a:txBody>
                    <a:bodyPr wrap="square"/>
                    <a:p>
                      <a:pPr>
                        <a:spcAft>
                          <a:spcPts val="0"/>
                        </a:spcAft>
                        <a:buNone/>
                      </a:pPr>
                      <a:r>
                        <a:rPr lang="en-US" sz="1800" b="1">
                          <a:solidFill>
                            <a:srgbClr val="FFFFFF"/>
                          </a:solidFill>
                          <a:latin typeface="Arial" panose="020B0604020202020204" pitchFamily="34" charset="0"/>
                          <a:cs typeface="Arial" panose="020B0604020202020204" pitchFamily="34" charset="0"/>
                        </a:rPr>
                        <a:t>Step</a:t>
                      </a:r>
                      <a:endParaRPr lang="en-US" sz="18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800" b="1">
                          <a:solidFill>
                            <a:srgbClr val="FFFFFF"/>
                          </a:solidFill>
                          <a:latin typeface="Arial" panose="020B0604020202020204" pitchFamily="34" charset="0"/>
                          <a:cs typeface="Arial" panose="020B0604020202020204" pitchFamily="34" charset="0"/>
                        </a:rPr>
                        <a:t>Responsible person</a:t>
                      </a:r>
                      <a:endParaRPr lang="en-US" sz="18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800" b="1">
                          <a:solidFill>
                            <a:srgbClr val="FFFFFF"/>
                          </a:solidFill>
                          <a:latin typeface="Arial" panose="020B0604020202020204" pitchFamily="34" charset="0"/>
                          <a:cs typeface="Arial" panose="020B0604020202020204" pitchFamily="34" charset="0"/>
                        </a:rPr>
                        <a:t>Recorded result</a:t>
                      </a:r>
                      <a:endParaRPr lang="en-US" sz="18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Proposal</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Custodian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Pending Approval ticket with repair details.</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Review</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Admin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Approval, assignments or a decline reason.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Repair</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Assigned mechanic</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Repair log and supporting evidence.</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Verification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Assigned Custodian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Independent check or return for rework.</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Closure</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System after approval</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Closed ticket and maintenance history.</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For external-shop repairs, the Admin handles the shop work. The handler cannot verify it.</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8</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the fire-truck repair handoff</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Role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Action and expected result</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Admin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Open BFP-5501 Active ticket. Check the Jake and Rohan assignments.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Jake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Log the pump-seal repair. Another line remains, so the ticket stays Active.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Rohan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Log the pressure-regulator work. The last repair triggers verification.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Precious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Open My Tasks and independently approve or return the repair.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This is a software rehearsal. Physical repairs and checks are simulated.</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9</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Related literature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Research theme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What the review must establish</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Maintenance management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How comparable systems document repair and preventive work.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Emergency-fleet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How studies distinguish availability from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Access and accountability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Why ownership checks and independent verification matter.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Research gap</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What the barangay needs that existing approaches do not address.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A complete literature review was unavailable for verification.</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10</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a literature-review worksheet</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Field</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What the team should record</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Comparison question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How do maintenance systems prevent a repairer from verifying their own work?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Actual source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Read a real study and record its author, year and publication.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Extraction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Record the actual method, finding and limitation.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Design connection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Compare the finding with the independent Custodian verification rule.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Worksheet example only. It does not supply or invent a published study.</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11</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Research methodology</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Part of the method</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Evidence the team needs</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Requirements gathering</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Participants, interview guide and confirmed requirements.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Development process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Actual iterations, changes and reasons for design decisions.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Evaluation design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Representative roles, tasks, instruments and sampling rationale.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Data analysis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Scoring rules, task measures, dataset and stated limitations.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This is a proposed evidence plan. The team must document the method it actually followed.</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12</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one proposed evaluation task</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Stage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Concrete activity</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Participant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Recruit an actual authorized Maintenance Personnel participant.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Task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Ask them to find today's INEM service and explain how to record completion.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Observation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Record elapsed time, errors, assistance and task completion.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Analysis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Report observed results with the sample and its limitations.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Proposed procedure. Participant counts and results remain unverified.</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13</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System architecture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655955">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Component</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Verified role or current status</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React and Vite frontend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Role-based workspaces and maintenance interfaces.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Laravel API</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Validation, permissions and workflow transitions.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Sanctum authentication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Bearer tokens identify authenticated accounts.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SQLite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Demonstrated local database and demo setup.</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PostgreSQL and cloud storage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Deployment targets requiring target-host acceptance.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Maintainability limitation: much of the interface remains in one large Workspace component.</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14</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a repair submission</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Layer</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What happens</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React interface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Jake submits notes for his assigned fire-truck repair.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Laravel API</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endpoint checks the account, assignment and workflow state.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SQLite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application stores repair evidence and updates the repair line.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Interface refresh</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page refreshes. Handoff waits until all required repairs are logged.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Explain the earlier submission. A second repair submission is unnecessary.</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15</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Technical testing evidence</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803400"/>
            <a:ext cx="3429000" cy="1143000"/>
          </a:xfrm>
          <a:prstGeom prst="rect">
            <a:avLst/>
          </a:prstGeom>
          <a:noFill/>
        </p:spPr>
        <p:txBody>
          <a:bodyPr wrap="square" lIns="0" tIns="0" rIns="0" bIns="0" rtlCol="0" anchor="t">
            <a:noAutofit/>
          </a:bodyPr>
          <a:p>
            <a:pPr>
              <a:spcAft>
                <a:spcPts val="0"/>
              </a:spcAft>
            </a:pPr>
            <a:r>
              <a:rPr lang="en-US" sz="5700" b="1">
                <a:solidFill>
                  <a:srgbClr val="245FEA"/>
                </a:solidFill>
                <a:latin typeface="Arial" panose="020B0604020202020204" pitchFamily="34" charset="0"/>
                <a:cs typeface="Arial" panose="020B0604020202020204" pitchFamily="34" charset="0"/>
              </a:rPr>
              <a:t>489</a:t>
            </a:r>
            <a:endParaRPr lang="en-US" sz="57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635000" y="3073400"/>
            <a:ext cx="3429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Backend tests passed</a:t>
            </a:r>
            <a:endParaRPr lang="en-US" sz="2100">
              <a:solidFill>
                <a:srgbClr val="10233F"/>
              </a:solidFill>
              <a:latin typeface="Arial" panose="020B0604020202020204" pitchFamily="34" charset="0"/>
              <a:cs typeface="Arial" panose="020B0604020202020204" pitchFamily="34" charset="0"/>
            </a:endParaRPr>
          </a:p>
        </p:txBody>
      </p:sp>
      <p:sp>
        <p:nvSpPr>
          <p:cNvPr id="5" name="Text 4"/>
          <p:cNvSpPr txBox="1"/>
          <p:nvPr/>
        </p:nvSpPr>
        <p:spPr>
          <a:xfrm>
            <a:off x="4343400" y="1803400"/>
            <a:ext cx="3429000" cy="1143000"/>
          </a:xfrm>
          <a:prstGeom prst="rect">
            <a:avLst/>
          </a:prstGeom>
          <a:noFill/>
        </p:spPr>
        <p:txBody>
          <a:bodyPr wrap="square" lIns="0" tIns="0" rIns="0" bIns="0" rtlCol="0" anchor="t">
            <a:noAutofit/>
          </a:bodyPr>
          <a:p>
            <a:pPr>
              <a:spcAft>
                <a:spcPts val="0"/>
              </a:spcAft>
            </a:pPr>
            <a:r>
              <a:rPr lang="en-US" sz="5700" b="1">
                <a:solidFill>
                  <a:srgbClr val="245FEA"/>
                </a:solidFill>
                <a:latin typeface="Arial" panose="020B0604020202020204" pitchFamily="34" charset="0"/>
                <a:cs typeface="Arial" panose="020B0604020202020204" pitchFamily="34" charset="0"/>
              </a:rPr>
              <a:t>2,339</a:t>
            </a:r>
            <a:endParaRPr lang="en-US" sz="5700" b="1">
              <a:solidFill>
                <a:srgbClr val="245FEA"/>
              </a:solidFill>
              <a:latin typeface="Arial" panose="020B0604020202020204" pitchFamily="34" charset="0"/>
              <a:cs typeface="Arial" panose="020B0604020202020204" pitchFamily="34" charset="0"/>
            </a:endParaRPr>
          </a:p>
        </p:txBody>
      </p:sp>
      <p:sp>
        <p:nvSpPr>
          <p:cNvPr id="6" name="Text 5"/>
          <p:cNvSpPr txBox="1"/>
          <p:nvPr/>
        </p:nvSpPr>
        <p:spPr>
          <a:xfrm>
            <a:off x="4343400" y="3073400"/>
            <a:ext cx="3429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Assertions</a:t>
            </a:r>
            <a:endParaRPr lang="en-US" sz="21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8051800" y="1803400"/>
            <a:ext cx="3429000" cy="1143000"/>
          </a:xfrm>
          <a:prstGeom prst="rect">
            <a:avLst/>
          </a:prstGeom>
          <a:noFill/>
        </p:spPr>
        <p:txBody>
          <a:bodyPr wrap="square" lIns="0" tIns="0" rIns="0" bIns="0" rtlCol="0" anchor="t">
            <a:noAutofit/>
          </a:bodyPr>
          <a:p>
            <a:pPr>
              <a:spcAft>
                <a:spcPts val="0"/>
              </a:spcAft>
            </a:pPr>
            <a:r>
              <a:rPr lang="en-US" sz="5700" b="1">
                <a:solidFill>
                  <a:srgbClr val="245FEA"/>
                </a:solidFill>
                <a:latin typeface="Arial" panose="020B0604020202020204" pitchFamily="34" charset="0"/>
                <a:cs typeface="Arial" panose="020B0604020202020204" pitchFamily="34" charset="0"/>
              </a:rPr>
              <a:t>11</a:t>
            </a:r>
            <a:endParaRPr lang="en-US" sz="5700" b="1">
              <a:solidFill>
                <a:srgbClr val="245FEA"/>
              </a:solidFill>
              <a:latin typeface="Arial" panose="020B0604020202020204" pitchFamily="34" charset="0"/>
              <a:cs typeface="Arial" panose="020B0604020202020204" pitchFamily="34" charset="0"/>
            </a:endParaRPr>
          </a:p>
        </p:txBody>
      </p:sp>
      <p:sp>
        <p:nvSpPr>
          <p:cNvPr id="8" name="Text 7"/>
          <p:cNvSpPr txBox="1"/>
          <p:nvPr/>
        </p:nvSpPr>
        <p:spPr>
          <a:xfrm>
            <a:off x="8051800" y="3073400"/>
            <a:ext cx="3429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Demo photo files matched</a:t>
            </a:r>
            <a:endParaRPr lang="en-US" sz="21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35000" y="4457700"/>
            <a:ext cx="10668000" cy="1079500"/>
          </a:xfrm>
          <a:prstGeom prst="rect">
            <a:avLst/>
          </a:prstGeom>
          <a:noFill/>
        </p:spPr>
        <p:txBody>
          <a:bodyPr wrap="square" lIns="0" tIns="0" rIns="0" bIns="0" rtlCol="0" anchor="t">
            <a:noAutofit/>
          </a:bodyPr>
          <a:p>
            <a:pPr>
              <a:spcAft>
                <a:spcPts val="0"/>
              </a:spcAft>
            </a:pPr>
            <a:r>
              <a:rPr lang="en-US" sz="2400">
                <a:solidFill>
                  <a:srgbClr val="10233F"/>
                </a:solidFill>
                <a:latin typeface="Arial" panose="020B0604020202020204" pitchFamily="34" charset="0"/>
                <a:cs typeface="Arial" panose="020B0604020202020204" pitchFamily="34" charset="0"/>
              </a:rPr>
              <a:t>The frontend build passed in a separate checkout after dependency installation.</a:t>
            </a:r>
            <a:endParaRPr lang="en-US" sz="2400">
              <a:solidFill>
                <a:srgbClr val="10233F"/>
              </a:solidFill>
              <a:latin typeface="Arial" panose="020B0604020202020204" pitchFamily="34" charset="0"/>
              <a:cs typeface="Arial" panose="020B0604020202020204" pitchFamily="34" charset="0"/>
            </a:endParaRPr>
          </a:p>
        </p:txBody>
      </p:sp>
      <p:sp>
        <p:nvSpPr>
          <p:cNvPr id="10" name="Text 9"/>
          <p:cNvSpPr txBox="1"/>
          <p:nvPr/>
        </p:nvSpPr>
        <p:spPr>
          <a:xfrm>
            <a:off x="635000" y="6007100"/>
            <a:ext cx="10541000" cy="6096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Recorded results at revision 72d754c. Existing tests do not close the six audit findings.</a:t>
            </a:r>
            <a:endParaRPr lang="en-US" sz="1600">
              <a:solidFill>
                <a:srgbClr val="53647A"/>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16</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reproducible test evidence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Step</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Command or demonstration</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Backend terminal</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In backend-api: php artisan test --filter=SampleFleetSeederTest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Explain the result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Read the actual result and exit status. Tests use an isolated database.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Frontend terminal</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In frontend-spa: npm run build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Explain the scope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recorded full run passed 489 tests. Field effectiveness remains separate.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Prepare dated output or a recording in case a command takes too long.</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17</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Six open audit findings</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4445000"/>
        </p:xfrm>
        <a:graphic>
          <a:graphicData uri="http://schemas.openxmlformats.org/drawingml/2006/table">
            <a:tbl>
              <a:tblPr firstRow="1" bandRow="1">
                <a:tableStyleId>{5C22544A-7EE6-4342-B048-85BDC9FD1C3A}</a:tableStyleId>
              </a:tblPr>
              <a:tblGrid>
                <a:gridCol w="825500"/>
                <a:gridCol w="1397000"/>
                <a:gridCol w="8699500"/>
              </a:tblGrid>
              <a:tr h="635000">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ID</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Priority</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Finding</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01</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High</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A response can sign an inaccessible managed-file reference.</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02</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High</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Direct issue details bypass list visibility restrictions.</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03</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High</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Shared catalog edits affect other barangays and history.</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04</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High</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Parts removal leaves an earlier readiness pass current.</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05</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Medium</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CSV exports retain formula-leading untrusted text.</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06</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Medium</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Schedule completion accepts future dates.</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Security and workflow acceptance remain incomplete until fixes pass rejection-based tests.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18</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open-finding acceptance checks</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4445000"/>
        </p:xfrm>
        <a:graphic>
          <a:graphicData uri="http://schemas.openxmlformats.org/drawingml/2006/table">
            <a:tbl>
              <a:tblPr firstRow="1" bandRow="1">
                <a:tableStyleId>{5C22544A-7EE6-4342-B048-85BDC9FD1C3A}</a:tableStyleId>
              </a:tblPr>
              <a:tblGrid>
                <a:gridCol w="3048000"/>
                <a:gridCol w="7874000"/>
              </a:tblGrid>
              <a:tr h="635000">
                <a:tc>
                  <a:txBody>
                    <a:bodyPr wrap="square"/>
                    <a:p>
                      <a:pPr>
                        <a:spcAft>
                          <a:spcPts val="0"/>
                        </a:spcAft>
                        <a:buNone/>
                      </a:pPr>
                      <a:r>
                        <a:rPr lang="en-US" sz="1800" b="1">
                          <a:solidFill>
                            <a:srgbClr val="FFFFFF"/>
                          </a:solidFill>
                          <a:latin typeface="Arial" panose="020B0604020202020204" pitchFamily="34" charset="0"/>
                          <a:cs typeface="Arial" panose="020B0604020202020204" pitchFamily="34" charset="0"/>
                        </a:rPr>
                        <a:t>Finding</a:t>
                      </a:r>
                      <a:endParaRPr lang="en-US" sz="18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800" b="1">
                          <a:solidFill>
                            <a:srgbClr val="FFFFFF"/>
                          </a:solidFill>
                          <a:latin typeface="Arial" panose="020B0604020202020204" pitchFamily="34" charset="0"/>
                          <a:cs typeface="Arial" panose="020B0604020202020204" pitchFamily="34" charset="0"/>
                        </a:rPr>
                        <a:t>Required result to demonstrate</a:t>
                      </a:r>
                      <a:endParaRPr lang="en-US" sz="18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35000">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File signing</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An inaccessible file reference must not produce an authorized download.</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Issue visibility</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Report details must honor the same access rules as the list.</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35000">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Shared catalogs</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 barangay edit must not silently rewrite another tenant's history.</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Readiness</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 relevant parts-removal event must invalidate earlier readiness evidence.</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35000">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CSV export</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Formula-leading input must remain safe text under the chosen export policy.</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Completion date</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 future completion date must fail without changing records.</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All six findings remain open. These are required outcomes, not passing results.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19</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Usability and error handling</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651000"/>
            <a:ext cx="4953000" cy="508000"/>
          </a:xfrm>
          <a:prstGeom prst="rect">
            <a:avLst/>
          </a:prstGeom>
          <a:noFill/>
        </p:spPr>
        <p:txBody>
          <a:bodyPr wrap="square" lIns="0" tIns="0" rIns="0" bIns="0" rtlCol="0" anchor="t">
            <a:noAutofit/>
          </a:bodyPr>
          <a:p>
            <a:pPr>
              <a:spcAft>
                <a:spcPts val="0"/>
              </a:spcAft>
            </a:pPr>
            <a:r>
              <a:rPr lang="en-US" sz="2300" b="1">
                <a:solidFill>
                  <a:srgbClr val="245FEA"/>
                </a:solidFill>
                <a:latin typeface="Arial" panose="020B0604020202020204" pitchFamily="34" charset="0"/>
                <a:cs typeface="Arial" panose="020B0604020202020204" pitchFamily="34" charset="0"/>
              </a:rPr>
              <a:t>Available evidence</a:t>
            </a:r>
            <a:endParaRPr lang="en-US" sz="23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6477000" y="1651000"/>
            <a:ext cx="4953000" cy="508000"/>
          </a:xfrm>
          <a:prstGeom prst="rect">
            <a:avLst/>
          </a:prstGeom>
          <a:noFill/>
        </p:spPr>
        <p:txBody>
          <a:bodyPr wrap="square" lIns="0" tIns="0" rIns="0" bIns="0" rtlCol="0" anchor="t">
            <a:noAutofit/>
          </a:bodyPr>
          <a:p>
            <a:pPr>
              <a:spcAft>
                <a:spcPts val="0"/>
              </a:spcAft>
            </a:pPr>
            <a:r>
              <a:rPr lang="en-US" sz="2300" b="1">
                <a:solidFill>
                  <a:srgbClr val="245FEA"/>
                </a:solidFill>
                <a:latin typeface="Arial" panose="020B0604020202020204" pitchFamily="34" charset="0"/>
                <a:cs typeface="Arial" panose="020B0604020202020204" pitchFamily="34" charset="0"/>
              </a:rPr>
              <a:t>Evaluation still needed</a:t>
            </a:r>
            <a:endParaRPr lang="en-US" sz="2300" b="1">
              <a:solidFill>
                <a:srgbClr val="245FEA"/>
              </a:solidFill>
              <a:latin typeface="Arial" panose="020B0604020202020204" pitchFamily="34" charset="0"/>
              <a:cs typeface="Arial" panose="020B0604020202020204" pitchFamily="34" charset="0"/>
            </a:endParaRPr>
          </a:p>
        </p:txBody>
      </p:sp>
      <p:sp>
        <p:nvSpPr>
          <p:cNvPr id="5" name="Text 4"/>
          <p:cNvSpPr txBox="1"/>
          <p:nvPr/>
        </p:nvSpPr>
        <p:spPr>
          <a:xfrm>
            <a:off x="635000" y="24384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Role-focused workspaces and assigned tasks</a:t>
            </a:r>
            <a:endParaRPr lang="en-US" sz="2100">
              <a:solidFill>
                <a:srgbClr val="10233F"/>
              </a:solidFill>
              <a:latin typeface="Arial" panose="020B0604020202020204" pitchFamily="34" charset="0"/>
              <a:cs typeface="Arial" panose="020B0604020202020204" pitchFamily="34" charset="0"/>
            </a:endParaRPr>
          </a:p>
        </p:txBody>
      </p:sp>
      <p:sp>
        <p:nvSpPr>
          <p:cNvPr id="6" name="Text 5"/>
          <p:cNvSpPr txBox="1"/>
          <p:nvPr/>
        </p:nvSpPr>
        <p:spPr>
          <a:xfrm>
            <a:off x="635000" y="35433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Search, filters and inline field validation</a:t>
            </a:r>
            <a:endParaRPr lang="en-US" sz="21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46482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Server-side refusals for invalid actions</a:t>
            </a:r>
            <a:endParaRPr lang="en-US" sz="2100">
              <a:solidFill>
                <a:srgbClr val="10233F"/>
              </a:solidFill>
              <a:latin typeface="Arial" panose="020B0604020202020204" pitchFamily="34" charset="0"/>
              <a:cs typeface="Arial" panose="020B0604020202020204" pitchFamily="34" charset="0"/>
            </a:endParaRPr>
          </a:p>
        </p:txBody>
      </p:sp>
      <p:sp>
        <p:nvSpPr>
          <p:cNvPr id="8" name="Text 7"/>
          <p:cNvSpPr txBox="1"/>
          <p:nvPr/>
        </p:nvSpPr>
        <p:spPr>
          <a:xfrm>
            <a:off x="6477000" y="24384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Observe representative users completing tasks</a:t>
            </a:r>
            <a:endParaRPr lang="en-US" sz="21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477000" y="35433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Record errors, completion and help required</a:t>
            </a:r>
            <a:endParaRPr lang="en-US" sz="2100">
              <a:solidFill>
                <a:srgbClr val="10233F"/>
              </a:solidFill>
              <a:latin typeface="Arial" panose="020B0604020202020204" pitchFamily="34" charset="0"/>
              <a:cs typeface="Arial" panose="020B0604020202020204" pitchFamily="34" charset="0"/>
            </a:endParaRPr>
          </a:p>
        </p:txBody>
      </p:sp>
      <p:sp>
        <p:nvSpPr>
          <p:cNvPr id="10" name="Text 9"/>
          <p:cNvSpPr txBox="1"/>
          <p:nvPr/>
        </p:nvSpPr>
        <p:spPr>
          <a:xfrm>
            <a:off x="6477000" y="46482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Explain failure messages and recovery paths</a:t>
            </a:r>
            <a:endParaRPr lang="en-US" sz="2100">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20</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recovering from missing input</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Step</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Action and expected result</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Open the proposal form</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Sign in as Custodian and start a maintenance proposal.</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Leave a required field empty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Try to continue without the required vehicle or repair details.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Observe the response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the actual validation message and that no valid proposal was created.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Correct the input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Fill the missing value, then cancel this example instead of adding extra work.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Show actual behavior. Some forms still use summary-style validation.</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21</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Results and validation</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Supported claim</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Evidence still needed for stronger claims</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Core maintenance workflows run locally.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User acceptance with representative roles and records.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shared demo can be recreated.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 deployment pilot with actual operating constraints.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SQLite backup creation was demonstrated.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Restore verification and recovery on the target host.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Tests check selected controls and failures.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Coverage of open findings, load and service interruptions.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Reduced downtime, faster response and higher productivity remain unmeasured outcomes.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22</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an evaluation results sheet</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Measure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How to record it</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Task success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Record whether the participant completed the defined task.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Completion time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Record actual start and finish times using the same rule.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Errors and assistance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Record observed mistakes and each intervention.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Comparison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Use comparable existing-process and VMS tasks before claiming improvement.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Leave results unfilled until observation. No improvement percentage is established.</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23</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Documentation, permissions and privacy</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651000"/>
            <a:ext cx="4953000" cy="508000"/>
          </a:xfrm>
          <a:prstGeom prst="rect">
            <a:avLst/>
          </a:prstGeom>
          <a:noFill/>
        </p:spPr>
        <p:txBody>
          <a:bodyPr wrap="square" lIns="0" tIns="0" rIns="0" bIns="0" rtlCol="0" anchor="t">
            <a:noAutofit/>
          </a:bodyPr>
          <a:p>
            <a:pPr>
              <a:spcAft>
                <a:spcPts val="0"/>
              </a:spcAft>
            </a:pPr>
            <a:r>
              <a:rPr lang="en-US" sz="2300" b="1">
                <a:solidFill>
                  <a:srgbClr val="245FEA"/>
                </a:solidFill>
                <a:latin typeface="Arial" panose="020B0604020202020204" pitchFamily="34" charset="0"/>
                <a:cs typeface="Arial" panose="020B0604020202020204" pitchFamily="34" charset="0"/>
              </a:rPr>
              <a:t>Current position</a:t>
            </a:r>
            <a:endParaRPr lang="en-US" sz="23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6477000" y="1651000"/>
            <a:ext cx="4953000" cy="508000"/>
          </a:xfrm>
          <a:prstGeom prst="rect">
            <a:avLst/>
          </a:prstGeom>
          <a:noFill/>
        </p:spPr>
        <p:txBody>
          <a:bodyPr wrap="square" lIns="0" tIns="0" rIns="0" bIns="0" rtlCol="0" anchor="t">
            <a:noAutofit/>
          </a:bodyPr>
          <a:p>
            <a:pPr>
              <a:spcAft>
                <a:spcPts val="0"/>
              </a:spcAft>
            </a:pPr>
            <a:r>
              <a:rPr lang="en-US" sz="2300" b="1">
                <a:solidFill>
                  <a:srgbClr val="245FEA"/>
                </a:solidFill>
                <a:latin typeface="Arial" panose="020B0604020202020204" pitchFamily="34" charset="0"/>
                <a:cs typeface="Arial" panose="020B0604020202020204" pitchFamily="34" charset="0"/>
              </a:rPr>
              <a:t>Required evidence</a:t>
            </a:r>
            <a:endParaRPr lang="en-US" sz="2300" b="1">
              <a:solidFill>
                <a:srgbClr val="245FEA"/>
              </a:solidFill>
              <a:latin typeface="Arial" panose="020B0604020202020204" pitchFamily="34" charset="0"/>
              <a:cs typeface="Arial" panose="020B0604020202020204" pitchFamily="34" charset="0"/>
            </a:endParaRPr>
          </a:p>
        </p:txBody>
      </p:sp>
      <p:sp>
        <p:nvSpPr>
          <p:cNvPr id="5" name="Text 4"/>
          <p:cNvSpPr txBox="1"/>
          <p:nvPr/>
        </p:nvSpPr>
        <p:spPr>
          <a:xfrm>
            <a:off x="635000" y="24384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Technical references and diagrams exist</a:t>
            </a:r>
            <a:endParaRPr lang="en-US" sz="2100">
              <a:solidFill>
                <a:srgbClr val="10233F"/>
              </a:solidFill>
              <a:latin typeface="Arial" panose="020B0604020202020204" pitchFamily="34" charset="0"/>
              <a:cs typeface="Arial" panose="020B0604020202020204" pitchFamily="34" charset="0"/>
            </a:endParaRPr>
          </a:p>
        </p:txBody>
      </p:sp>
      <p:sp>
        <p:nvSpPr>
          <p:cNvPr id="6" name="Text 5"/>
          <p:cNvSpPr txBox="1"/>
          <p:nvPr/>
        </p:nvSpPr>
        <p:spPr>
          <a:xfrm>
            <a:off x="635000" y="35433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The full manuscript and citation list remain unverified</a:t>
            </a:r>
            <a:endParaRPr lang="en-US" sz="21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46482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Permission and participant records remain unverified</a:t>
            </a:r>
            <a:endParaRPr lang="en-US" sz="2100">
              <a:solidFill>
                <a:srgbClr val="10233F"/>
              </a:solidFill>
              <a:latin typeface="Arial" panose="020B0604020202020204" pitchFamily="34" charset="0"/>
              <a:cs typeface="Arial" panose="020B0604020202020204" pitchFamily="34" charset="0"/>
            </a:endParaRPr>
          </a:p>
        </p:txBody>
      </p:sp>
      <p:sp>
        <p:nvSpPr>
          <p:cNvPr id="8" name="Text 7"/>
          <p:cNvSpPr txBox="1"/>
          <p:nvPr/>
        </p:nvSpPr>
        <p:spPr>
          <a:xfrm>
            <a:off x="6477000" y="24384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Align manuscript, slides, manuals and code</a:t>
            </a:r>
            <a:endParaRPr lang="en-US" sz="21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477000" y="35433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Confirm data and image-use authorization</a:t>
            </a:r>
            <a:endParaRPr lang="en-US" sz="2100">
              <a:solidFill>
                <a:srgbClr val="10233F"/>
              </a:solidFill>
              <a:latin typeface="Arial" panose="020B0604020202020204" pitchFamily="34" charset="0"/>
              <a:cs typeface="Arial" panose="020B0604020202020204" pitchFamily="34" charset="0"/>
            </a:endParaRPr>
          </a:p>
        </p:txBody>
      </p:sp>
      <p:sp>
        <p:nvSpPr>
          <p:cNvPr id="10" name="Text 9"/>
          <p:cNvSpPr txBox="1"/>
          <p:nvPr/>
        </p:nvSpPr>
        <p:spPr>
          <a:xfrm>
            <a:off x="6477000" y="46482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Define lawful basis, access, retention and deletion</a:t>
            </a:r>
            <a:endParaRPr lang="en-US" sz="2100">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635000" y="6070600"/>
            <a:ext cx="10541000" cy="5080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Technical access controls alone do not establish privacy compliance.</a:t>
            </a:r>
            <a:endParaRPr lang="en-US" sz="1600">
              <a:solidFill>
                <a:srgbClr val="53647A"/>
              </a:solidFill>
              <a:latin typeface="Arial" panose="020B0604020202020204" pitchFamily="34" charset="0"/>
              <a:cs typeface="Arial" panose="020B0604020202020204" pitchFamily="34" charset="0"/>
            </a:endParaRPr>
          </a:p>
        </p:txBody>
      </p:sp>
      <p:sp>
        <p:nvSpPr>
          <p:cNvPr id="12" name="Text 11"/>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24</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privacy and permission records</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Record</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Concrete example to prepare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Personal data</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Staff names and email addresses used for accounts and assignments.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Purpose and access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Explain why the data is necessary and which roles can access it.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Authorization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Keep actual barangay authorization and participant information records.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Retention and images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Document an approved retention rule and permission to use photographs.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Checklist example. A permission letter alone does not establish legal compliance.</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25</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AI assistance and accountability</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587500"/>
            <a:ext cx="10795000" cy="1397000"/>
          </a:xfrm>
          <a:prstGeom prst="rect">
            <a:avLst/>
          </a:prstGeom>
          <a:noFill/>
        </p:spPr>
        <p:txBody>
          <a:bodyPr wrap="square" lIns="0" tIns="0" rIns="0" bIns="0" rtlCol="0" anchor="t">
            <a:noAutofit/>
          </a:bodyPr>
          <a:p>
            <a:pPr>
              <a:spcAft>
                <a:spcPts val="0"/>
              </a:spcAft>
            </a:pPr>
            <a:r>
              <a:rPr lang="en-US" sz="3200" b="1">
                <a:solidFill>
                  <a:srgbClr val="245FEA"/>
                </a:solidFill>
                <a:latin typeface="Arial" panose="020B0604020202020204" pitchFamily="34" charset="0"/>
                <a:cs typeface="Arial" panose="020B0604020202020204" pitchFamily="34" charset="0"/>
              </a:rPr>
              <a:t>AI assistance contributed to code, debugging, tests and documentation.</a:t>
            </a:r>
            <a:endParaRPr lang="en-US" sz="32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635000" y="3505200"/>
            <a:ext cx="2921000" cy="6858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Disclosure</a:t>
            </a:r>
            <a:endParaRPr lang="en-US" sz="1900" b="1">
              <a:solidFill>
                <a:srgbClr val="245FEA"/>
              </a:solidFill>
              <a:latin typeface="Arial" panose="020B0604020202020204" pitchFamily="34" charset="0"/>
              <a:cs typeface="Arial" panose="020B0604020202020204" pitchFamily="34" charset="0"/>
            </a:endParaRPr>
          </a:p>
        </p:txBody>
      </p:sp>
      <p:sp>
        <p:nvSpPr>
          <p:cNvPr id="5" name="Text 4"/>
          <p:cNvSpPr txBox="1"/>
          <p:nvPr/>
        </p:nvSpPr>
        <p:spPr>
          <a:xfrm>
            <a:off x="3810000" y="3505200"/>
            <a:ext cx="7493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Identify the tools, their actual uses and the affected work.</a:t>
            </a:r>
            <a:endParaRPr lang="en-US" sz="2100">
              <a:solidFill>
                <a:srgbClr val="10233F"/>
              </a:solidFill>
              <a:latin typeface="Arial" panose="020B0604020202020204" pitchFamily="34" charset="0"/>
              <a:cs typeface="Arial" panose="020B0604020202020204" pitchFamily="34" charset="0"/>
            </a:endParaRPr>
          </a:p>
        </p:txBody>
      </p:sp>
      <p:sp>
        <p:nvSpPr>
          <p:cNvPr id="6" name="Text 5"/>
          <p:cNvSpPr txBox="1"/>
          <p:nvPr/>
        </p:nvSpPr>
        <p:spPr>
          <a:xfrm>
            <a:off x="635000" y="4457700"/>
            <a:ext cx="2921000" cy="6858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Team responsibility</a:t>
            </a:r>
            <a:endParaRPr lang="en-US" sz="1900" b="1">
              <a:solidFill>
                <a:srgbClr val="245FEA"/>
              </a:solidFill>
              <a:latin typeface="Arial" panose="020B0604020202020204" pitchFamily="34" charset="0"/>
              <a:cs typeface="Arial" panose="020B0604020202020204" pitchFamily="34" charset="0"/>
            </a:endParaRPr>
          </a:p>
        </p:txBody>
      </p:sp>
      <p:sp>
        <p:nvSpPr>
          <p:cNvPr id="7" name="Text 6"/>
          <p:cNvSpPr txBox="1"/>
          <p:nvPr/>
        </p:nvSpPr>
        <p:spPr>
          <a:xfrm>
            <a:off x="3810000" y="4457700"/>
            <a:ext cx="7493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Explain what each proponent personally reviewed and verified.</a:t>
            </a:r>
            <a:endParaRPr lang="en-US" sz="2100">
              <a:solidFill>
                <a:srgbClr val="10233F"/>
              </a:solidFill>
              <a:latin typeface="Arial" panose="020B0604020202020204" pitchFamily="34" charset="0"/>
              <a:cs typeface="Arial" panose="020B0604020202020204" pitchFamily="34" charset="0"/>
            </a:endParaRPr>
          </a:p>
        </p:txBody>
      </p:sp>
      <p:sp>
        <p:nvSpPr>
          <p:cNvPr id="8" name="Text 7"/>
          <p:cNvSpPr txBox="1"/>
          <p:nvPr/>
        </p:nvSpPr>
        <p:spPr>
          <a:xfrm>
            <a:off x="635000" y="5410200"/>
            <a:ext cx="2921000" cy="6858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Academic requirements</a:t>
            </a:r>
            <a:endParaRPr lang="en-US" sz="1900" b="1">
              <a:solidFill>
                <a:srgbClr val="245FEA"/>
              </a:solidFill>
              <a:latin typeface="Arial" panose="020B0604020202020204" pitchFamily="34" charset="0"/>
              <a:cs typeface="Arial" panose="020B0604020202020204" pitchFamily="34" charset="0"/>
            </a:endParaRPr>
          </a:p>
        </p:txBody>
      </p:sp>
      <p:sp>
        <p:nvSpPr>
          <p:cNvPr id="9" name="Text 8"/>
          <p:cNvSpPr txBox="1"/>
          <p:nvPr/>
        </p:nvSpPr>
        <p:spPr>
          <a:xfrm>
            <a:off x="3810000" y="5410200"/>
            <a:ext cx="7493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Follow the institution's disclosure policy and keep supporting records.</a:t>
            </a:r>
            <a:endParaRPr lang="en-US" sz="2100">
              <a:solidFill>
                <a:srgbClr val="10233F"/>
              </a:solidFill>
              <a:latin typeface="Arial" panose="020B0604020202020204" pitchFamily="34" charset="0"/>
              <a:cs typeface="Arial" panose="020B0604020202020204" pitchFamily="34" charset="0"/>
            </a:endParaRPr>
          </a:p>
        </p:txBody>
      </p:sp>
      <p:sp>
        <p:nvSpPr>
          <p:cNvPr id="10" name="Text 9"/>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26</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an honest AI disclosure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Disclosure part</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Suggested wording or record</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Actual assistance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ChatGPT/Codex assisted with code, debugging, tests and documentation.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Automated verification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Cite dated test results and explain their limits.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Personal team review</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Record who reviewed each contribution, what they checked and when.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Responsibility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proponents remain responsible for the submitted work and explanation.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Draft example. Complete it using actual practices and the institution's format.</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27</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Presentation and defense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Panel question</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Evidence the team should use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Why separate availability and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Explain the three indicators using a sample vehicle.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Who may verify a repair?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assignment and self-verification restrictions.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How did you evaluate the system?</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test results, coverage limits and any actual UAT.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What remains unfinished?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the open audit, research gaps and deployment checks.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Every member should explain the method and results in their own words.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28</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concise panel answers</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Question</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Answer to practice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Is it fully secure?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Six audit findings remain open. Full security acceptance is incomplete.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Why separate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Available alone does not establish a recent passing checklist.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What proves it works?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Tests and workflow demos support local functionality. UAT remains separate.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Who verifies repairs?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assigned Custodian, independent of the repairer and external handler.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Show the supporting evidence immediately after answering.</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29</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Staffing and operational feasibility</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Situation</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Current workflow response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One mechanic and one Custodian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mechanic repairs. The Custodian independently verifies.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Mechanic unavailable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Admin assigns another qualified mechanic or repair work waits.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Custodian unavailable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Admin reassigns to another Custodian or verification waits.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One person holds both roles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That person cannot verify their own repairs.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The Admin cannot use impersonation to perform work under an absent employee's name.</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30</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the Custodian is absent</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Step</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Action and expected result</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Starting case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Metro EMS Ambulance waits for Precious to verify Jake's repair.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Admin action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Reassign the ticket Custodian to Justine Mae Belia.</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Replacement action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Justine uses her own account and independently verifies the work.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Restriction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Precious loses the assignment. Jake cannot verify his own repair.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Use a separate rehearsal branch if you already closed the Metro ticket.</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31</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Practical impact and scope</a:t>
            </a:r>
            <a:endParaRPr lang="en-US" sz="3300" b="1">
              <a:solidFill>
                <a:srgbClr val="10233F"/>
              </a:solidFill>
              <a:latin typeface="Arial" panose="020B0604020202020204" pitchFamily="34" charset="0"/>
              <a:cs typeface="Arial" panose="020B0604020202020204" pitchFamily="34" charset="0"/>
            </a:endParaRPr>
          </a:p>
        </p:txBody>
      </p:sp>
      <p:pic>
        <p:nvPicPr>
          <p:cNvPr id="3" name="Picture 2" descr="ambulance-02-sprinter"/>
          <p:cNvPicPr>
            <a:picLocks noChangeAspect="1"/>
          </p:cNvPicPr>
          <p:nvPr/>
        </p:nvPicPr>
        <p:blipFill>
          <a:blip r:embed="rId1"/>
          <a:stretch>
            <a:fillRect/>
          </a:stretch>
        </p:blipFill>
        <p:spPr>
          <a:xfrm>
            <a:off x="7537450" y="1803400"/>
            <a:ext cx="3937000" cy="3937000"/>
          </a:xfrm>
          <a:prstGeom prst="rect">
            <a:avLst/>
          </a:prstGeom>
        </p:spPr>
      </p:pic>
      <p:sp>
        <p:nvSpPr>
          <p:cNvPr id="4" name="Text 3"/>
          <p:cNvSpPr txBox="1"/>
          <p:nvPr/>
        </p:nvSpPr>
        <p:spPr>
          <a:xfrm>
            <a:off x="7454900" y="5930900"/>
            <a:ext cx="4102100" cy="317500"/>
          </a:xfrm>
          <a:prstGeom prst="rect">
            <a:avLst/>
          </a:prstGeom>
          <a:noFill/>
        </p:spPr>
        <p:txBody>
          <a:bodyPr wrap="square" lIns="0" tIns="0" rIns="0" bIns="0" rtlCol="0" anchor="t">
            <a:noAutofit/>
          </a:bodyPr>
          <a:p>
            <a:pPr>
              <a:spcAft>
                <a:spcPts val="0"/>
              </a:spcAft>
            </a:pPr>
            <a:r>
              <a:rPr lang="en-US" sz="1300">
                <a:solidFill>
                  <a:srgbClr val="53647A"/>
                </a:solidFill>
                <a:latin typeface="Arial" panose="020B0604020202020204" pitchFamily="34" charset="0"/>
                <a:cs typeface="Arial" panose="020B0604020202020204" pitchFamily="34" charset="0"/>
              </a:rPr>
              <a:t>Illustrative vehicle mockup</a:t>
            </a:r>
            <a:endParaRPr lang="en-US" sz="13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635000" y="16383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Intended benefit</a:t>
            </a:r>
            <a:endParaRPr lang="en-US" sz="1900" b="1">
              <a:solidFill>
                <a:srgbClr val="245FEA"/>
              </a:solidFill>
              <a:latin typeface="Arial" panose="020B0604020202020204" pitchFamily="34" charset="0"/>
              <a:cs typeface="Arial" panose="020B0604020202020204" pitchFamily="34" charset="0"/>
            </a:endParaRPr>
          </a:p>
        </p:txBody>
      </p:sp>
      <p:sp>
        <p:nvSpPr>
          <p:cNvPr id="6" name="Text 5"/>
          <p:cNvSpPr txBox="1"/>
          <p:nvPr/>
        </p:nvSpPr>
        <p:spPr>
          <a:xfrm>
            <a:off x="635000" y="20574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Traceable maintenance work and clearer readiness information for barangay staff.</a:t>
            </a:r>
            <a:endParaRPr lang="en-US" sz="20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30480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Adoption requirements</a:t>
            </a:r>
            <a:endParaRPr lang="en-US" sz="1900" b="1">
              <a:solidFill>
                <a:srgbClr val="245FEA"/>
              </a:solidFill>
              <a:latin typeface="Arial" panose="020B0604020202020204" pitchFamily="34" charset="0"/>
              <a:cs typeface="Arial" panose="020B0604020202020204" pitchFamily="34" charset="0"/>
            </a:endParaRPr>
          </a:p>
        </p:txBody>
      </p:sp>
      <p:sp>
        <p:nvSpPr>
          <p:cNvPr id="8" name="Text 7"/>
          <p:cNvSpPr txBox="1"/>
          <p:nvPr/>
        </p:nvSpPr>
        <p:spPr>
          <a:xfrm>
            <a:off x="635000" y="34671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Connectivity, suitable devices, training, support ownership and backup staff.</a:t>
            </a:r>
            <a:endParaRPr lang="en-US" sz="20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35000" y="44577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Current scope</a:t>
            </a:r>
            <a:endParaRPr lang="en-US" sz="1900" b="1">
              <a:solidFill>
                <a:srgbClr val="245FEA"/>
              </a:solidFill>
              <a:latin typeface="Arial" panose="020B0604020202020204" pitchFamily="34" charset="0"/>
              <a:cs typeface="Arial" panose="020B0604020202020204" pitchFamily="34" charset="0"/>
            </a:endParaRPr>
          </a:p>
        </p:txBody>
      </p:sp>
      <p:sp>
        <p:nvSpPr>
          <p:cNvPr id="10" name="Text 9"/>
          <p:cNvSpPr txBox="1"/>
          <p:nvPr/>
        </p:nvSpPr>
        <p:spPr>
          <a:xfrm>
            <a:off x="635000" y="48768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Fleet readiness and maintenance. Dispatch, compliance expiry and mileage planning remain outside scope.</a:t>
            </a:r>
            <a:endParaRPr lang="en-US" sz="2000">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32</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an ambulance preventive service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Role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Action and expected result</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Jake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Open his unconverted INEM schedule and choose Mark as Done.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Work record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Record the simulated service. The ledger entry awaits verification.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Custodian and Admin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Complete standalone-record verification and confirmation.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Follow-up</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the next monthly occurrence and preserved maintenance evidence.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Complete this before running schedule-to-ticket conversion in the full-system demo.</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33</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Work required before acceptance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655955">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Priority</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Deliverable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1. Known defects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Fix the six findings and retain tests that reject the failures.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2. Research foundation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Verify the local problem, literature synthesis and actual method.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3. User evaluation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Collect representative task results and feedback.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4. Deployment evidence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Demonstrate storage, persistence, restore and failure recovery.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5. Defense package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Align the manuscript, citations, permissions and AI disclosure.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The prototype has technical evidence. Research and deployment acceptance still need evidence.</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34</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evidence for closing one finding</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Stage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What the team should produce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Before the fix</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 regression test reproducing the unauthorized file-signing case.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Implementation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Parent-record authorization on every signing path.</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After the fix</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Unsafe access refused and legitimate authorized downloads still working.</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Acceptance record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Test evidence, reviewer and revision before changing the audit status.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Proposed closure procedure. The current review still lists AUD-24-01 as open.</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35</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Evidence and references</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676400"/>
            <a:ext cx="2984500" cy="8890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Technical evidence</a:t>
            </a:r>
            <a:endParaRPr lang="en-US" sz="19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3937000" y="1676400"/>
            <a:ext cx="7493000" cy="952500"/>
          </a:xfrm>
          <a:prstGeom prst="rect">
            <a:avLst/>
          </a:prstGeom>
          <a:noFill/>
        </p:spPr>
        <p:txBody>
          <a:bodyPr wrap="square" lIns="0" tIns="0" rIns="0" bIns="0" rtlCol="0" anchor="t">
            <a:noAutofit/>
          </a:bodyPr>
          <a:p>
            <a:pPr>
              <a:spcAft>
                <a:spcPts val="0"/>
              </a:spcAft>
            </a:pPr>
            <a:r>
              <a:rPr lang="en-US">
                <a:solidFill>
                  <a:srgbClr val="10233F"/>
                </a:solidFill>
                <a:latin typeface="Arial" panose="020B0604020202020204" pitchFamily="34" charset="0"/>
                <a:cs typeface="Arial" panose="020B0604020202020204" pitchFamily="34" charset="0"/>
              </a:rPr>
              <a:t>Sample-Data.md: setup reproduction and 489-test result
backend-api/tests/Feature/: workflow and failure tests</a:t>
            </a:r>
            <a:endParaRPr lang="en-US">
              <a:solidFill>
                <a:srgbClr val="10233F"/>
              </a:solidFill>
              <a:latin typeface="Arial" panose="020B0604020202020204" pitchFamily="34" charset="0"/>
              <a:cs typeface="Arial" panose="020B0604020202020204" pitchFamily="34" charset="0"/>
            </a:endParaRPr>
          </a:p>
        </p:txBody>
      </p:sp>
      <p:sp>
        <p:nvSpPr>
          <p:cNvPr id="5" name="Text 4"/>
          <p:cNvSpPr txBox="1"/>
          <p:nvPr/>
        </p:nvSpPr>
        <p:spPr>
          <a:xfrm>
            <a:off x="635000" y="2844800"/>
            <a:ext cx="2984500" cy="8890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Current limitations</a:t>
            </a:r>
            <a:endParaRPr lang="en-US" sz="1900" b="1">
              <a:solidFill>
                <a:srgbClr val="245FEA"/>
              </a:solidFill>
              <a:latin typeface="Arial" panose="020B0604020202020204" pitchFamily="34" charset="0"/>
              <a:cs typeface="Arial" panose="020B0604020202020204" pitchFamily="34" charset="0"/>
            </a:endParaRPr>
          </a:p>
        </p:txBody>
      </p:sp>
      <p:sp>
        <p:nvSpPr>
          <p:cNvPr id="6" name="Text 5"/>
          <p:cNvSpPr txBox="1"/>
          <p:nvPr/>
        </p:nvSpPr>
        <p:spPr>
          <a:xfrm>
            <a:off x="3937000" y="2844800"/>
            <a:ext cx="7493000" cy="952500"/>
          </a:xfrm>
          <a:prstGeom prst="rect">
            <a:avLst/>
          </a:prstGeom>
          <a:noFill/>
        </p:spPr>
        <p:txBody>
          <a:bodyPr wrap="square" lIns="0" tIns="0" rIns="0" bIns="0" rtlCol="0" anchor="t">
            <a:noAutofit/>
          </a:bodyPr>
          <a:p>
            <a:pPr>
              <a:spcAft>
                <a:spcPts val="0"/>
              </a:spcAft>
            </a:pPr>
            <a:r>
              <a:rPr lang="en-US">
                <a:solidFill>
                  <a:srgbClr val="10233F"/>
                </a:solidFill>
                <a:latin typeface="Arial" panose="020B0604020202020204" pitchFamily="34" charset="0"/>
                <a:cs typeface="Arial" panose="020B0604020202020204" pitchFamily="34" charset="0"/>
              </a:rPr>
              <a:t>System-Audit-2026-10-24.md: six open findings
Must-Haves.md: outstanding acceptance criteria</a:t>
            </a:r>
            <a:endParaRPr lang="en-US">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4013200"/>
            <a:ext cx="2984500" cy="8890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Design references</a:t>
            </a:r>
            <a:endParaRPr lang="en-US" sz="1900" b="1">
              <a:solidFill>
                <a:srgbClr val="245FEA"/>
              </a:solidFill>
              <a:latin typeface="Arial" panose="020B0604020202020204" pitchFamily="34" charset="0"/>
              <a:cs typeface="Arial" panose="020B0604020202020204" pitchFamily="34" charset="0"/>
            </a:endParaRPr>
          </a:p>
        </p:txBody>
      </p:sp>
      <p:sp>
        <p:nvSpPr>
          <p:cNvPr id="8" name="Text 7"/>
          <p:cNvSpPr txBox="1"/>
          <p:nvPr/>
        </p:nvSpPr>
        <p:spPr>
          <a:xfrm>
            <a:off x="3937000" y="4013200"/>
            <a:ext cx="7493000" cy="952500"/>
          </a:xfrm>
          <a:prstGeom prst="rect">
            <a:avLst/>
          </a:prstGeom>
          <a:noFill/>
        </p:spPr>
        <p:txBody>
          <a:bodyPr wrap="square" lIns="0" tIns="0" rIns="0" bIns="0" rtlCol="0" anchor="t">
            <a:noAutofit/>
          </a:bodyPr>
          <a:p>
            <a:pPr>
              <a:spcAft>
                <a:spcPts val="0"/>
              </a:spcAft>
            </a:pPr>
            <a:r>
              <a:rPr lang="en-US">
                <a:solidFill>
                  <a:srgbClr val="10233F"/>
                </a:solidFill>
                <a:latin typeface="Arial" panose="020B0604020202020204" pitchFamily="34" charset="0"/>
                <a:cs typeface="Arial" panose="020B0604020202020204" pitchFamily="34" charset="0"/>
              </a:rPr>
              <a:t>README.md, Documentation.md and System-Capabilities.md
Architecture, ERD and use-case diagrams</a:t>
            </a:r>
            <a:endParaRPr lang="en-US">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35000" y="5181600"/>
            <a:ext cx="2984500" cy="8890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Privacy source</a:t>
            </a:r>
            <a:endParaRPr lang="en-US" sz="1900" b="1">
              <a:solidFill>
                <a:srgbClr val="245FEA"/>
              </a:solidFill>
              <a:latin typeface="Arial" panose="020B0604020202020204" pitchFamily="34" charset="0"/>
              <a:cs typeface="Arial" panose="020B0604020202020204" pitchFamily="34" charset="0"/>
            </a:endParaRPr>
          </a:p>
        </p:txBody>
      </p:sp>
      <p:sp>
        <p:nvSpPr>
          <p:cNvPr id="10" name="Text 9"/>
          <p:cNvSpPr txBox="1"/>
          <p:nvPr/>
        </p:nvSpPr>
        <p:spPr>
          <a:xfrm>
            <a:off x="3937000" y="5181600"/>
            <a:ext cx="7493000" cy="952500"/>
          </a:xfrm>
          <a:prstGeom prst="rect">
            <a:avLst/>
          </a:prstGeom>
          <a:noFill/>
        </p:spPr>
        <p:txBody>
          <a:bodyPr wrap="square" lIns="0" tIns="0" rIns="0" bIns="0" rtlCol="0" anchor="t">
            <a:noAutofit/>
          </a:bodyPr>
          <a:p>
            <a:pPr>
              <a:spcAft>
                <a:spcPts val="0"/>
              </a:spcAft>
            </a:pPr>
            <a:r>
              <a:rPr lang="en-US">
                <a:solidFill>
                  <a:srgbClr val="10233F"/>
                </a:solidFill>
                <a:latin typeface="Arial" panose="020B0604020202020204" pitchFamily="34" charset="0"/>
                <a:cs typeface="Arial" panose="020B0604020202020204" pitchFamily="34" charset="0"/>
              </a:rPr>
              <a:t>National Privacy Commission, Republic Act No. 10173
privacy.gov.ph/data-privacy-act/</a:t>
            </a:r>
            <a:endParaRPr lang="en-US">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36</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Example: finding evidence during questions</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048000"/>
                <a:gridCol w="7874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Panel claim</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Open this evidence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demo is repeatable.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VMS Docs/Sample-Data.md and the setup/sample tests.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Six findings remain open.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VMS Docs/System-Audit-2026-10-24.md.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Admin cannot impersonate staff.</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backend-api/config/permissions.php: impersonation.start.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Privacy requires lawful processing.</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National Privacy Commission: privacy.gov.ph/data-privacy-act/.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Open these references before presenting and check the revision/date.</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37</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16227</Words>
  <Application>WPS Presentation</Application>
  <PresentationFormat>Widescreen</PresentationFormat>
  <Paragraphs>950</Paragraphs>
  <Slides>37</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37</vt:i4>
      </vt:variant>
    </vt:vector>
  </HeadingPairs>
  <TitlesOfParts>
    <vt:vector size="43" baseType="lpstr">
      <vt:lpstr>Arial</vt:lpstr>
      <vt:lpstr>SimSun</vt:lpstr>
      <vt:lpstr>Wingdings</vt:lpstr>
      <vt:lpstr>Wingdings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acer</dc:creator>
  <cp:lastModifiedBy>acer</cp:lastModifiedBy>
  <cp:revision>2</cp:revision>
  <dcterms:created xsi:type="dcterms:W3CDTF">2026-10-23T18:26:00Z</dcterms:created>
  <dcterms:modified xsi:type="dcterms:W3CDTF">2026-10-23T18:42:08Z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36D058715CF748328FD1910B2A497F97_13</vt:lpwstr>
  </property>
</Properties>
</file>
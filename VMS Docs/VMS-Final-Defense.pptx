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A6F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0B2A6F"/>
                </a:solidFill>
                <a:latin typeface="Calibri"/>
              </a:rPr>
              <a:t>Automated tests by area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2A6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Input rules and other</c:v>
                  </c:pt>
                  <c:pt idx="1">
                    <c:v>Schedules and notifications</c:v>
                  </c:pt>
                  <c:pt idx="2">
                    <c:v>Accounts and registration</c:v>
                  </c:pt>
                  <c:pt idx="3">
                    <c:v>Roles, permissions and access</c:v>
                  </c:pt>
                  <c:pt idx="4">
                    <c:v>Ticket workflow and verification</c:v>
                  </c:pt>
                  <c:pt idx="5">
                    <c:v>Fleet and vehicles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34</c:v>
                </c:pt>
                <c:pt idx="2">
                  <c:v>67</c:v>
                </c:pt>
                <c:pt idx="3">
                  <c:v>70</c:v>
                </c:pt>
                <c:pt idx="4">
                  <c:v>92</c:v>
                </c:pt>
                <c:pt idx="5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2A6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One sentence on what VMS is: it keeps a barangay's ambulances, fire trucks and rescue boats ready to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the vehicles are only useful if they are ready, and readiness is a maintenance and accountability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problems, each answered later by a module in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general objective and four specific objectives. The results slide maps each one to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tracks availability, not live dispatch. Keep the limits explicit so they are not mistaken for omissions.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benefits and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was iterative. Between the build and now, five written reviews found and closed real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request passes the same middleware chain. Multi-tenancy: every record carries a barangay id and queries are scoped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Mainstream, well-documented tools: easy to maintain after turnover.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belongs only to the assigned Custodian. Admin is not a fallback verifier.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ticket starts as a Custodian proposal. Admin approval makes it live. The mechanic logging the last repair moves it to verification automatically. Only the assigned Custodian can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entities grouped by purpose. Key relationship: issue report to ticket to sub-issues to archive log; vehicles tie everything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come from the project: migrations, route list, permission map and the test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running system with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running system with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running system with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running system with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running system with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is the most sensitive entry point, so it has three independent gates. The account stays inactive until a human approves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counts by area are grouped from the test classes. They cover the rules that matter most: who may do what, and what each barangay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specific objective is matched to what was built and to automated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limits; each has a clear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with the problem statement: visibility, follow-through,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1"/>
          <p:cNvSpPr/>
          <p:nvPr/>
        </p:nvSpPr>
        <p:spPr>
          <a:xfrm>
            <a:off x="7315200" y="640080"/>
            <a:ext cx="5120640" cy="5120640"/>
          </a:xfrm>
          <a:prstGeom prst="ellipse">
            <a:avLst/>
          </a:prstGeom>
          <a:solidFill>
            <a:srgbClr val="1D4ED8">
              <a:alpha val="4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bg2"/>
          <p:cNvSpPr/>
          <p:nvPr/>
        </p:nvSpPr>
        <p:spPr>
          <a:xfrm>
            <a:off x="8138160" y="1463040"/>
            <a:ext cx="3474720" cy="34747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60A5FA"/>
            </a:solidFill>
            <a:prstDash val="solid"/>
          </a:ln>
        </p:spPr>
      </p:sp>
      <p:pic>
        <p:nvPicPr>
          <p:cNvPr id="4" name="icoAm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240280"/>
            <a:ext cx="1920240" cy="1920240"/>
          </a:xfrm>
          <a:prstGeom prst="rect">
            <a:avLst/>
          </a:prstGeom>
        </p:spPr>
      </p:pic>
      <p:sp>
        <p:nvSpPr>
          <p:cNvPr id="5" name="bg3"/>
          <p:cNvSpPr/>
          <p:nvPr/>
        </p:nvSpPr>
        <p:spPr>
          <a:xfrm>
            <a:off x="6949440" y="4572000"/>
            <a:ext cx="1371600" cy="1371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6" name="icoTru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892040"/>
            <a:ext cx="731520" cy="731520"/>
          </a:xfrm>
          <a:prstGeom prst="rect">
            <a:avLst/>
          </a:prstGeom>
        </p:spPr>
      </p:pic>
      <p:sp>
        <p:nvSpPr>
          <p:cNvPr id="7" name="bg4"/>
          <p:cNvSpPr/>
          <p:nvPr/>
        </p:nvSpPr>
        <p:spPr>
          <a:xfrm>
            <a:off x="10607040" y="4297680"/>
            <a:ext cx="1371600" cy="1371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8" name="icoShi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4617720"/>
            <a:ext cx="731520" cy="731520"/>
          </a:xfrm>
          <a:prstGeom prst="rect">
            <a:avLst/>
          </a:prstGeom>
        </p:spPr>
      </p:pic>
      <p:sp>
        <p:nvSpPr>
          <p:cNvPr id="9" name="chip"/>
          <p:cNvSpPr/>
          <p:nvPr/>
        </p:nvSpPr>
        <p:spPr>
          <a:xfrm>
            <a:off x="731520" y="1097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chipT"/>
          <p:cNvSpPr txBox="1"/>
          <p:nvPr/>
        </p:nvSpPr>
        <p:spPr>
          <a:xfrm>
            <a:off x="7315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1400" dirty="0"/>
          </a:p>
        </p:txBody>
      </p:sp>
      <p:sp>
        <p:nvSpPr>
          <p:cNvPr id="11" name="mainTitle"/>
          <p:cNvSpPr txBox="1"/>
          <p:nvPr/>
        </p:nvSpPr>
        <p:spPr>
          <a:xfrm>
            <a:off x="731520" y="18288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 Vehicle Management System</a:t>
            </a:r>
            <a:endParaRPr lang="en-US" sz="4800" dirty="0"/>
          </a:p>
        </p:txBody>
      </p:sp>
      <p:sp>
        <p:nvSpPr>
          <p:cNvPr id="12" name="subTitle"/>
          <p:cNvSpPr txBox="1"/>
          <p:nvPr/>
        </p:nvSpPr>
        <p:spPr>
          <a:xfrm>
            <a:off x="731520" y="4343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fleet readiness and maintenance system for barangay emergency vehicles</a:t>
            </a:r>
            <a:endParaRPr lang="en-US" sz="2000" dirty="0"/>
          </a:p>
        </p:txBody>
      </p:sp>
      <p:sp>
        <p:nvSpPr>
          <p:cNvPr id="13" name="foot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 VMS  ·  2026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3800" dirty="0"/>
          </a:p>
        </p:txBody>
      </p:sp>
      <p:sp>
        <p:nvSpPr>
          <p:cNvPr id="3" name="bgCard"/>
          <p:cNvSpPr/>
          <p:nvPr/>
        </p:nvSpPr>
        <p:spPr>
          <a:xfrm>
            <a:off x="640080" y="1554480"/>
            <a:ext cx="6583680" cy="448056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bgT"/>
          <p:cNvSpPr txBox="1"/>
          <p:nvPr/>
        </p:nvSpPr>
        <p:spPr>
          <a:xfrm>
            <a:off x="1005840" y="1828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depends on vehicles that are ready.</a:t>
            </a:r>
            <a:endParaRPr lang="en-US" sz="2600" dirty="0"/>
          </a:p>
        </p:txBody>
      </p:sp>
      <p:sp>
        <p:nvSpPr>
          <p:cNvPr id="5" name="bgB"/>
          <p:cNvSpPr txBox="1"/>
          <p:nvPr/>
        </p:nvSpPr>
        <p:spPr>
          <a:xfrm>
            <a:off x="1005840" y="310896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Barangays operate ambulances, fire trucks and rescue boats.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depends on timely reporting, repair and checking of every problem.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system, this work lives in memory, chat messages and paper.</a:t>
            </a:r>
            <a:endParaRPr lang="en-US" sz="1800" dirty="0"/>
          </a:p>
        </p:txBody>
      </p:sp>
      <p:sp>
        <p:nvSpPr>
          <p:cNvPr id="6" name="vc0"/>
          <p:cNvSpPr/>
          <p:nvPr/>
        </p:nvSpPr>
        <p:spPr>
          <a:xfrm>
            <a:off x="7680960" y="1554480"/>
            <a:ext cx="3840480" cy="1371600"/>
          </a:xfrm>
          <a:prstGeom prst="roundRect">
            <a:avLst>
              <a:gd name="adj" fmla="val 9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7" name="vd0"/>
          <p:cNvSpPr/>
          <p:nvPr/>
        </p:nvSpPr>
        <p:spPr>
          <a:xfrm>
            <a:off x="8001000" y="187452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8" name="v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057400"/>
            <a:ext cx="365760" cy="365760"/>
          </a:xfrm>
          <a:prstGeom prst="rect">
            <a:avLst/>
          </a:prstGeom>
        </p:spPr>
      </p:pic>
      <p:sp>
        <p:nvSpPr>
          <p:cNvPr id="9" name="vt0"/>
          <p:cNvSpPr txBox="1"/>
          <p:nvPr/>
        </p:nvSpPr>
        <p:spPr>
          <a:xfrm>
            <a:off x="900684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</a:t>
            </a:r>
            <a:endParaRPr lang="en-US" sz="2200" dirty="0"/>
          </a:p>
        </p:txBody>
      </p:sp>
      <p:sp>
        <p:nvSpPr>
          <p:cNvPr id="10" name="vc1"/>
          <p:cNvSpPr/>
          <p:nvPr/>
        </p:nvSpPr>
        <p:spPr>
          <a:xfrm>
            <a:off x="7680960" y="3108960"/>
            <a:ext cx="3840480" cy="1371600"/>
          </a:xfrm>
          <a:prstGeom prst="roundRect">
            <a:avLst>
              <a:gd name="adj" fmla="val 9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1" name="vd1"/>
          <p:cNvSpPr/>
          <p:nvPr/>
        </p:nvSpPr>
        <p:spPr>
          <a:xfrm>
            <a:off x="8001000" y="342900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2" name="v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611880"/>
            <a:ext cx="365760" cy="365760"/>
          </a:xfrm>
          <a:prstGeom prst="rect">
            <a:avLst/>
          </a:prstGeom>
        </p:spPr>
      </p:pic>
      <p:sp>
        <p:nvSpPr>
          <p:cNvPr id="13" name="vt1"/>
          <p:cNvSpPr txBox="1"/>
          <p:nvPr/>
        </p:nvSpPr>
        <p:spPr>
          <a:xfrm>
            <a:off x="900684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trucks</a:t>
            </a:r>
            <a:endParaRPr lang="en-US" sz="2200" dirty="0"/>
          </a:p>
        </p:txBody>
      </p:sp>
      <p:sp>
        <p:nvSpPr>
          <p:cNvPr id="14" name="vc2"/>
          <p:cNvSpPr/>
          <p:nvPr/>
        </p:nvSpPr>
        <p:spPr>
          <a:xfrm>
            <a:off x="7680960" y="4663440"/>
            <a:ext cx="3840480" cy="1371600"/>
          </a:xfrm>
          <a:prstGeom prst="roundRect">
            <a:avLst>
              <a:gd name="adj" fmla="val 9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5" name="vd2"/>
          <p:cNvSpPr/>
          <p:nvPr/>
        </p:nvSpPr>
        <p:spPr>
          <a:xfrm>
            <a:off x="8001000" y="498348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6" name="v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166360"/>
            <a:ext cx="365760" cy="365760"/>
          </a:xfrm>
          <a:prstGeom prst="rect">
            <a:avLst/>
          </a:prstGeom>
        </p:spPr>
      </p:pic>
      <p:sp>
        <p:nvSpPr>
          <p:cNvPr id="17" name="vt2"/>
          <p:cNvSpPr txBox="1"/>
          <p:nvPr/>
        </p:nvSpPr>
        <p:spPr>
          <a:xfrm>
            <a:off x="9006840" y="4983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boats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3800" dirty="0"/>
          </a:p>
        </p:txBody>
      </p:sp>
      <p:sp>
        <p:nvSpPr>
          <p:cNvPr id="3" name="pc0"/>
          <p:cNvSpPr/>
          <p:nvPr/>
        </p:nvSpPr>
        <p:spPr>
          <a:xfrm>
            <a:off x="640080" y="16459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pd0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" name="p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176272"/>
            <a:ext cx="402336" cy="402336"/>
          </a:xfrm>
          <a:prstGeom prst="rect">
            <a:avLst/>
          </a:prstGeom>
        </p:spPr>
      </p:pic>
      <p:sp>
        <p:nvSpPr>
          <p:cNvPr id="6" name="ph0"/>
          <p:cNvSpPr txBox="1"/>
          <p:nvPr/>
        </p:nvSpPr>
        <p:spPr>
          <a:xfrm>
            <a:off x="91440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readiness</a:t>
            </a:r>
            <a:endParaRPr lang="en-US" sz="2000" dirty="0"/>
          </a:p>
        </p:txBody>
      </p:sp>
      <p:sp>
        <p:nvSpPr>
          <p:cNvPr id="7" name="pb0"/>
          <p:cNvSpPr txBox="1"/>
          <p:nvPr/>
        </p:nvSpPr>
        <p:spPr>
          <a:xfrm>
            <a:off x="91440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cannot tell at a glance which vehicles can respond right now.</a:t>
            </a:r>
            <a:endParaRPr lang="en-US" sz="1600" dirty="0"/>
          </a:p>
        </p:txBody>
      </p:sp>
      <p:sp>
        <p:nvSpPr>
          <p:cNvPr id="8" name="pc1"/>
          <p:cNvSpPr/>
          <p:nvPr/>
        </p:nvSpPr>
        <p:spPr>
          <a:xfrm>
            <a:off x="3429000" y="16459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pd1"/>
          <p:cNvSpPr/>
          <p:nvPr/>
        </p:nvSpPr>
        <p:spPr>
          <a:xfrm>
            <a:off x="3703320" y="1965960"/>
            <a:ext cx="822960" cy="822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p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176272"/>
            <a:ext cx="402336" cy="402336"/>
          </a:xfrm>
          <a:prstGeom prst="rect">
            <a:avLst/>
          </a:prstGeom>
        </p:spPr>
      </p:pic>
      <p:sp>
        <p:nvSpPr>
          <p:cNvPr id="11" name="ph1"/>
          <p:cNvSpPr txBox="1"/>
          <p:nvPr/>
        </p:nvSpPr>
        <p:spPr>
          <a:xfrm>
            <a:off x="370332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get lost</a:t>
            </a:r>
            <a:endParaRPr lang="en-US" sz="2000" dirty="0"/>
          </a:p>
        </p:txBody>
      </p:sp>
      <p:sp>
        <p:nvSpPr>
          <p:cNvPr id="12" name="pb1"/>
          <p:cNvSpPr txBox="1"/>
          <p:nvPr/>
        </p:nvSpPr>
        <p:spPr>
          <a:xfrm>
            <a:off x="370332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reported informally, with no owner and no follow-up.</a:t>
            </a:r>
            <a:endParaRPr lang="en-US" sz="1600" dirty="0"/>
          </a:p>
        </p:txBody>
      </p:sp>
      <p:sp>
        <p:nvSpPr>
          <p:cNvPr id="13" name="pc2"/>
          <p:cNvSpPr/>
          <p:nvPr/>
        </p:nvSpPr>
        <p:spPr>
          <a:xfrm>
            <a:off x="6217920" y="16459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4" name="pd2"/>
          <p:cNvSpPr/>
          <p:nvPr/>
        </p:nvSpPr>
        <p:spPr>
          <a:xfrm>
            <a:off x="6492240" y="1965960"/>
            <a:ext cx="822960" cy="822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p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176272"/>
            <a:ext cx="402336" cy="402336"/>
          </a:xfrm>
          <a:prstGeom prst="rect">
            <a:avLst/>
          </a:prstGeom>
        </p:spPr>
      </p:pic>
      <p:sp>
        <p:nvSpPr>
          <p:cNvPr id="16" name="ph2"/>
          <p:cNvSpPr txBox="1"/>
          <p:nvPr/>
        </p:nvSpPr>
        <p:spPr>
          <a:xfrm>
            <a:off x="64922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responsibility</a:t>
            </a:r>
            <a:endParaRPr lang="en-US" sz="2000" dirty="0"/>
          </a:p>
        </p:txBody>
      </p:sp>
      <p:sp>
        <p:nvSpPr>
          <p:cNvPr id="17" name="pb2"/>
          <p:cNvSpPr txBox="1"/>
          <p:nvPr/>
        </p:nvSpPr>
        <p:spPr>
          <a:xfrm>
            <a:off x="649224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hard to prove who reported, approved, repaired and checked a fix.</a:t>
            </a:r>
            <a:endParaRPr lang="en-US" sz="1600" dirty="0"/>
          </a:p>
        </p:txBody>
      </p:sp>
      <p:sp>
        <p:nvSpPr>
          <p:cNvPr id="18" name="pc3"/>
          <p:cNvSpPr/>
          <p:nvPr/>
        </p:nvSpPr>
        <p:spPr>
          <a:xfrm>
            <a:off x="9006840" y="1645920"/>
            <a:ext cx="2606040" cy="4023360"/>
          </a:xfrm>
          <a:prstGeom prst="roundRect">
            <a:avLst>
              <a:gd name="adj" fmla="val 49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9" name="pd3"/>
          <p:cNvSpPr/>
          <p:nvPr/>
        </p:nvSpPr>
        <p:spPr>
          <a:xfrm>
            <a:off x="9281160" y="1965960"/>
            <a:ext cx="822960" cy="822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0" name="pi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176272"/>
            <a:ext cx="402336" cy="402336"/>
          </a:xfrm>
          <a:prstGeom prst="rect">
            <a:avLst/>
          </a:prstGeom>
        </p:spPr>
      </p:pic>
      <p:sp>
        <p:nvSpPr>
          <p:cNvPr id="21" name="ph3"/>
          <p:cNvSpPr txBox="1"/>
          <p:nvPr/>
        </p:nvSpPr>
        <p:spPr>
          <a:xfrm>
            <a:off x="928116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Upkeep is reactive</a:t>
            </a:r>
            <a:endParaRPr lang="en-US" sz="2000" dirty="0"/>
          </a:p>
        </p:txBody>
      </p:sp>
      <p:sp>
        <p:nvSpPr>
          <p:cNvPr id="22" name="pb3"/>
          <p:cNvSpPr txBox="1"/>
          <p:nvPr/>
        </p:nvSpPr>
        <p:spPr>
          <a:xfrm>
            <a:off x="928116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is not planned or tracked consistently.</a:t>
            </a:r>
            <a:endParaRPr lang="en-US" sz="1600" dirty="0"/>
          </a:p>
        </p:txBody>
      </p:sp>
      <p:sp>
        <p:nvSpPr>
          <p:cNvPr id="23" name="pq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barangay keep its emergency vehicles ready, and prove it?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study</a:t>
            </a:r>
            <a:endParaRPr lang="en-US" sz="3800" dirty="0"/>
          </a:p>
        </p:txBody>
      </p:sp>
      <p:sp>
        <p:nvSpPr>
          <p:cNvPr id="3" name="gen"/>
          <p:cNvSpPr/>
          <p:nvPr/>
        </p:nvSpPr>
        <p:spPr>
          <a:xfrm>
            <a:off x="640080" y="1554480"/>
            <a:ext cx="4206240" cy="4572000"/>
          </a:xfrm>
          <a:prstGeom prst="roundRect">
            <a:avLst>
              <a:gd name="adj" fmla="val 304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genL"/>
          <p:cNvSpPr txBox="1"/>
          <p:nvPr/>
        </p:nvSpPr>
        <p:spPr>
          <a:xfrm>
            <a:off x="9601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400" dirty="0"/>
          </a:p>
        </p:txBody>
      </p:sp>
      <p:sp>
        <p:nvSpPr>
          <p:cNvPr id="5" name="genT"/>
          <p:cNvSpPr txBox="1"/>
          <p:nvPr/>
        </p:nvSpPr>
        <p:spPr>
          <a:xfrm>
            <a:off x="960120" y="2331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 and test a web-based system that keeps a barangay's emergency vehicles ready to respond.</a:t>
            </a:r>
            <a:endParaRPr lang="en-US" sz="2400" dirty="0"/>
          </a:p>
        </p:txBody>
      </p:sp>
      <p:sp>
        <p:nvSpPr>
          <p:cNvPr id="6" name="oc0"/>
          <p:cNvSpPr/>
          <p:nvPr/>
        </p:nvSpPr>
        <p:spPr>
          <a:xfrm>
            <a:off x="5120640" y="1554480"/>
            <a:ext cx="640080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7" name="od0"/>
          <p:cNvSpPr/>
          <p:nvPr/>
        </p:nvSpPr>
        <p:spPr>
          <a:xfrm>
            <a:off x="5349240" y="1773936"/>
            <a:ext cx="585216" cy="5852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on0"/>
          <p:cNvSpPr txBox="1"/>
          <p:nvPr/>
        </p:nvSpPr>
        <p:spPr>
          <a:xfrm>
            <a:off x="5349240" y="1773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ot0"/>
          <p:cNvSpPr txBox="1"/>
          <p:nvPr/>
        </p:nvSpPr>
        <p:spPr>
          <a:xfrm>
            <a:off x="6172200" y="164592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vehicles, locations, conditions and readiness checks.</a:t>
            </a:r>
            <a:endParaRPr lang="en-US" sz="1700" dirty="0"/>
          </a:p>
        </p:txBody>
      </p:sp>
      <p:sp>
        <p:nvSpPr>
          <p:cNvPr id="10" name="oc1"/>
          <p:cNvSpPr/>
          <p:nvPr/>
        </p:nvSpPr>
        <p:spPr>
          <a:xfrm>
            <a:off x="5120640" y="2724912"/>
            <a:ext cx="640080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1" name="od1"/>
          <p:cNvSpPr/>
          <p:nvPr/>
        </p:nvSpPr>
        <p:spPr>
          <a:xfrm>
            <a:off x="5349240" y="2944368"/>
            <a:ext cx="585216" cy="5852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on1"/>
          <p:cNvSpPr txBox="1"/>
          <p:nvPr/>
        </p:nvSpPr>
        <p:spPr>
          <a:xfrm>
            <a:off x="5349240" y="2944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ot1"/>
          <p:cNvSpPr txBox="1"/>
          <p:nvPr/>
        </p:nvSpPr>
        <p:spPr>
          <a:xfrm>
            <a:off x="6172200" y="281635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maintenance ticket lifecycle with approval and independent verification.</a:t>
            </a:r>
            <a:endParaRPr lang="en-US" sz="1700" dirty="0"/>
          </a:p>
        </p:txBody>
      </p:sp>
      <p:sp>
        <p:nvSpPr>
          <p:cNvPr id="14" name="oc2"/>
          <p:cNvSpPr/>
          <p:nvPr/>
        </p:nvSpPr>
        <p:spPr>
          <a:xfrm>
            <a:off x="5120640" y="3895344"/>
            <a:ext cx="640080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5" name="od2"/>
          <p:cNvSpPr/>
          <p:nvPr/>
        </p:nvSpPr>
        <p:spPr>
          <a:xfrm>
            <a:off x="5349240" y="4114800"/>
            <a:ext cx="585216" cy="5852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on2"/>
          <p:cNvSpPr txBox="1"/>
          <p:nvPr/>
        </p:nvSpPr>
        <p:spPr>
          <a:xfrm>
            <a:off x="5349240" y="4114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ot2"/>
          <p:cNvSpPr txBox="1"/>
          <p:nvPr/>
        </p:nvSpPr>
        <p:spPr>
          <a:xfrm>
            <a:off x="6172200" y="398678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 access with each barangay's data kept separate.</a:t>
            </a:r>
            <a:endParaRPr lang="en-US" sz="1700" dirty="0"/>
          </a:p>
        </p:txBody>
      </p:sp>
      <p:sp>
        <p:nvSpPr>
          <p:cNvPr id="18" name="oc3"/>
          <p:cNvSpPr/>
          <p:nvPr/>
        </p:nvSpPr>
        <p:spPr>
          <a:xfrm>
            <a:off x="5120640" y="5065776"/>
            <a:ext cx="640080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9" name="od3"/>
          <p:cNvSpPr/>
          <p:nvPr/>
        </p:nvSpPr>
        <p:spPr>
          <a:xfrm>
            <a:off x="5349240" y="5285232"/>
            <a:ext cx="585216" cy="5852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on3"/>
          <p:cNvSpPr txBox="1"/>
          <p:nvPr/>
        </p:nvSpPr>
        <p:spPr>
          <a:xfrm>
            <a:off x="5349240" y="5285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ot3"/>
          <p:cNvSpPr txBox="1"/>
          <p:nvPr/>
        </p:nvSpPr>
        <p:spPr>
          <a:xfrm>
            <a:off x="6172200" y="515721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preventive maintenance and provide reports and an audit trail.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delimitations</a:t>
            </a:r>
            <a:endParaRPr lang="en-US" sz="3800" dirty="0"/>
          </a:p>
        </p:txBody>
      </p:sp>
      <p:sp>
        <p:nvSpPr>
          <p:cNvPr id="3" name="inC"/>
          <p:cNvSpPr/>
          <p:nvPr/>
        </p:nvSpPr>
        <p:spPr>
          <a:xfrm>
            <a:off x="640080" y="1554480"/>
            <a:ext cx="5486400" cy="4663440"/>
          </a:xfrm>
          <a:prstGeom prst="roundRect">
            <a:avLst>
              <a:gd name="adj" fmla="val 27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inH"/>
          <p:cNvSpPr txBox="1"/>
          <p:nvPr/>
        </p:nvSpPr>
        <p:spPr>
          <a:xfrm>
            <a:off x="9601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scope</a:t>
            </a:r>
            <a:endParaRPr lang="en-US" sz="2400" dirty="0"/>
          </a:p>
        </p:txBody>
      </p:sp>
      <p:pic>
        <p:nvPicPr>
          <p:cNvPr id="5" name="ik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59736"/>
            <a:ext cx="292608" cy="292608"/>
          </a:xfrm>
          <a:prstGeom prst="rect">
            <a:avLst/>
          </a:prstGeom>
        </p:spPr>
      </p:pic>
      <p:sp>
        <p:nvSpPr>
          <p:cNvPr id="6" name="it0"/>
          <p:cNvSpPr txBox="1"/>
          <p:nvPr/>
        </p:nvSpPr>
        <p:spPr>
          <a:xfrm>
            <a:off x="1417320" y="2423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and water vehicle registry</a:t>
            </a:r>
            <a:endParaRPr lang="en-US" sz="1700" dirty="0"/>
          </a:p>
        </p:txBody>
      </p:sp>
      <p:pic>
        <p:nvPicPr>
          <p:cNvPr id="7" name="ik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90088"/>
            <a:ext cx="292608" cy="292608"/>
          </a:xfrm>
          <a:prstGeom prst="rect">
            <a:avLst/>
          </a:prstGeom>
        </p:spPr>
      </p:pic>
      <p:sp>
        <p:nvSpPr>
          <p:cNvPr id="8" name="it1"/>
          <p:cNvSpPr txBox="1"/>
          <p:nvPr/>
        </p:nvSpPr>
        <p:spPr>
          <a:xfrm>
            <a:off x="141732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checks and condition monitoring</a:t>
            </a:r>
            <a:endParaRPr lang="en-US" sz="1700" dirty="0"/>
          </a:p>
        </p:txBody>
      </p:sp>
      <p:pic>
        <p:nvPicPr>
          <p:cNvPr id="9" name="ik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20440"/>
            <a:ext cx="292608" cy="292608"/>
          </a:xfrm>
          <a:prstGeom prst="rect">
            <a:avLst/>
          </a:prstGeom>
        </p:spPr>
      </p:pic>
      <p:sp>
        <p:nvSpPr>
          <p:cNvPr id="10" name="it2"/>
          <p:cNvSpPr txBox="1"/>
          <p:nvPr/>
        </p:nvSpPr>
        <p:spPr>
          <a:xfrm>
            <a:off x="1417320" y="34838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reports and maintenance tickets</a:t>
            </a:r>
            <a:endParaRPr lang="en-US" sz="1700" dirty="0"/>
          </a:p>
        </p:txBody>
      </p:sp>
      <p:pic>
        <p:nvPicPr>
          <p:cNvPr id="11" name="ik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50792"/>
            <a:ext cx="292608" cy="292608"/>
          </a:xfrm>
          <a:prstGeom prst="rect">
            <a:avLst/>
          </a:prstGeom>
        </p:spPr>
      </p:pic>
      <p:sp>
        <p:nvSpPr>
          <p:cNvPr id="12" name="it3"/>
          <p:cNvSpPr txBox="1"/>
          <p:nvPr/>
        </p:nvSpPr>
        <p:spPr>
          <a:xfrm>
            <a:off x="1417320" y="40142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schedules</a:t>
            </a:r>
            <a:endParaRPr lang="en-US" sz="1700" dirty="0"/>
          </a:p>
        </p:txBody>
      </p:sp>
      <p:pic>
        <p:nvPicPr>
          <p:cNvPr id="13" name="ik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81144"/>
            <a:ext cx="292608" cy="292608"/>
          </a:xfrm>
          <a:prstGeom prst="rect">
            <a:avLst/>
          </a:prstGeom>
        </p:spPr>
      </p:pic>
      <p:sp>
        <p:nvSpPr>
          <p:cNvPr id="14" name="it4"/>
          <p:cNvSpPr txBox="1"/>
          <p:nvPr/>
        </p:nvSpPr>
        <p:spPr>
          <a:xfrm>
            <a:off x="1417320" y="45445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location hubs and map</a:t>
            </a:r>
            <a:endParaRPr lang="en-US" sz="1700" dirty="0"/>
          </a:p>
        </p:txBody>
      </p:sp>
      <p:pic>
        <p:nvPicPr>
          <p:cNvPr id="15" name="ik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111496"/>
            <a:ext cx="292608" cy="292608"/>
          </a:xfrm>
          <a:prstGeom prst="rect">
            <a:avLst/>
          </a:prstGeom>
        </p:spPr>
      </p:pic>
      <p:sp>
        <p:nvSpPr>
          <p:cNvPr id="16" name="it5"/>
          <p:cNvSpPr txBox="1"/>
          <p:nvPr/>
        </p:nvSpPr>
        <p:spPr>
          <a:xfrm>
            <a:off x="141732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notifications and activity log</a:t>
            </a:r>
            <a:endParaRPr lang="en-US" sz="1700" dirty="0"/>
          </a:p>
        </p:txBody>
      </p:sp>
      <p:pic>
        <p:nvPicPr>
          <p:cNvPr id="17" name="ik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641848"/>
            <a:ext cx="292608" cy="292608"/>
          </a:xfrm>
          <a:prstGeom prst="rect">
            <a:avLst/>
          </a:prstGeom>
        </p:spPr>
      </p:pic>
      <p:sp>
        <p:nvSpPr>
          <p:cNvPr id="18" name="it6"/>
          <p:cNvSpPr txBox="1"/>
          <p:nvPr/>
        </p:nvSpPr>
        <p:spPr>
          <a:xfrm>
            <a:off x="1417320" y="5605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barangay each</a:t>
            </a:r>
            <a:endParaRPr lang="en-US" sz="1700" dirty="0"/>
          </a:p>
        </p:txBody>
      </p:sp>
      <p:sp>
        <p:nvSpPr>
          <p:cNvPr id="19" name="outC"/>
          <p:cNvSpPr/>
          <p:nvPr/>
        </p:nvSpPr>
        <p:spPr>
          <a:xfrm>
            <a:off x="6355080" y="1554480"/>
            <a:ext cx="5166360" cy="4663440"/>
          </a:xfrm>
          <a:prstGeom prst="roundRect">
            <a:avLst>
              <a:gd name="adj" fmla="val 27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0" name="outH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scope</a:t>
            </a:r>
            <a:endParaRPr lang="en-US" sz="2400" dirty="0"/>
          </a:p>
        </p:txBody>
      </p:sp>
      <p:pic>
        <p:nvPicPr>
          <p:cNvPr id="21" name="ok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459736"/>
            <a:ext cx="292608" cy="292608"/>
          </a:xfrm>
          <a:prstGeom prst="rect">
            <a:avLst/>
          </a:prstGeom>
        </p:spPr>
      </p:pic>
      <p:sp>
        <p:nvSpPr>
          <p:cNvPr id="22" name="ot20"/>
          <p:cNvSpPr txBox="1"/>
          <p:nvPr/>
        </p:nvSpPr>
        <p:spPr>
          <a:xfrm>
            <a:off x="7132320" y="24231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dispatch and GPS tracking</a:t>
            </a:r>
            <a:endParaRPr lang="en-US" sz="1700" dirty="0"/>
          </a:p>
        </p:txBody>
      </p:sp>
      <p:pic>
        <p:nvPicPr>
          <p:cNvPr id="23" name="ok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236976"/>
            <a:ext cx="292608" cy="292608"/>
          </a:xfrm>
          <a:prstGeom prst="rect">
            <a:avLst/>
          </a:prstGeom>
        </p:spPr>
      </p:pic>
      <p:sp>
        <p:nvSpPr>
          <p:cNvPr id="24" name="ot21"/>
          <p:cNvSpPr txBox="1"/>
          <p:nvPr/>
        </p:nvSpPr>
        <p:spPr>
          <a:xfrm>
            <a:off x="7132320" y="3200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Document-compliance tracking</a:t>
            </a:r>
            <a:endParaRPr lang="en-US" sz="1700" dirty="0"/>
          </a:p>
        </p:txBody>
      </p:sp>
      <p:pic>
        <p:nvPicPr>
          <p:cNvPr id="25" name="ok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4014216"/>
            <a:ext cx="292608" cy="292608"/>
          </a:xfrm>
          <a:prstGeom prst="rect">
            <a:avLst/>
          </a:prstGeom>
        </p:spPr>
      </p:pic>
      <p:sp>
        <p:nvSpPr>
          <p:cNvPr id="26" name="ot22"/>
          <p:cNvSpPr txBox="1"/>
          <p:nvPr/>
        </p:nvSpPr>
        <p:spPr>
          <a:xfrm>
            <a:off x="7132320" y="3977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Mileage-based service planning</a:t>
            </a:r>
            <a:endParaRPr lang="en-US" sz="1700" dirty="0"/>
          </a:p>
        </p:txBody>
      </p:sp>
      <p:pic>
        <p:nvPicPr>
          <p:cNvPr id="27" name="ok3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791456"/>
            <a:ext cx="292608" cy="292608"/>
          </a:xfrm>
          <a:prstGeom prst="rect">
            <a:avLst/>
          </a:prstGeom>
        </p:spPr>
      </p:pic>
      <p:sp>
        <p:nvSpPr>
          <p:cNvPr id="28" name="ot23"/>
          <p:cNvSpPr txBox="1"/>
          <p:nvPr/>
        </p:nvSpPr>
        <p:spPr>
          <a:xfrm>
            <a:off x="7132320" y="4754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and self-service password reset (future work)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lang="en-US" sz="3800" dirty="0"/>
          </a:p>
        </p:txBody>
      </p:sp>
      <p:sp>
        <p:nvSpPr>
          <p:cNvPr id="3" name="sc0"/>
          <p:cNvSpPr/>
          <p:nvPr/>
        </p:nvSpPr>
        <p:spPr>
          <a:xfrm>
            <a:off x="640080" y="160020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sd0"/>
          <p:cNvSpPr/>
          <p:nvPr/>
        </p:nvSpPr>
        <p:spPr>
          <a:xfrm>
            <a:off x="1005840" y="1965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" name="s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221992"/>
            <a:ext cx="402336" cy="402336"/>
          </a:xfrm>
          <a:prstGeom prst="rect">
            <a:avLst/>
          </a:prstGeom>
        </p:spPr>
      </p:pic>
      <p:sp>
        <p:nvSpPr>
          <p:cNvPr id="6" name="sh0"/>
          <p:cNvSpPr txBox="1"/>
          <p:nvPr/>
        </p:nvSpPr>
        <p:spPr>
          <a:xfrm>
            <a:off x="224028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 officials</a:t>
            </a:r>
            <a:endParaRPr lang="en-US" sz="2200" dirty="0"/>
          </a:p>
        </p:txBody>
      </p:sp>
      <p:sp>
        <p:nvSpPr>
          <p:cNvPr id="7" name="sb0"/>
          <p:cNvSpPr txBox="1"/>
          <p:nvPr/>
        </p:nvSpPr>
        <p:spPr>
          <a:xfrm>
            <a:off x="224028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fleet readiness and approve work with a complete record.</a:t>
            </a:r>
            <a:endParaRPr lang="en-US" sz="1700" dirty="0"/>
          </a:p>
        </p:txBody>
      </p:sp>
      <p:sp>
        <p:nvSpPr>
          <p:cNvPr id="8" name="sc1"/>
          <p:cNvSpPr/>
          <p:nvPr/>
        </p:nvSpPr>
        <p:spPr>
          <a:xfrm>
            <a:off x="6172200" y="160020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sd1"/>
          <p:cNvSpPr/>
          <p:nvPr/>
        </p:nvSpPr>
        <p:spPr>
          <a:xfrm>
            <a:off x="6537960" y="1965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s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221992"/>
            <a:ext cx="402336" cy="402336"/>
          </a:xfrm>
          <a:prstGeom prst="rect">
            <a:avLst/>
          </a:prstGeom>
        </p:spPr>
      </p:pic>
      <p:sp>
        <p:nvSpPr>
          <p:cNvPr id="11" name="sh1"/>
          <p:cNvSpPr txBox="1"/>
          <p:nvPr/>
        </p:nvSpPr>
        <p:spPr>
          <a:xfrm>
            <a:off x="77724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Custodians</a:t>
            </a:r>
            <a:endParaRPr lang="en-US" sz="2200" dirty="0"/>
          </a:p>
        </p:txBody>
      </p:sp>
      <p:sp>
        <p:nvSpPr>
          <p:cNvPr id="12" name="sb1"/>
          <p:cNvSpPr txBox="1"/>
          <p:nvPr/>
        </p:nvSpPr>
        <p:spPr>
          <a:xfrm>
            <a:off x="777240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reports, tickets and verifications are theirs.</a:t>
            </a:r>
            <a:endParaRPr lang="en-US" sz="1700" dirty="0"/>
          </a:p>
        </p:txBody>
      </p:sp>
      <p:sp>
        <p:nvSpPr>
          <p:cNvPr id="13" name="sc2"/>
          <p:cNvSpPr/>
          <p:nvPr/>
        </p:nvSpPr>
        <p:spPr>
          <a:xfrm>
            <a:off x="640080" y="388620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4" name="sd2"/>
          <p:cNvSpPr/>
          <p:nvPr/>
        </p:nvSpPr>
        <p:spPr>
          <a:xfrm>
            <a:off x="1005840" y="4251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s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507992"/>
            <a:ext cx="402336" cy="402336"/>
          </a:xfrm>
          <a:prstGeom prst="rect">
            <a:avLst/>
          </a:prstGeom>
        </p:spPr>
      </p:pic>
      <p:sp>
        <p:nvSpPr>
          <p:cNvPr id="16" name="sh2"/>
          <p:cNvSpPr txBox="1"/>
          <p:nvPr/>
        </p:nvSpPr>
        <p:spPr>
          <a:xfrm>
            <a:off x="224028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personnel</a:t>
            </a:r>
            <a:endParaRPr lang="en-US" sz="2200" dirty="0"/>
          </a:p>
        </p:txBody>
      </p:sp>
      <p:sp>
        <p:nvSpPr>
          <p:cNvPr id="17" name="sb2"/>
          <p:cNvSpPr txBox="1"/>
          <p:nvPr/>
        </p:nvSpPr>
        <p:spPr>
          <a:xfrm>
            <a:off x="2240280" y="4800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clear work orders and record repairs and parts used.</a:t>
            </a:r>
            <a:endParaRPr lang="en-US" sz="1700" dirty="0"/>
          </a:p>
        </p:txBody>
      </p:sp>
      <p:sp>
        <p:nvSpPr>
          <p:cNvPr id="18" name="sc3"/>
          <p:cNvSpPr/>
          <p:nvPr/>
        </p:nvSpPr>
        <p:spPr>
          <a:xfrm>
            <a:off x="6172200" y="3886200"/>
            <a:ext cx="5349240" cy="205740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9" name="sd3"/>
          <p:cNvSpPr/>
          <p:nvPr/>
        </p:nvSpPr>
        <p:spPr>
          <a:xfrm>
            <a:off x="6537960" y="4251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0" name="si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507992"/>
            <a:ext cx="402336" cy="402336"/>
          </a:xfrm>
          <a:prstGeom prst="rect">
            <a:avLst/>
          </a:prstGeom>
        </p:spPr>
      </p:pic>
      <p:sp>
        <p:nvSpPr>
          <p:cNvPr id="21" name="sh3"/>
          <p:cNvSpPr txBox="1"/>
          <p:nvPr/>
        </p:nvSpPr>
        <p:spPr>
          <a:xfrm>
            <a:off x="777240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2200" dirty="0"/>
          </a:p>
        </p:txBody>
      </p:sp>
      <p:sp>
        <p:nvSpPr>
          <p:cNvPr id="22" name="sb3"/>
          <p:cNvSpPr txBox="1"/>
          <p:nvPr/>
        </p:nvSpPr>
        <p:spPr>
          <a:xfrm>
            <a:off x="7772400" y="4800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emergency vehicles that are ready when needed.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was developed</a:t>
            </a:r>
            <a:endParaRPr lang="en-US" sz="3800" dirty="0"/>
          </a:p>
        </p:txBody>
      </p:sp>
      <p:sp>
        <p:nvSpPr>
          <p:cNvPr id="3" name="tl"/>
          <p:cNvSpPr/>
          <p:nvPr/>
        </p:nvSpPr>
        <p:spPr>
          <a:xfrm>
            <a:off x="1417320" y="2331720"/>
            <a:ext cx="93726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4" name="td0"/>
          <p:cNvSpPr/>
          <p:nvPr/>
        </p:nvSpPr>
        <p:spPr>
          <a:xfrm>
            <a:off x="960120" y="187452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" name="t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112264"/>
            <a:ext cx="438912" cy="438912"/>
          </a:xfrm>
          <a:prstGeom prst="rect">
            <a:avLst/>
          </a:prstGeom>
        </p:spPr>
      </p:pic>
      <p:sp>
        <p:nvSpPr>
          <p:cNvPr id="6" name="th0"/>
          <p:cNvSpPr txBox="1"/>
          <p:nvPr/>
        </p:nvSpPr>
        <p:spPr>
          <a:xfrm>
            <a:off x="36576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role analysis</a:t>
            </a:r>
            <a:endParaRPr lang="en-US" sz="1800" dirty="0"/>
          </a:p>
        </p:txBody>
      </p:sp>
      <p:sp>
        <p:nvSpPr>
          <p:cNvPr id="7" name="tb0"/>
          <p:cNvSpPr txBox="1"/>
          <p:nvPr/>
        </p:nvSpPr>
        <p:spPr>
          <a:xfrm>
            <a:off x="36576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workflow and scope defined and written down.</a:t>
            </a:r>
            <a:endParaRPr lang="en-US" sz="1500" dirty="0"/>
          </a:p>
        </p:txBody>
      </p:sp>
      <p:sp>
        <p:nvSpPr>
          <p:cNvPr id="8" name="td1"/>
          <p:cNvSpPr/>
          <p:nvPr/>
        </p:nvSpPr>
        <p:spPr>
          <a:xfrm>
            <a:off x="3303270" y="187452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9" name="t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14" y="2112264"/>
            <a:ext cx="438912" cy="438912"/>
          </a:xfrm>
          <a:prstGeom prst="rect">
            <a:avLst/>
          </a:prstGeom>
        </p:spPr>
      </p:pic>
      <p:sp>
        <p:nvSpPr>
          <p:cNvPr id="10" name="th1"/>
          <p:cNvSpPr txBox="1"/>
          <p:nvPr/>
        </p:nvSpPr>
        <p:spPr>
          <a:xfrm>
            <a:off x="270891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800" dirty="0"/>
          </a:p>
        </p:txBody>
      </p:sp>
      <p:sp>
        <p:nvSpPr>
          <p:cNvPr id="11" name="tb1"/>
          <p:cNvSpPr txBox="1"/>
          <p:nvPr/>
        </p:nvSpPr>
        <p:spPr>
          <a:xfrm>
            <a:off x="270891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Fleet, issues, tickets, schedules, maps and reports.</a:t>
            </a:r>
            <a:endParaRPr lang="en-US" sz="1500" dirty="0"/>
          </a:p>
        </p:txBody>
      </p:sp>
      <p:sp>
        <p:nvSpPr>
          <p:cNvPr id="12" name="td2"/>
          <p:cNvSpPr/>
          <p:nvPr/>
        </p:nvSpPr>
        <p:spPr>
          <a:xfrm>
            <a:off x="5646420" y="187452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3" name="t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112264"/>
            <a:ext cx="438912" cy="438912"/>
          </a:xfrm>
          <a:prstGeom prst="rect">
            <a:avLst/>
          </a:prstGeom>
        </p:spPr>
      </p:pic>
      <p:sp>
        <p:nvSpPr>
          <p:cNvPr id="14" name="th2"/>
          <p:cNvSpPr txBox="1"/>
          <p:nvPr/>
        </p:nvSpPr>
        <p:spPr>
          <a:xfrm>
            <a:off x="505206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audit</a:t>
            </a:r>
            <a:endParaRPr lang="en-US" sz="1800" dirty="0"/>
          </a:p>
        </p:txBody>
      </p:sp>
      <p:sp>
        <p:nvSpPr>
          <p:cNvPr id="15" name="tb2"/>
          <p:cNvSpPr txBox="1"/>
          <p:nvPr/>
        </p:nvSpPr>
        <p:spPr>
          <a:xfrm>
            <a:off x="505206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verification and schedule bypasses.</a:t>
            </a:r>
            <a:endParaRPr lang="en-US" sz="1500" dirty="0"/>
          </a:p>
        </p:txBody>
      </p:sp>
      <p:sp>
        <p:nvSpPr>
          <p:cNvPr id="16" name="td3"/>
          <p:cNvSpPr/>
          <p:nvPr/>
        </p:nvSpPr>
        <p:spPr>
          <a:xfrm>
            <a:off x="7989570" y="187452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7" name="ti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314" y="2112264"/>
            <a:ext cx="438912" cy="438912"/>
          </a:xfrm>
          <a:prstGeom prst="rect">
            <a:avLst/>
          </a:prstGeom>
        </p:spPr>
      </p:pic>
      <p:sp>
        <p:nvSpPr>
          <p:cNvPr id="18" name="th3"/>
          <p:cNvSpPr txBox="1"/>
          <p:nvPr/>
        </p:nvSpPr>
        <p:spPr>
          <a:xfrm>
            <a:off x="739521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 review</a:t>
            </a:r>
            <a:endParaRPr lang="en-US" sz="1800" dirty="0"/>
          </a:p>
        </p:txBody>
      </p:sp>
      <p:sp>
        <p:nvSpPr>
          <p:cNvPr id="19" name="tb3"/>
          <p:cNvSpPr txBox="1"/>
          <p:nvPr/>
        </p:nvSpPr>
        <p:spPr>
          <a:xfrm>
            <a:off x="739521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registration approval and boundary review.</a:t>
            </a:r>
            <a:endParaRPr lang="en-US" sz="1500" dirty="0"/>
          </a:p>
        </p:txBody>
      </p:sp>
      <p:sp>
        <p:nvSpPr>
          <p:cNvPr id="20" name="td4"/>
          <p:cNvSpPr/>
          <p:nvPr/>
        </p:nvSpPr>
        <p:spPr>
          <a:xfrm>
            <a:off x="10332720" y="187452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1" name="ti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4" y="2112264"/>
            <a:ext cx="438912" cy="438912"/>
          </a:xfrm>
          <a:prstGeom prst="rect">
            <a:avLst/>
          </a:prstGeom>
        </p:spPr>
      </p:pic>
      <p:sp>
        <p:nvSpPr>
          <p:cNvPr id="22" name="th4"/>
          <p:cNvSpPr txBox="1"/>
          <p:nvPr/>
        </p:nvSpPr>
        <p:spPr>
          <a:xfrm>
            <a:off x="973836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and capability audit</a:t>
            </a:r>
            <a:endParaRPr lang="en-US" sz="1800" dirty="0"/>
          </a:p>
        </p:txBody>
      </p:sp>
      <p:sp>
        <p:nvSpPr>
          <p:cNvPr id="23" name="tb4"/>
          <p:cNvSpPr txBox="1"/>
          <p:nvPr/>
        </p:nvSpPr>
        <p:spPr>
          <a:xfrm>
            <a:off x="973836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self-verification gaps; added fleet readiness impact.</a:t>
            </a:r>
            <a:endParaRPr lang="en-US" sz="1500" dirty="0"/>
          </a:p>
        </p:txBody>
      </p:sp>
      <p:sp>
        <p:nvSpPr>
          <p:cNvPr id="24" name="tlBan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18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lBanT"/>
          <p:cNvSpPr txBox="1"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audit pass is documented in the project's review documents.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2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3" name="ar0"/>
          <p:cNvSpPr/>
          <p:nvPr/>
        </p:nvSpPr>
        <p:spPr>
          <a:xfrm>
            <a:off x="640080" y="14173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art0"/>
          <p:cNvSpPr txBox="1"/>
          <p:nvPr/>
        </p:nvSpPr>
        <p:spPr>
          <a:xfrm>
            <a:off x="64008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5" name="ar1"/>
          <p:cNvSpPr/>
          <p:nvPr/>
        </p:nvSpPr>
        <p:spPr>
          <a:xfrm>
            <a:off x="3429000" y="14173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art1"/>
          <p:cNvSpPr txBox="1"/>
          <p:nvPr/>
        </p:nvSpPr>
        <p:spPr>
          <a:xfrm>
            <a:off x="342900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</a:t>
            </a:r>
            <a:endParaRPr lang="en-US" sz="1500" dirty="0"/>
          </a:p>
        </p:txBody>
      </p:sp>
      <p:sp>
        <p:nvSpPr>
          <p:cNvPr id="7" name="ar2"/>
          <p:cNvSpPr/>
          <p:nvPr/>
        </p:nvSpPr>
        <p:spPr>
          <a:xfrm>
            <a:off x="6217920" y="14173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art2"/>
          <p:cNvSpPr txBox="1"/>
          <p:nvPr/>
        </p:nvSpPr>
        <p:spPr>
          <a:xfrm>
            <a:off x="621792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Personnel</a:t>
            </a:r>
            <a:endParaRPr lang="en-US" sz="1500" dirty="0"/>
          </a:p>
        </p:txBody>
      </p:sp>
      <p:sp>
        <p:nvSpPr>
          <p:cNvPr id="9" name="ar3"/>
          <p:cNvSpPr/>
          <p:nvPr/>
        </p:nvSpPr>
        <p:spPr>
          <a:xfrm>
            <a:off x="9006840" y="14173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art3"/>
          <p:cNvSpPr txBox="1"/>
          <p:nvPr/>
        </p:nvSpPr>
        <p:spPr>
          <a:xfrm>
            <a:off x="900684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500" dirty="0"/>
          </a:p>
        </p:txBody>
      </p:sp>
      <p:sp>
        <p:nvSpPr>
          <p:cNvPr id="11" name="cl"/>
          <p:cNvSpPr/>
          <p:nvPr/>
        </p:nvSpPr>
        <p:spPr>
          <a:xfrm>
            <a:off x="640080" y="2194560"/>
            <a:ext cx="10881360" cy="1143000"/>
          </a:xfrm>
          <a:prstGeom prst="roundRect">
            <a:avLst>
              <a:gd name="adj" fmla="val 112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2" name="clT"/>
          <p:cNvSpPr txBox="1"/>
          <p:nvPr/>
        </p:nvSpPr>
        <p:spPr>
          <a:xfrm>
            <a:off x="9144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React 19 single-page app (Vite)</a:t>
            </a:r>
            <a:endParaRPr lang="en-US" sz="1800" dirty="0"/>
          </a:p>
        </p:txBody>
      </p:sp>
      <p:sp>
        <p:nvSpPr>
          <p:cNvPr id="13" name="clc0"/>
          <p:cNvSpPr/>
          <p:nvPr/>
        </p:nvSpPr>
        <p:spPr>
          <a:xfrm>
            <a:off x="914400" y="2743200"/>
            <a:ext cx="2423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clct0"/>
          <p:cNvSpPr txBox="1"/>
          <p:nvPr/>
        </p:nvSpPr>
        <p:spPr>
          <a:xfrm>
            <a:off x="91440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workspace</a:t>
            </a:r>
            <a:endParaRPr lang="en-US" sz="1300" dirty="0"/>
          </a:p>
        </p:txBody>
      </p:sp>
      <p:sp>
        <p:nvSpPr>
          <p:cNvPr id="15" name="clc1"/>
          <p:cNvSpPr/>
          <p:nvPr/>
        </p:nvSpPr>
        <p:spPr>
          <a:xfrm>
            <a:off x="3520440" y="2743200"/>
            <a:ext cx="2423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clct1"/>
          <p:cNvSpPr txBox="1"/>
          <p:nvPr/>
        </p:nvSpPr>
        <p:spPr>
          <a:xfrm>
            <a:off x="352044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portal</a:t>
            </a:r>
            <a:endParaRPr lang="en-US" sz="1300" dirty="0"/>
          </a:p>
        </p:txBody>
      </p:sp>
      <p:sp>
        <p:nvSpPr>
          <p:cNvPr id="17" name="clc2"/>
          <p:cNvSpPr/>
          <p:nvPr/>
        </p:nvSpPr>
        <p:spPr>
          <a:xfrm>
            <a:off x="6126480" y="2743200"/>
            <a:ext cx="2423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clct2"/>
          <p:cNvSpPr txBox="1"/>
          <p:nvPr/>
        </p:nvSpPr>
        <p:spPr>
          <a:xfrm>
            <a:off x="612648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pages: login, register</a:t>
            </a:r>
            <a:endParaRPr lang="en-US" sz="1300" dirty="0"/>
          </a:p>
        </p:txBody>
      </p:sp>
      <p:sp>
        <p:nvSpPr>
          <p:cNvPr id="19" name="clc3"/>
          <p:cNvSpPr/>
          <p:nvPr/>
        </p:nvSpPr>
        <p:spPr>
          <a:xfrm>
            <a:off x="8732520" y="2743200"/>
            <a:ext cx="2423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clct3"/>
          <p:cNvSpPr txBox="1"/>
          <p:nvPr/>
        </p:nvSpPr>
        <p:spPr>
          <a:xfrm>
            <a:off x="873252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300" dirty="0"/>
          </a:p>
        </p:txBody>
      </p:sp>
      <p:sp>
        <p:nvSpPr>
          <p:cNvPr id="21" name="link"/>
          <p:cNvSpPr txBox="1"/>
          <p:nvPr/>
        </p:nvSpPr>
        <p:spPr>
          <a:xfrm>
            <a:off x="640080" y="34564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JSON · Sanctum bearer token</a:t>
            </a:r>
            <a:endParaRPr lang="en-US" sz="1400" dirty="0"/>
          </a:p>
        </p:txBody>
      </p:sp>
      <p:sp>
        <p:nvSpPr>
          <p:cNvPr id="22" name="api"/>
          <p:cNvSpPr/>
          <p:nvPr/>
        </p:nvSpPr>
        <p:spPr>
          <a:xfrm>
            <a:off x="640080" y="3840480"/>
            <a:ext cx="10881360" cy="1325880"/>
          </a:xfrm>
          <a:prstGeom prst="roundRect">
            <a:avLst>
              <a:gd name="adj" fmla="val 965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3" name="apiT"/>
          <p:cNvSpPr txBox="1"/>
          <p:nvPr/>
        </p:nvSpPr>
        <p:spPr>
          <a:xfrm>
            <a:off x="9144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Laravel 13 (PHP 8.3), 165 endpoints</a:t>
            </a:r>
            <a:endParaRPr lang="en-US" sz="1800" dirty="0"/>
          </a:p>
        </p:txBody>
      </p:sp>
      <p:sp>
        <p:nvSpPr>
          <p:cNvPr id="24" name="mw0"/>
          <p:cNvSpPr/>
          <p:nvPr/>
        </p:nvSpPr>
        <p:spPr>
          <a:xfrm>
            <a:off x="914400" y="4434840"/>
            <a:ext cx="1920240" cy="502920"/>
          </a:xfrm>
          <a:prstGeom prst="roundRect">
            <a:avLst>
              <a:gd name="adj" fmla="val 3636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mwt0"/>
          <p:cNvSpPr txBox="1"/>
          <p:nvPr/>
        </p:nvSpPr>
        <p:spPr>
          <a:xfrm>
            <a:off x="914400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</a:t>
            </a:r>
            <a:endParaRPr lang="en-US" sz="1300" dirty="0"/>
          </a:p>
        </p:txBody>
      </p:sp>
      <p:sp>
        <p:nvSpPr>
          <p:cNvPr id="26" name="mw1"/>
          <p:cNvSpPr/>
          <p:nvPr/>
        </p:nvSpPr>
        <p:spPr>
          <a:xfrm>
            <a:off x="2999232" y="4434840"/>
            <a:ext cx="1920240" cy="502920"/>
          </a:xfrm>
          <a:prstGeom prst="roundRect">
            <a:avLst>
              <a:gd name="adj" fmla="val 3636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mwt1"/>
          <p:cNvSpPr txBox="1"/>
          <p:nvPr/>
        </p:nvSpPr>
        <p:spPr>
          <a:xfrm>
            <a:off x="2999232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</a:t>
            </a:r>
            <a:endParaRPr lang="en-US" sz="1300" dirty="0"/>
          </a:p>
        </p:txBody>
      </p:sp>
      <p:sp>
        <p:nvSpPr>
          <p:cNvPr id="28" name="mw2"/>
          <p:cNvSpPr/>
          <p:nvPr/>
        </p:nvSpPr>
        <p:spPr>
          <a:xfrm>
            <a:off x="5084064" y="4434840"/>
            <a:ext cx="1920240" cy="502920"/>
          </a:xfrm>
          <a:prstGeom prst="roundRect">
            <a:avLst>
              <a:gd name="adj" fmla="val 3636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mwt2"/>
          <p:cNvSpPr txBox="1"/>
          <p:nvPr/>
        </p:nvSpPr>
        <p:spPr>
          <a:xfrm>
            <a:off x="5084064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scope</a:t>
            </a:r>
            <a:endParaRPr lang="en-US" sz="1300" dirty="0"/>
          </a:p>
        </p:txBody>
      </p:sp>
      <p:sp>
        <p:nvSpPr>
          <p:cNvPr id="30" name="mw3"/>
          <p:cNvSpPr/>
          <p:nvPr/>
        </p:nvSpPr>
        <p:spPr>
          <a:xfrm>
            <a:off x="7168896" y="4434840"/>
            <a:ext cx="1920240" cy="502920"/>
          </a:xfrm>
          <a:prstGeom prst="roundRect">
            <a:avLst>
              <a:gd name="adj" fmla="val 3636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mwt3"/>
          <p:cNvSpPr txBox="1"/>
          <p:nvPr/>
        </p:nvSpPr>
        <p:spPr>
          <a:xfrm>
            <a:off x="7168896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ability</a:t>
            </a:r>
            <a:endParaRPr lang="en-US" sz="1300" dirty="0"/>
          </a:p>
        </p:txBody>
      </p:sp>
      <p:sp>
        <p:nvSpPr>
          <p:cNvPr id="32" name="mw4"/>
          <p:cNvSpPr/>
          <p:nvPr/>
        </p:nvSpPr>
        <p:spPr>
          <a:xfrm>
            <a:off x="9253728" y="4434840"/>
            <a:ext cx="1920240" cy="502920"/>
          </a:xfrm>
          <a:prstGeom prst="roundRect">
            <a:avLst>
              <a:gd name="adj" fmla="val 3636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mwt4"/>
          <p:cNvSpPr txBox="1"/>
          <p:nvPr/>
        </p:nvSpPr>
        <p:spPr>
          <a:xfrm>
            <a:off x="9253728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 scope</a:t>
            </a:r>
            <a:endParaRPr lang="en-US" sz="1300" dirty="0"/>
          </a:p>
        </p:txBody>
      </p:sp>
      <p:sp>
        <p:nvSpPr>
          <p:cNvPr id="34" name="dt0"/>
          <p:cNvSpPr/>
          <p:nvPr/>
        </p:nvSpPr>
        <p:spPr>
          <a:xfrm>
            <a:off x="640080" y="539496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35" name="dtT0"/>
          <p:cNvSpPr txBox="1"/>
          <p:nvPr/>
        </p:nvSpPr>
        <p:spPr>
          <a:xfrm>
            <a:off x="914400" y="5458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700" dirty="0"/>
          </a:p>
        </p:txBody>
      </p:sp>
      <p:sp>
        <p:nvSpPr>
          <p:cNvPr id="36" name="dtB0"/>
          <p:cNvSpPr txBox="1"/>
          <p:nvPr/>
        </p:nvSpPr>
        <p:spPr>
          <a:xfrm>
            <a:off x="914400" y="5833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(local) · PostgreSQL (deployed) · 38 tables</a:t>
            </a:r>
            <a:endParaRPr lang="en-US" sz="1400" dirty="0"/>
          </a:p>
        </p:txBody>
      </p:sp>
      <p:sp>
        <p:nvSpPr>
          <p:cNvPr id="37" name="dt1"/>
          <p:cNvSpPr/>
          <p:nvPr/>
        </p:nvSpPr>
        <p:spPr>
          <a:xfrm>
            <a:off x="6217920" y="539496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38" name="dtT1"/>
          <p:cNvSpPr txBox="1"/>
          <p:nvPr/>
        </p:nvSpPr>
        <p:spPr>
          <a:xfrm>
            <a:off x="6492240" y="5458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700" dirty="0"/>
          </a:p>
        </p:txBody>
      </p:sp>
      <p:sp>
        <p:nvSpPr>
          <p:cNvPr id="39" name="dtB1"/>
          <p:cNvSpPr txBox="1"/>
          <p:nvPr/>
        </p:nvSpPr>
        <p:spPr>
          <a:xfrm>
            <a:off x="6492240" y="5833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(S3-compatible): photos, attachments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3" name="kc0"/>
          <p:cNvSpPr/>
          <p:nvPr/>
        </p:nvSpPr>
        <p:spPr>
          <a:xfrm>
            <a:off x="640080" y="164592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kd0"/>
          <p:cNvSpPr/>
          <p:nvPr/>
        </p:nvSpPr>
        <p:spPr>
          <a:xfrm>
            <a:off x="914400" y="192024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" name="k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21408"/>
            <a:ext cx="384048" cy="384048"/>
          </a:xfrm>
          <a:prstGeom prst="rect">
            <a:avLst/>
          </a:prstGeom>
        </p:spPr>
      </p:pic>
      <p:sp>
        <p:nvSpPr>
          <p:cNvPr id="6" name="kh0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900" dirty="0"/>
          </a:p>
        </p:txBody>
      </p:sp>
      <p:sp>
        <p:nvSpPr>
          <p:cNvPr id="7" name="kb0"/>
          <p:cNvSpPr txBox="1"/>
          <p:nvPr/>
        </p:nvSpPr>
        <p:spPr>
          <a:xfrm>
            <a:off x="91440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interface</a:t>
            </a:r>
            <a:endParaRPr lang="en-US" sz="1500" dirty="0"/>
          </a:p>
        </p:txBody>
      </p:sp>
      <p:sp>
        <p:nvSpPr>
          <p:cNvPr id="8" name="kc1"/>
          <p:cNvSpPr/>
          <p:nvPr/>
        </p:nvSpPr>
        <p:spPr>
          <a:xfrm>
            <a:off x="3429000" y="164592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kd1"/>
          <p:cNvSpPr/>
          <p:nvPr/>
        </p:nvSpPr>
        <p:spPr>
          <a:xfrm>
            <a:off x="3703320" y="192024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k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121408"/>
            <a:ext cx="384048" cy="384048"/>
          </a:xfrm>
          <a:prstGeom prst="rect">
            <a:avLst/>
          </a:prstGeom>
        </p:spPr>
      </p:pic>
      <p:sp>
        <p:nvSpPr>
          <p:cNvPr id="11" name="kh1"/>
          <p:cNvSpPr txBox="1"/>
          <p:nvPr/>
        </p:nvSpPr>
        <p:spPr>
          <a:xfrm>
            <a:off x="37033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900" dirty="0"/>
          </a:p>
        </p:txBody>
      </p:sp>
      <p:sp>
        <p:nvSpPr>
          <p:cNvPr id="12" name="kb1"/>
          <p:cNvSpPr txBox="1"/>
          <p:nvPr/>
        </p:nvSpPr>
        <p:spPr>
          <a:xfrm>
            <a:off x="37033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dev server</a:t>
            </a:r>
            <a:endParaRPr lang="en-US" sz="1500" dirty="0"/>
          </a:p>
        </p:txBody>
      </p:sp>
      <p:sp>
        <p:nvSpPr>
          <p:cNvPr id="13" name="kc2"/>
          <p:cNvSpPr/>
          <p:nvPr/>
        </p:nvSpPr>
        <p:spPr>
          <a:xfrm>
            <a:off x="6217920" y="164592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4" name="kd2"/>
          <p:cNvSpPr/>
          <p:nvPr/>
        </p:nvSpPr>
        <p:spPr>
          <a:xfrm>
            <a:off x="6492240" y="192024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k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121408"/>
            <a:ext cx="384048" cy="384048"/>
          </a:xfrm>
          <a:prstGeom prst="rect">
            <a:avLst/>
          </a:prstGeom>
        </p:spPr>
      </p:pic>
      <p:sp>
        <p:nvSpPr>
          <p:cNvPr id="16" name="kh2"/>
          <p:cNvSpPr txBox="1"/>
          <p:nvPr/>
        </p:nvSpPr>
        <p:spPr>
          <a:xfrm>
            <a:off x="64922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900" dirty="0"/>
          </a:p>
        </p:txBody>
      </p:sp>
      <p:sp>
        <p:nvSpPr>
          <p:cNvPr id="17" name="kb2"/>
          <p:cNvSpPr txBox="1"/>
          <p:nvPr/>
        </p:nvSpPr>
        <p:spPr>
          <a:xfrm>
            <a:off x="649224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boundaries</a:t>
            </a:r>
            <a:endParaRPr lang="en-US" sz="1500" dirty="0"/>
          </a:p>
        </p:txBody>
      </p:sp>
      <p:sp>
        <p:nvSpPr>
          <p:cNvPr id="18" name="kc3"/>
          <p:cNvSpPr/>
          <p:nvPr/>
        </p:nvSpPr>
        <p:spPr>
          <a:xfrm>
            <a:off x="9006840" y="164592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9" name="kd3"/>
          <p:cNvSpPr/>
          <p:nvPr/>
        </p:nvSpPr>
        <p:spPr>
          <a:xfrm>
            <a:off x="9281160" y="192024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0" name="ki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121408"/>
            <a:ext cx="384048" cy="384048"/>
          </a:xfrm>
          <a:prstGeom prst="rect">
            <a:avLst/>
          </a:prstGeom>
        </p:spPr>
      </p:pic>
      <p:sp>
        <p:nvSpPr>
          <p:cNvPr id="21" name="kh3"/>
          <p:cNvSpPr txBox="1"/>
          <p:nvPr/>
        </p:nvSpPr>
        <p:spPr>
          <a:xfrm>
            <a:off x="92811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</a:t>
            </a:r>
            <a:endParaRPr lang="en-US" sz="1900" dirty="0"/>
          </a:p>
        </p:txBody>
      </p:sp>
      <p:sp>
        <p:nvSpPr>
          <p:cNvPr id="22" name="kb3"/>
          <p:cNvSpPr txBox="1"/>
          <p:nvPr/>
        </p:nvSpPr>
        <p:spPr>
          <a:xfrm>
            <a:off x="928116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500" dirty="0"/>
          </a:p>
        </p:txBody>
      </p:sp>
      <p:sp>
        <p:nvSpPr>
          <p:cNvPr id="23" name="kc4"/>
          <p:cNvSpPr/>
          <p:nvPr/>
        </p:nvSpPr>
        <p:spPr>
          <a:xfrm>
            <a:off x="640080" y="384048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4" name="kd4"/>
          <p:cNvSpPr/>
          <p:nvPr/>
        </p:nvSpPr>
        <p:spPr>
          <a:xfrm>
            <a:off x="914400" y="411480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5" name="ki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315968"/>
            <a:ext cx="384048" cy="384048"/>
          </a:xfrm>
          <a:prstGeom prst="rect">
            <a:avLst/>
          </a:prstGeom>
        </p:spPr>
      </p:pic>
      <p:sp>
        <p:nvSpPr>
          <p:cNvPr id="26" name="kh4"/>
          <p:cNvSpPr txBox="1"/>
          <p:nvPr/>
        </p:nvSpPr>
        <p:spPr>
          <a:xfrm>
            <a:off x="91440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900" dirty="0"/>
          </a:p>
        </p:txBody>
      </p:sp>
      <p:sp>
        <p:nvSpPr>
          <p:cNvPr id="27" name="kb4"/>
          <p:cNvSpPr txBox="1"/>
          <p:nvPr/>
        </p:nvSpPr>
        <p:spPr>
          <a:xfrm>
            <a:off x="91440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language</a:t>
            </a:r>
            <a:endParaRPr lang="en-US" sz="1500" dirty="0"/>
          </a:p>
        </p:txBody>
      </p:sp>
      <p:sp>
        <p:nvSpPr>
          <p:cNvPr id="28" name="kc5"/>
          <p:cNvSpPr/>
          <p:nvPr/>
        </p:nvSpPr>
        <p:spPr>
          <a:xfrm>
            <a:off x="3429000" y="384048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9" name="kd5"/>
          <p:cNvSpPr/>
          <p:nvPr/>
        </p:nvSpPr>
        <p:spPr>
          <a:xfrm>
            <a:off x="3703320" y="411480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0" name="ki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4315968"/>
            <a:ext cx="384048" cy="384048"/>
          </a:xfrm>
          <a:prstGeom prst="rect">
            <a:avLst/>
          </a:prstGeom>
        </p:spPr>
      </p:pic>
      <p:sp>
        <p:nvSpPr>
          <p:cNvPr id="31" name="kh5"/>
          <p:cNvSpPr txBox="1"/>
          <p:nvPr/>
        </p:nvSpPr>
        <p:spPr>
          <a:xfrm>
            <a:off x="370332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</a:t>
            </a:r>
            <a:endParaRPr lang="en-US" sz="1900" dirty="0"/>
          </a:p>
        </p:txBody>
      </p:sp>
      <p:sp>
        <p:nvSpPr>
          <p:cNvPr id="32" name="kb5"/>
          <p:cNvSpPr txBox="1"/>
          <p:nvPr/>
        </p:nvSpPr>
        <p:spPr>
          <a:xfrm>
            <a:off x="370332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500" dirty="0"/>
          </a:p>
        </p:txBody>
      </p:sp>
      <p:sp>
        <p:nvSpPr>
          <p:cNvPr id="33" name="kc6"/>
          <p:cNvSpPr/>
          <p:nvPr/>
        </p:nvSpPr>
        <p:spPr>
          <a:xfrm>
            <a:off x="6217920" y="384048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34" name="kd6"/>
          <p:cNvSpPr/>
          <p:nvPr/>
        </p:nvSpPr>
        <p:spPr>
          <a:xfrm>
            <a:off x="6492240" y="411480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5" name="ki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4315968"/>
            <a:ext cx="384048" cy="384048"/>
          </a:xfrm>
          <a:prstGeom prst="rect">
            <a:avLst/>
          </a:prstGeom>
        </p:spPr>
      </p:pic>
      <p:sp>
        <p:nvSpPr>
          <p:cNvPr id="36" name="kh6"/>
          <p:cNvSpPr txBox="1"/>
          <p:nvPr/>
        </p:nvSpPr>
        <p:spPr>
          <a:xfrm>
            <a:off x="649224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</a:t>
            </a:r>
            <a:endParaRPr lang="en-US" sz="1900" dirty="0"/>
          </a:p>
        </p:txBody>
      </p:sp>
      <p:sp>
        <p:nvSpPr>
          <p:cNvPr id="37" name="kb6"/>
          <p:cNvSpPr txBox="1"/>
          <p:nvPr/>
        </p:nvSpPr>
        <p:spPr>
          <a:xfrm>
            <a:off x="649224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</a:t>
            </a:r>
            <a:endParaRPr lang="en-US" sz="1500" dirty="0"/>
          </a:p>
        </p:txBody>
      </p:sp>
      <p:sp>
        <p:nvSpPr>
          <p:cNvPr id="38" name="kc7"/>
          <p:cNvSpPr/>
          <p:nvPr/>
        </p:nvSpPr>
        <p:spPr>
          <a:xfrm>
            <a:off x="9006840" y="3840480"/>
            <a:ext cx="2606040" cy="19202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39" name="kd7"/>
          <p:cNvSpPr/>
          <p:nvPr/>
        </p:nvSpPr>
        <p:spPr>
          <a:xfrm>
            <a:off x="9281160" y="4114800"/>
            <a:ext cx="777240" cy="777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40" name="ki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2328" y="4315968"/>
            <a:ext cx="384048" cy="384048"/>
          </a:xfrm>
          <a:prstGeom prst="rect">
            <a:avLst/>
          </a:prstGeom>
        </p:spPr>
      </p:pic>
      <p:sp>
        <p:nvSpPr>
          <p:cNvPr id="41" name="kh7"/>
          <p:cNvSpPr txBox="1"/>
          <p:nvPr/>
        </p:nvSpPr>
        <p:spPr>
          <a:xfrm>
            <a:off x="928116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900" dirty="0"/>
          </a:p>
        </p:txBody>
      </p:sp>
      <p:sp>
        <p:nvSpPr>
          <p:cNvPr id="42" name="kb7"/>
          <p:cNvSpPr txBox="1"/>
          <p:nvPr/>
        </p:nvSpPr>
        <p:spPr>
          <a:xfrm>
            <a:off x="928116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access</a:t>
            </a:r>
            <a:endParaRPr lang="en-US" sz="3800" dirty="0"/>
          </a:p>
        </p:txBody>
      </p:sp>
      <p:graphicFrame>
        <p:nvGraphicFramePr>
          <p:cNvPr id="11" name="rol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246888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Personnel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staff accounts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first Admin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 vehicle issue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a maintenance ticket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and assign a ticket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repairs and parts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a completed repair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/ approve schedules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barangays and codes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tNote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hold more than one role, but can never verify their own repair.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ticket lifecycle</a:t>
            </a:r>
            <a:endParaRPr lang="en-US" sz="3800" dirty="0"/>
          </a:p>
        </p:txBody>
      </p:sp>
      <p:sp>
        <p:nvSpPr>
          <p:cNvPr id="3" name="ln0"/>
          <p:cNvSpPr/>
          <p:nvPr/>
        </p:nvSpPr>
        <p:spPr>
          <a:xfrm>
            <a:off x="640080" y="1920240"/>
            <a:ext cx="2103120" cy="118872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6F">
                <a:alpha val="20000"/>
              </a:srgbClr>
            </a:outerShdw>
          </a:effectLst>
        </p:spPr>
      </p:sp>
      <p:sp>
        <p:nvSpPr>
          <p:cNvPr id="4" name="lnT0"/>
          <p:cNvSpPr txBox="1"/>
          <p:nvPr/>
        </p:nvSpPr>
        <p:spPr>
          <a:xfrm>
            <a:off x="64008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900" dirty="0"/>
          </a:p>
        </p:txBody>
      </p:sp>
      <p:sp>
        <p:nvSpPr>
          <p:cNvPr id="5" name="lnB0"/>
          <p:cNvSpPr txBox="1"/>
          <p:nvPr/>
        </p:nvSpPr>
        <p:spPr>
          <a:xfrm>
            <a:off x="64008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 proposes</a:t>
            </a:r>
            <a:endParaRPr lang="en-US" sz="1400" dirty="0"/>
          </a:p>
        </p:txBody>
      </p:sp>
      <p:sp>
        <p:nvSpPr>
          <p:cNvPr id="6" name="ln1"/>
          <p:cNvSpPr/>
          <p:nvPr/>
        </p:nvSpPr>
        <p:spPr>
          <a:xfrm>
            <a:off x="3566160" y="1920240"/>
            <a:ext cx="2103120" cy="118872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6F">
                <a:alpha val="20000"/>
              </a:srgbClr>
            </a:outerShdw>
          </a:effectLst>
        </p:spPr>
      </p:sp>
      <p:sp>
        <p:nvSpPr>
          <p:cNvPr id="7" name="lnT1"/>
          <p:cNvSpPr txBox="1"/>
          <p:nvPr/>
        </p:nvSpPr>
        <p:spPr>
          <a:xfrm>
            <a:off x="356616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900" dirty="0"/>
          </a:p>
        </p:txBody>
      </p:sp>
      <p:sp>
        <p:nvSpPr>
          <p:cNvPr id="8" name="lnB1"/>
          <p:cNvSpPr txBox="1"/>
          <p:nvPr/>
        </p:nvSpPr>
        <p:spPr>
          <a:xfrm>
            <a:off x="356616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repairs</a:t>
            </a:r>
            <a:endParaRPr lang="en-US" sz="1400" dirty="0"/>
          </a:p>
        </p:txBody>
      </p:sp>
      <p:sp>
        <p:nvSpPr>
          <p:cNvPr id="9" name="ln2"/>
          <p:cNvSpPr/>
          <p:nvPr/>
        </p:nvSpPr>
        <p:spPr>
          <a:xfrm>
            <a:off x="6492240" y="1920240"/>
            <a:ext cx="2103120" cy="118872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6F">
                <a:alpha val="20000"/>
              </a:srgbClr>
            </a:outerShdw>
          </a:effectLst>
        </p:spPr>
      </p:sp>
      <p:sp>
        <p:nvSpPr>
          <p:cNvPr id="10" name="lnT2"/>
          <p:cNvSpPr txBox="1"/>
          <p:nvPr/>
        </p:nvSpPr>
        <p:spPr>
          <a:xfrm>
            <a:off x="64922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Verification</a:t>
            </a:r>
            <a:endParaRPr lang="en-US" sz="1900" dirty="0"/>
          </a:p>
        </p:txBody>
      </p:sp>
      <p:sp>
        <p:nvSpPr>
          <p:cNvPr id="11" name="lnB2"/>
          <p:cNvSpPr txBox="1"/>
          <p:nvPr/>
        </p:nvSpPr>
        <p:spPr>
          <a:xfrm>
            <a:off x="649224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Custodian</a:t>
            </a:r>
            <a:endParaRPr lang="en-US" sz="1400" dirty="0"/>
          </a:p>
        </p:txBody>
      </p:sp>
      <p:sp>
        <p:nvSpPr>
          <p:cNvPr id="12" name="ln3"/>
          <p:cNvSpPr/>
          <p:nvPr/>
        </p:nvSpPr>
        <p:spPr>
          <a:xfrm>
            <a:off x="9418320" y="1920240"/>
            <a:ext cx="2103120" cy="118872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6F">
                <a:alpha val="20000"/>
              </a:srgbClr>
            </a:outerShdw>
          </a:effectLst>
        </p:spPr>
      </p:sp>
      <p:sp>
        <p:nvSpPr>
          <p:cNvPr id="13" name="lnT3"/>
          <p:cNvSpPr txBox="1"/>
          <p:nvPr/>
        </p:nvSpPr>
        <p:spPr>
          <a:xfrm>
            <a:off x="941832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900" dirty="0"/>
          </a:p>
        </p:txBody>
      </p:sp>
      <p:sp>
        <p:nvSpPr>
          <p:cNvPr id="14" name="lnB3"/>
          <p:cNvSpPr txBox="1"/>
          <p:nvPr/>
        </p:nvSpPr>
        <p:spPr>
          <a:xfrm>
            <a:off x="941832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5" name="la0"/>
          <p:cNvSpPr/>
          <p:nvPr/>
        </p:nvSpPr>
        <p:spPr>
          <a:xfrm>
            <a:off x="2743200" y="2514600"/>
            <a:ext cx="822960" cy="0"/>
          </a:xfrm>
          <a:prstGeom prst="line">
            <a:avLst/>
          </a:prstGeom>
          <a:noFill/>
          <a:ln w="3175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6" name="laT0"/>
          <p:cNvSpPr txBox="1"/>
          <p:nvPr/>
        </p:nvSpPr>
        <p:spPr>
          <a:xfrm>
            <a:off x="233172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and assigns</a:t>
            </a:r>
            <a:endParaRPr lang="en-US" sz="1300" dirty="0"/>
          </a:p>
        </p:txBody>
      </p:sp>
      <p:sp>
        <p:nvSpPr>
          <p:cNvPr id="17" name="la1"/>
          <p:cNvSpPr/>
          <p:nvPr/>
        </p:nvSpPr>
        <p:spPr>
          <a:xfrm>
            <a:off x="5669280" y="2514600"/>
            <a:ext cx="822960" cy="0"/>
          </a:xfrm>
          <a:prstGeom prst="line">
            <a:avLst/>
          </a:prstGeom>
          <a:noFill/>
          <a:ln w="3175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8" name="laT1"/>
          <p:cNvSpPr txBox="1"/>
          <p:nvPr/>
        </p:nvSpPr>
        <p:spPr>
          <a:xfrm>
            <a:off x="52578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repair logged (automatic)</a:t>
            </a:r>
            <a:endParaRPr lang="en-US" sz="1300" dirty="0"/>
          </a:p>
        </p:txBody>
      </p:sp>
      <p:sp>
        <p:nvSpPr>
          <p:cNvPr id="19" name="la2"/>
          <p:cNvSpPr/>
          <p:nvPr/>
        </p:nvSpPr>
        <p:spPr>
          <a:xfrm>
            <a:off x="8595360" y="2514600"/>
            <a:ext cx="822960" cy="0"/>
          </a:xfrm>
          <a:prstGeom prst="line">
            <a:avLst/>
          </a:prstGeom>
          <a:noFill/>
          <a:ln w="3175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20" name="laT2"/>
          <p:cNvSpPr txBox="1"/>
          <p:nvPr/>
        </p:nvSpPr>
        <p:spPr>
          <a:xfrm>
            <a:off x="818388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 approves</a:t>
            </a:r>
            <a:endParaRPr lang="en-US" sz="1300" dirty="0"/>
          </a:p>
        </p:txBody>
      </p:sp>
      <p:sp>
        <p:nvSpPr>
          <p:cNvPr id="21" name="br1"/>
          <p:cNvSpPr/>
          <p:nvPr/>
        </p:nvSpPr>
        <p:spPr>
          <a:xfrm>
            <a:off x="640080" y="4160520"/>
            <a:ext cx="5303520" cy="173736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2" name="br1H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2000" dirty="0"/>
          </a:p>
        </p:txBody>
      </p:sp>
      <p:sp>
        <p:nvSpPr>
          <p:cNvPr id="23" name="br1B"/>
          <p:cNvSpPr txBox="1"/>
          <p:nvPr/>
        </p:nvSpPr>
        <p:spPr>
          <a:xfrm>
            <a:off x="914400" y="4754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declines a proposal with a reason. It stays visible as Declined and can be undeclined, then approved.</a:t>
            </a:r>
            <a:endParaRPr lang="en-US" sz="1600" dirty="0"/>
          </a:p>
        </p:txBody>
      </p:sp>
      <p:sp>
        <p:nvSpPr>
          <p:cNvPr id="24" name="br2"/>
          <p:cNvSpPr/>
          <p:nvPr/>
        </p:nvSpPr>
        <p:spPr>
          <a:xfrm>
            <a:off x="6217920" y="4160520"/>
            <a:ext cx="5303520" cy="173736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5" name="br2H"/>
          <p:cNvSpPr txBox="1"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Disapprove</a:t>
            </a:r>
            <a:endParaRPr lang="en-US" sz="2000" dirty="0"/>
          </a:p>
        </p:txBody>
      </p:sp>
      <p:sp>
        <p:nvSpPr>
          <p:cNvPr id="26" name="br2B"/>
          <p:cNvSpPr txBox="1"/>
          <p:nvPr/>
        </p:nvSpPr>
        <p:spPr>
          <a:xfrm>
            <a:off x="6492240" y="4754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Custodian disapproves a repair with a reason. The ticket returns to Active and the mechanic is notified.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800" dirty="0"/>
          </a:p>
        </p:txBody>
      </p:sp>
      <p:sp>
        <p:nvSpPr>
          <p:cNvPr id="3" name="gc0"/>
          <p:cNvSpPr/>
          <p:nvPr/>
        </p:nvSpPr>
        <p:spPr>
          <a:xfrm>
            <a:off x="640080" y="1600200"/>
            <a:ext cx="2057400" cy="384048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gh0"/>
          <p:cNvSpPr txBox="1"/>
          <p:nvPr/>
        </p:nvSpPr>
        <p:spPr>
          <a:xfrm>
            <a:off x="777240" y="1737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and users</a:t>
            </a:r>
            <a:endParaRPr lang="en-US" sz="1700" dirty="0"/>
          </a:p>
        </p:txBody>
      </p:sp>
      <p:sp>
        <p:nvSpPr>
          <p:cNvPr id="5" name="ge0_0"/>
          <p:cNvSpPr/>
          <p:nvPr/>
        </p:nvSpPr>
        <p:spPr>
          <a:xfrm>
            <a:off x="777240" y="2423160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6" name="get0_0"/>
          <p:cNvSpPr txBox="1"/>
          <p:nvPr/>
        </p:nvSpPr>
        <p:spPr>
          <a:xfrm>
            <a:off x="777240" y="24231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</a:t>
            </a:r>
            <a:endParaRPr lang="en-US" sz="1000" dirty="0"/>
          </a:p>
        </p:txBody>
      </p:sp>
      <p:sp>
        <p:nvSpPr>
          <p:cNvPr id="7" name="ge0_1"/>
          <p:cNvSpPr/>
          <p:nvPr/>
        </p:nvSpPr>
        <p:spPr>
          <a:xfrm>
            <a:off x="777240" y="2916936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8" name="get0_1"/>
          <p:cNvSpPr txBox="1"/>
          <p:nvPr/>
        </p:nvSpPr>
        <p:spPr>
          <a:xfrm>
            <a:off x="777240" y="2916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9" name="ge0_2"/>
          <p:cNvSpPr/>
          <p:nvPr/>
        </p:nvSpPr>
        <p:spPr>
          <a:xfrm>
            <a:off x="777240" y="3410712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0" name="get0_2"/>
          <p:cNvSpPr txBox="1"/>
          <p:nvPr/>
        </p:nvSpPr>
        <p:spPr>
          <a:xfrm>
            <a:off x="777240" y="34107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barangays</a:t>
            </a:r>
            <a:endParaRPr lang="en-US" sz="1000" dirty="0"/>
          </a:p>
        </p:txBody>
      </p:sp>
      <p:sp>
        <p:nvSpPr>
          <p:cNvPr id="11" name="ge0_3"/>
          <p:cNvSpPr/>
          <p:nvPr/>
        </p:nvSpPr>
        <p:spPr>
          <a:xfrm>
            <a:off x="777240" y="3904488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2" name="get0_3"/>
          <p:cNvSpPr txBox="1"/>
          <p:nvPr/>
        </p:nvSpPr>
        <p:spPr>
          <a:xfrm>
            <a:off x="777240" y="39044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ge0_4"/>
          <p:cNvSpPr/>
          <p:nvPr/>
        </p:nvSpPr>
        <p:spPr>
          <a:xfrm>
            <a:off x="777240" y="4398264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4" name="get0_4"/>
          <p:cNvSpPr txBox="1"/>
          <p:nvPr/>
        </p:nvSpPr>
        <p:spPr>
          <a:xfrm>
            <a:off x="777240" y="439826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registration_settings</a:t>
            </a:r>
            <a:endParaRPr lang="en-US" sz="1000" dirty="0"/>
          </a:p>
        </p:txBody>
      </p:sp>
      <p:sp>
        <p:nvSpPr>
          <p:cNvPr id="15" name="gc1"/>
          <p:cNvSpPr/>
          <p:nvPr/>
        </p:nvSpPr>
        <p:spPr>
          <a:xfrm>
            <a:off x="2843784" y="1600200"/>
            <a:ext cx="2057400" cy="384048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6" name="gh1"/>
          <p:cNvSpPr txBox="1"/>
          <p:nvPr/>
        </p:nvSpPr>
        <p:spPr>
          <a:xfrm>
            <a:off x="2980944" y="1737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700" dirty="0"/>
          </a:p>
        </p:txBody>
      </p:sp>
      <p:sp>
        <p:nvSpPr>
          <p:cNvPr id="17" name="ge1_0"/>
          <p:cNvSpPr/>
          <p:nvPr/>
        </p:nvSpPr>
        <p:spPr>
          <a:xfrm>
            <a:off x="2980944" y="2423160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8" name="get1_0"/>
          <p:cNvSpPr txBox="1"/>
          <p:nvPr/>
        </p:nvSpPr>
        <p:spPr>
          <a:xfrm>
            <a:off x="2980944" y="24231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000" dirty="0"/>
          </a:p>
        </p:txBody>
      </p:sp>
      <p:sp>
        <p:nvSpPr>
          <p:cNvPr id="19" name="ge1_1"/>
          <p:cNvSpPr/>
          <p:nvPr/>
        </p:nvSpPr>
        <p:spPr>
          <a:xfrm>
            <a:off x="2980944" y="2916936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0" name="get1_1"/>
          <p:cNvSpPr txBox="1"/>
          <p:nvPr/>
        </p:nvSpPr>
        <p:spPr>
          <a:xfrm>
            <a:off x="2980944" y="2916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vehicle_categories</a:t>
            </a:r>
            <a:endParaRPr lang="en-US" sz="1000" dirty="0"/>
          </a:p>
        </p:txBody>
      </p:sp>
      <p:sp>
        <p:nvSpPr>
          <p:cNvPr id="21" name="ge1_2"/>
          <p:cNvSpPr/>
          <p:nvPr/>
        </p:nvSpPr>
        <p:spPr>
          <a:xfrm>
            <a:off x="2980944" y="3410712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2" name="get1_2"/>
          <p:cNvSpPr txBox="1"/>
          <p:nvPr/>
        </p:nvSpPr>
        <p:spPr>
          <a:xfrm>
            <a:off x="2980944" y="34107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vehicle_hubs</a:t>
            </a:r>
            <a:endParaRPr lang="en-US" sz="1000" dirty="0"/>
          </a:p>
        </p:txBody>
      </p:sp>
      <p:sp>
        <p:nvSpPr>
          <p:cNvPr id="23" name="ge1_3"/>
          <p:cNvSpPr/>
          <p:nvPr/>
        </p:nvSpPr>
        <p:spPr>
          <a:xfrm>
            <a:off x="2980944" y="3904488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4" name="get1_3"/>
          <p:cNvSpPr txBox="1"/>
          <p:nvPr/>
        </p:nvSpPr>
        <p:spPr>
          <a:xfrm>
            <a:off x="2980944" y="39044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vehicle_locations</a:t>
            </a:r>
            <a:endParaRPr lang="en-US" sz="1000" dirty="0"/>
          </a:p>
        </p:txBody>
      </p:sp>
      <p:sp>
        <p:nvSpPr>
          <p:cNvPr id="25" name="ge1_4"/>
          <p:cNvSpPr/>
          <p:nvPr/>
        </p:nvSpPr>
        <p:spPr>
          <a:xfrm>
            <a:off x="2980944" y="4398264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6" name="get1_4"/>
          <p:cNvSpPr txBox="1"/>
          <p:nvPr/>
        </p:nvSpPr>
        <p:spPr>
          <a:xfrm>
            <a:off x="2980944" y="439826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vehicle_documents</a:t>
            </a:r>
            <a:endParaRPr lang="en-US" sz="1000" dirty="0"/>
          </a:p>
        </p:txBody>
      </p:sp>
      <p:sp>
        <p:nvSpPr>
          <p:cNvPr id="27" name="ge1_5"/>
          <p:cNvSpPr/>
          <p:nvPr/>
        </p:nvSpPr>
        <p:spPr>
          <a:xfrm>
            <a:off x="2980944" y="4892040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8" name="get1_5"/>
          <p:cNvSpPr txBox="1"/>
          <p:nvPr/>
        </p:nvSpPr>
        <p:spPr>
          <a:xfrm>
            <a:off x="2980944" y="489204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vehicle_histories</a:t>
            </a:r>
            <a:endParaRPr lang="en-US" sz="1000" dirty="0"/>
          </a:p>
        </p:txBody>
      </p:sp>
      <p:sp>
        <p:nvSpPr>
          <p:cNvPr id="29" name="gc2"/>
          <p:cNvSpPr/>
          <p:nvPr/>
        </p:nvSpPr>
        <p:spPr>
          <a:xfrm>
            <a:off x="5047488" y="1600200"/>
            <a:ext cx="2057400" cy="384048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30" name="gh2"/>
          <p:cNvSpPr txBox="1"/>
          <p:nvPr/>
        </p:nvSpPr>
        <p:spPr>
          <a:xfrm>
            <a:off x="5184648" y="1737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workflow</a:t>
            </a:r>
            <a:endParaRPr lang="en-US" sz="1700" dirty="0"/>
          </a:p>
        </p:txBody>
      </p:sp>
      <p:sp>
        <p:nvSpPr>
          <p:cNvPr id="31" name="ge2_0"/>
          <p:cNvSpPr/>
          <p:nvPr/>
        </p:nvSpPr>
        <p:spPr>
          <a:xfrm>
            <a:off x="5184648" y="2423160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2" name="get2_0"/>
          <p:cNvSpPr txBox="1"/>
          <p:nvPr/>
        </p:nvSpPr>
        <p:spPr>
          <a:xfrm>
            <a:off x="5184648" y="24231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vehicle_issue_reports</a:t>
            </a:r>
            <a:endParaRPr lang="en-US" sz="1000" dirty="0"/>
          </a:p>
        </p:txBody>
      </p:sp>
      <p:sp>
        <p:nvSpPr>
          <p:cNvPr id="33" name="ge2_1"/>
          <p:cNvSpPr/>
          <p:nvPr/>
        </p:nvSpPr>
        <p:spPr>
          <a:xfrm>
            <a:off x="5184648" y="2916936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4" name="get2_1"/>
          <p:cNvSpPr txBox="1"/>
          <p:nvPr/>
        </p:nvSpPr>
        <p:spPr>
          <a:xfrm>
            <a:off x="5184648" y="2916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maintenance_tickets</a:t>
            </a:r>
            <a:endParaRPr lang="en-US" sz="1000" dirty="0"/>
          </a:p>
        </p:txBody>
      </p:sp>
      <p:sp>
        <p:nvSpPr>
          <p:cNvPr id="35" name="ge2_2"/>
          <p:cNvSpPr/>
          <p:nvPr/>
        </p:nvSpPr>
        <p:spPr>
          <a:xfrm>
            <a:off x="5184648" y="3410712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6" name="get2_2"/>
          <p:cNvSpPr txBox="1"/>
          <p:nvPr/>
        </p:nvSpPr>
        <p:spPr>
          <a:xfrm>
            <a:off x="5184648" y="34107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ticket_sub_issues</a:t>
            </a:r>
            <a:endParaRPr lang="en-US" sz="1000" dirty="0"/>
          </a:p>
        </p:txBody>
      </p:sp>
      <p:sp>
        <p:nvSpPr>
          <p:cNvPr id="37" name="ge2_3"/>
          <p:cNvSpPr/>
          <p:nvPr/>
        </p:nvSpPr>
        <p:spPr>
          <a:xfrm>
            <a:off x="5184648" y="3904488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8" name="get2_3"/>
          <p:cNvSpPr txBox="1"/>
          <p:nvPr/>
        </p:nvSpPr>
        <p:spPr>
          <a:xfrm>
            <a:off x="5184648" y="39044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ticket_archive_logs</a:t>
            </a:r>
            <a:endParaRPr lang="en-US" sz="1000" dirty="0"/>
          </a:p>
        </p:txBody>
      </p:sp>
      <p:sp>
        <p:nvSpPr>
          <p:cNvPr id="39" name="gc3"/>
          <p:cNvSpPr/>
          <p:nvPr/>
        </p:nvSpPr>
        <p:spPr>
          <a:xfrm>
            <a:off x="7251192" y="1600200"/>
            <a:ext cx="2057400" cy="384048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0" name="gh3"/>
          <p:cNvSpPr txBox="1"/>
          <p:nvPr/>
        </p:nvSpPr>
        <p:spPr>
          <a:xfrm>
            <a:off x="7388352" y="1737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care</a:t>
            </a:r>
            <a:endParaRPr lang="en-US" sz="1700" dirty="0"/>
          </a:p>
        </p:txBody>
      </p:sp>
      <p:sp>
        <p:nvSpPr>
          <p:cNvPr id="41" name="ge3_0"/>
          <p:cNvSpPr/>
          <p:nvPr/>
        </p:nvSpPr>
        <p:spPr>
          <a:xfrm>
            <a:off x="7388352" y="2423160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42" name="get3_0"/>
          <p:cNvSpPr txBox="1"/>
          <p:nvPr/>
        </p:nvSpPr>
        <p:spPr>
          <a:xfrm>
            <a:off x="7388352" y="24231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vehicle_condition_checks</a:t>
            </a:r>
            <a:endParaRPr lang="en-US" sz="1000" dirty="0"/>
          </a:p>
        </p:txBody>
      </p:sp>
      <p:sp>
        <p:nvSpPr>
          <p:cNvPr id="43" name="ge3_1"/>
          <p:cNvSpPr/>
          <p:nvPr/>
        </p:nvSpPr>
        <p:spPr>
          <a:xfrm>
            <a:off x="7388352" y="2916936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44" name="get3_1"/>
          <p:cNvSpPr txBox="1"/>
          <p:nvPr/>
        </p:nvSpPr>
        <p:spPr>
          <a:xfrm>
            <a:off x="7388352" y="2916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vehicle_readiness_checks</a:t>
            </a:r>
            <a:endParaRPr lang="en-US" sz="1000" dirty="0"/>
          </a:p>
        </p:txBody>
      </p:sp>
      <p:sp>
        <p:nvSpPr>
          <p:cNvPr id="45" name="ge3_2"/>
          <p:cNvSpPr/>
          <p:nvPr/>
        </p:nvSpPr>
        <p:spPr>
          <a:xfrm>
            <a:off x="7388352" y="3410712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46" name="get3_2"/>
          <p:cNvSpPr txBox="1"/>
          <p:nvPr/>
        </p:nvSpPr>
        <p:spPr>
          <a:xfrm>
            <a:off x="7388352" y="34107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vehicle_maintenance_schedules</a:t>
            </a:r>
            <a:endParaRPr lang="en-US" sz="1000" dirty="0"/>
          </a:p>
        </p:txBody>
      </p:sp>
      <p:sp>
        <p:nvSpPr>
          <p:cNvPr id="47" name="ge3_3"/>
          <p:cNvSpPr/>
          <p:nvPr/>
        </p:nvSpPr>
        <p:spPr>
          <a:xfrm>
            <a:off x="7388352" y="3904488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48" name="get3_3"/>
          <p:cNvSpPr txBox="1"/>
          <p:nvPr/>
        </p:nvSpPr>
        <p:spPr>
          <a:xfrm>
            <a:off x="7388352" y="39044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vehicle_maintenance_records</a:t>
            </a:r>
            <a:endParaRPr lang="en-US" sz="1000" dirty="0"/>
          </a:p>
        </p:txBody>
      </p:sp>
      <p:sp>
        <p:nvSpPr>
          <p:cNvPr id="49" name="gc4"/>
          <p:cNvSpPr/>
          <p:nvPr/>
        </p:nvSpPr>
        <p:spPr>
          <a:xfrm>
            <a:off x="9454896" y="1600200"/>
            <a:ext cx="2057400" cy="3840480"/>
          </a:xfrm>
          <a:prstGeom prst="roundRect">
            <a:avLst>
              <a:gd name="adj" fmla="val 6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50" name="gh4"/>
          <p:cNvSpPr txBox="1"/>
          <p:nvPr/>
        </p:nvSpPr>
        <p:spPr>
          <a:xfrm>
            <a:off x="9592056" y="17373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700" dirty="0"/>
          </a:p>
        </p:txBody>
      </p:sp>
      <p:sp>
        <p:nvSpPr>
          <p:cNvPr id="51" name="ge4_0"/>
          <p:cNvSpPr/>
          <p:nvPr/>
        </p:nvSpPr>
        <p:spPr>
          <a:xfrm>
            <a:off x="9592056" y="2423160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52" name="get4_0"/>
          <p:cNvSpPr txBox="1"/>
          <p:nvPr/>
        </p:nvSpPr>
        <p:spPr>
          <a:xfrm>
            <a:off x="9592056" y="24231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activity_logs</a:t>
            </a:r>
            <a:endParaRPr lang="en-US" sz="1000" dirty="0"/>
          </a:p>
        </p:txBody>
      </p:sp>
      <p:sp>
        <p:nvSpPr>
          <p:cNvPr id="53" name="ge4_1"/>
          <p:cNvSpPr/>
          <p:nvPr/>
        </p:nvSpPr>
        <p:spPr>
          <a:xfrm>
            <a:off x="9592056" y="2916936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54" name="get4_1"/>
          <p:cNvSpPr txBox="1"/>
          <p:nvPr/>
        </p:nvSpPr>
        <p:spPr>
          <a:xfrm>
            <a:off x="9592056" y="2916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5" name="ge4_2"/>
          <p:cNvSpPr/>
          <p:nvPr/>
        </p:nvSpPr>
        <p:spPr>
          <a:xfrm>
            <a:off x="9592056" y="3410712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56" name="get4_2"/>
          <p:cNvSpPr txBox="1"/>
          <p:nvPr/>
        </p:nvSpPr>
        <p:spPr>
          <a:xfrm>
            <a:off x="9592056" y="34107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concern_reports</a:t>
            </a:r>
            <a:endParaRPr lang="en-US" sz="1000" dirty="0"/>
          </a:p>
        </p:txBody>
      </p:sp>
      <p:sp>
        <p:nvSpPr>
          <p:cNvPr id="57" name="ge4_3"/>
          <p:cNvSpPr/>
          <p:nvPr/>
        </p:nvSpPr>
        <p:spPr>
          <a:xfrm>
            <a:off x="9592056" y="3904488"/>
            <a:ext cx="178308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58" name="get4_3"/>
          <p:cNvSpPr txBox="1"/>
          <p:nvPr/>
        </p:nvSpPr>
        <p:spPr>
          <a:xfrm>
            <a:off x="9592056" y="39044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-30" kern="0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</a:t>
            </a:r>
            <a:endParaRPr lang="en-US" sz="1000" dirty="0"/>
          </a:p>
        </p:txBody>
      </p:sp>
      <p:sp>
        <p:nvSpPr>
          <p:cNvPr id="59" name="dbN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tables in total. Every fleet record carries a barangay id, so each barangay only ever sees its own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numbers</a:t>
            </a:r>
            <a:endParaRPr lang="en-US" sz="3800" dirty="0"/>
          </a:p>
        </p:txBody>
      </p:sp>
      <p:sp>
        <p:nvSpPr>
          <p:cNvPr id="3" name="nc0"/>
          <p:cNvSpPr/>
          <p:nvPr/>
        </p:nvSpPr>
        <p:spPr>
          <a:xfrm>
            <a:off x="640080" y="1645920"/>
            <a:ext cx="3474720" cy="2148840"/>
          </a:xfrm>
          <a:prstGeom prst="roundRect">
            <a:avLst>
              <a:gd name="adj" fmla="val 5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na_0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5" name="na_1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0" dirty="0"/>
          </a:p>
        </p:txBody>
      </p:sp>
      <p:sp>
        <p:nvSpPr>
          <p:cNvPr id="6" name="na_2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0" dirty="0"/>
          </a:p>
        </p:txBody>
      </p:sp>
      <p:sp>
        <p:nvSpPr>
          <p:cNvPr id="7" name="na_3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0" dirty="0"/>
          </a:p>
        </p:txBody>
      </p:sp>
      <p:sp>
        <p:nvSpPr>
          <p:cNvPr id="8" name="na_4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0" dirty="0"/>
          </a:p>
        </p:txBody>
      </p:sp>
      <p:sp>
        <p:nvSpPr>
          <p:cNvPr id="9" name="na_5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0" dirty="0"/>
          </a:p>
        </p:txBody>
      </p:sp>
      <p:sp>
        <p:nvSpPr>
          <p:cNvPr id="10" name="na_6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0" dirty="0"/>
          </a:p>
        </p:txBody>
      </p:sp>
      <p:sp>
        <p:nvSpPr>
          <p:cNvPr id="11" name="na_7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0" dirty="0"/>
          </a:p>
        </p:txBody>
      </p:sp>
      <p:sp>
        <p:nvSpPr>
          <p:cNvPr id="12" name="na_8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0" dirty="0"/>
          </a:p>
        </p:txBody>
      </p:sp>
      <p:sp>
        <p:nvSpPr>
          <p:cNvPr id="13" name="na_9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0" dirty="0"/>
          </a:p>
        </p:txBody>
      </p:sp>
      <p:sp>
        <p:nvSpPr>
          <p:cNvPr id="14" name="na_10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0" dirty="0"/>
          </a:p>
        </p:txBody>
      </p:sp>
      <p:sp>
        <p:nvSpPr>
          <p:cNvPr id="15" name="na_11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0" dirty="0"/>
          </a:p>
        </p:txBody>
      </p:sp>
      <p:sp>
        <p:nvSpPr>
          <p:cNvPr id="16" name="na_12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0" dirty="0"/>
          </a:p>
        </p:txBody>
      </p:sp>
      <p:sp>
        <p:nvSpPr>
          <p:cNvPr id="17" name="na_13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000" dirty="0"/>
          </a:p>
        </p:txBody>
      </p:sp>
      <p:sp>
        <p:nvSpPr>
          <p:cNvPr id="18" name="na_14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0" dirty="0"/>
          </a:p>
        </p:txBody>
      </p:sp>
      <p:sp>
        <p:nvSpPr>
          <p:cNvPr id="19" name="na_15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0" dirty="0"/>
          </a:p>
        </p:txBody>
      </p:sp>
      <p:sp>
        <p:nvSpPr>
          <p:cNvPr id="20" name="na_16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000" dirty="0"/>
          </a:p>
        </p:txBody>
      </p:sp>
      <p:sp>
        <p:nvSpPr>
          <p:cNvPr id="21" name="na_17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7000" dirty="0"/>
          </a:p>
        </p:txBody>
      </p:sp>
      <p:sp>
        <p:nvSpPr>
          <p:cNvPr id="22" name="na_18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000" dirty="0"/>
          </a:p>
        </p:txBody>
      </p:sp>
      <p:sp>
        <p:nvSpPr>
          <p:cNvPr id="23" name="na_19"/>
          <p:cNvSpPr txBox="1"/>
          <p:nvPr/>
        </p:nvSpPr>
        <p:spPr>
          <a:xfrm>
            <a:off x="64008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7000" dirty="0"/>
          </a:p>
        </p:txBody>
      </p:sp>
      <p:sp>
        <p:nvSpPr>
          <p:cNvPr id="24" name="nl0"/>
          <p:cNvSpPr txBox="1"/>
          <p:nvPr/>
        </p:nvSpPr>
        <p:spPr>
          <a:xfrm>
            <a:off x="6400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2000" dirty="0"/>
          </a:p>
        </p:txBody>
      </p:sp>
      <p:sp>
        <p:nvSpPr>
          <p:cNvPr id="25" name="nc1"/>
          <p:cNvSpPr/>
          <p:nvPr/>
        </p:nvSpPr>
        <p:spPr>
          <a:xfrm>
            <a:off x="4343400" y="1645920"/>
            <a:ext cx="3474720" cy="2148840"/>
          </a:xfrm>
          <a:prstGeom prst="roundRect">
            <a:avLst>
              <a:gd name="adj" fmla="val 5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26" name="nb_0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27" name="nb_1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0" dirty="0"/>
          </a:p>
        </p:txBody>
      </p:sp>
      <p:sp>
        <p:nvSpPr>
          <p:cNvPr id="28" name="nb_2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0" dirty="0"/>
          </a:p>
        </p:txBody>
      </p:sp>
      <p:sp>
        <p:nvSpPr>
          <p:cNvPr id="29" name="nb_3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0" dirty="0"/>
          </a:p>
        </p:txBody>
      </p:sp>
      <p:sp>
        <p:nvSpPr>
          <p:cNvPr id="30" name="nb_4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7000" dirty="0"/>
          </a:p>
        </p:txBody>
      </p:sp>
      <p:sp>
        <p:nvSpPr>
          <p:cNvPr id="31" name="nb_5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7000" dirty="0"/>
          </a:p>
        </p:txBody>
      </p:sp>
      <p:sp>
        <p:nvSpPr>
          <p:cNvPr id="32" name="nb_6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000" dirty="0"/>
          </a:p>
        </p:txBody>
      </p:sp>
      <p:sp>
        <p:nvSpPr>
          <p:cNvPr id="33" name="nb_7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7000" dirty="0"/>
          </a:p>
        </p:txBody>
      </p:sp>
      <p:sp>
        <p:nvSpPr>
          <p:cNvPr id="34" name="nb_8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7000" dirty="0"/>
          </a:p>
        </p:txBody>
      </p:sp>
      <p:sp>
        <p:nvSpPr>
          <p:cNvPr id="35" name="nb_9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7000" dirty="0"/>
          </a:p>
        </p:txBody>
      </p:sp>
      <p:sp>
        <p:nvSpPr>
          <p:cNvPr id="36" name="nb_10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000" dirty="0"/>
          </a:p>
        </p:txBody>
      </p:sp>
      <p:sp>
        <p:nvSpPr>
          <p:cNvPr id="37" name="nb_11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7000" dirty="0"/>
          </a:p>
        </p:txBody>
      </p:sp>
      <p:sp>
        <p:nvSpPr>
          <p:cNvPr id="38" name="nb_12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7000" dirty="0"/>
          </a:p>
        </p:txBody>
      </p:sp>
      <p:sp>
        <p:nvSpPr>
          <p:cNvPr id="39" name="nb_13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7000" dirty="0"/>
          </a:p>
        </p:txBody>
      </p:sp>
      <p:sp>
        <p:nvSpPr>
          <p:cNvPr id="40" name="nb_14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7000" dirty="0"/>
          </a:p>
        </p:txBody>
      </p:sp>
      <p:sp>
        <p:nvSpPr>
          <p:cNvPr id="41" name="nb_15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7000" dirty="0"/>
          </a:p>
        </p:txBody>
      </p:sp>
      <p:sp>
        <p:nvSpPr>
          <p:cNvPr id="42" name="nb_16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7000" dirty="0"/>
          </a:p>
        </p:txBody>
      </p:sp>
      <p:sp>
        <p:nvSpPr>
          <p:cNvPr id="43" name="nb_17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7000" dirty="0"/>
          </a:p>
        </p:txBody>
      </p:sp>
      <p:sp>
        <p:nvSpPr>
          <p:cNvPr id="44" name="nb_18"/>
          <p:cNvSpPr txBox="1"/>
          <p:nvPr/>
        </p:nvSpPr>
        <p:spPr>
          <a:xfrm>
            <a:off x="434340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7000" dirty="0"/>
          </a:p>
        </p:txBody>
      </p:sp>
      <p:sp>
        <p:nvSpPr>
          <p:cNvPr id="45" name="nl1"/>
          <p:cNvSpPr txBox="1"/>
          <p:nvPr/>
        </p:nvSpPr>
        <p:spPr>
          <a:xfrm>
            <a:off x="434340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000" dirty="0"/>
          </a:p>
        </p:txBody>
      </p:sp>
      <p:sp>
        <p:nvSpPr>
          <p:cNvPr id="46" name="nc2"/>
          <p:cNvSpPr/>
          <p:nvPr/>
        </p:nvSpPr>
        <p:spPr>
          <a:xfrm>
            <a:off x="8046720" y="1645920"/>
            <a:ext cx="3474720" cy="2148840"/>
          </a:xfrm>
          <a:prstGeom prst="roundRect">
            <a:avLst>
              <a:gd name="adj" fmla="val 5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7" name="nc_0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48" name="nc_1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0" dirty="0"/>
          </a:p>
        </p:txBody>
      </p:sp>
      <p:sp>
        <p:nvSpPr>
          <p:cNvPr id="49" name="nc_2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0" dirty="0"/>
          </a:p>
        </p:txBody>
      </p:sp>
      <p:sp>
        <p:nvSpPr>
          <p:cNvPr id="50" name="nc_3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0" dirty="0"/>
          </a:p>
        </p:txBody>
      </p:sp>
      <p:sp>
        <p:nvSpPr>
          <p:cNvPr id="51" name="nc_4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0" dirty="0"/>
          </a:p>
        </p:txBody>
      </p:sp>
      <p:sp>
        <p:nvSpPr>
          <p:cNvPr id="52" name="nc_5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0" dirty="0"/>
          </a:p>
        </p:txBody>
      </p:sp>
      <p:sp>
        <p:nvSpPr>
          <p:cNvPr id="53" name="nc_6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000" dirty="0"/>
          </a:p>
        </p:txBody>
      </p:sp>
      <p:sp>
        <p:nvSpPr>
          <p:cNvPr id="54" name="nc_7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7000" dirty="0"/>
          </a:p>
        </p:txBody>
      </p:sp>
      <p:sp>
        <p:nvSpPr>
          <p:cNvPr id="55" name="nc_8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7000" dirty="0"/>
          </a:p>
        </p:txBody>
      </p:sp>
      <p:sp>
        <p:nvSpPr>
          <p:cNvPr id="56" name="nc_9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000" dirty="0"/>
          </a:p>
        </p:txBody>
      </p:sp>
      <p:sp>
        <p:nvSpPr>
          <p:cNvPr id="57" name="nc_10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7000" dirty="0"/>
          </a:p>
        </p:txBody>
      </p:sp>
      <p:sp>
        <p:nvSpPr>
          <p:cNvPr id="58" name="nc_11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7000" dirty="0"/>
          </a:p>
        </p:txBody>
      </p:sp>
      <p:sp>
        <p:nvSpPr>
          <p:cNvPr id="59" name="nc_12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7000" dirty="0"/>
          </a:p>
        </p:txBody>
      </p:sp>
      <p:sp>
        <p:nvSpPr>
          <p:cNvPr id="60" name="nc_13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7000" dirty="0"/>
          </a:p>
        </p:txBody>
      </p:sp>
      <p:sp>
        <p:nvSpPr>
          <p:cNvPr id="61" name="nc_14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7000" dirty="0"/>
          </a:p>
        </p:txBody>
      </p:sp>
      <p:sp>
        <p:nvSpPr>
          <p:cNvPr id="62" name="nc_15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7000" dirty="0"/>
          </a:p>
        </p:txBody>
      </p:sp>
      <p:sp>
        <p:nvSpPr>
          <p:cNvPr id="63" name="nc_16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7000" dirty="0"/>
          </a:p>
        </p:txBody>
      </p:sp>
      <p:sp>
        <p:nvSpPr>
          <p:cNvPr id="64" name="nc_17"/>
          <p:cNvSpPr txBox="1"/>
          <p:nvPr/>
        </p:nvSpPr>
        <p:spPr>
          <a:xfrm>
            <a:off x="8046720" y="18288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7000" dirty="0"/>
          </a:p>
        </p:txBody>
      </p:sp>
      <p:sp>
        <p:nvSpPr>
          <p:cNvPr id="65" name="nl2"/>
          <p:cNvSpPr txBox="1"/>
          <p:nvPr/>
        </p:nvSpPr>
        <p:spPr>
          <a:xfrm>
            <a:off x="804672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abilities</a:t>
            </a:r>
            <a:endParaRPr lang="en-US" sz="2000" dirty="0"/>
          </a:p>
        </p:txBody>
      </p:sp>
      <p:sp>
        <p:nvSpPr>
          <p:cNvPr id="66" name="nc3"/>
          <p:cNvSpPr/>
          <p:nvPr/>
        </p:nvSpPr>
        <p:spPr>
          <a:xfrm>
            <a:off x="640080" y="4023360"/>
            <a:ext cx="3474720" cy="2148840"/>
          </a:xfrm>
          <a:prstGeom prst="roundRect">
            <a:avLst>
              <a:gd name="adj" fmla="val 5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67" name="nd_0"/>
          <p:cNvSpPr txBox="1"/>
          <p:nvPr/>
        </p:nvSpPr>
        <p:spPr>
          <a:xfrm>
            <a:off x="64008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68" name="nd_1"/>
          <p:cNvSpPr txBox="1"/>
          <p:nvPr/>
        </p:nvSpPr>
        <p:spPr>
          <a:xfrm>
            <a:off x="64008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0" dirty="0"/>
          </a:p>
        </p:txBody>
      </p:sp>
      <p:sp>
        <p:nvSpPr>
          <p:cNvPr id="69" name="nd_2"/>
          <p:cNvSpPr txBox="1"/>
          <p:nvPr/>
        </p:nvSpPr>
        <p:spPr>
          <a:xfrm>
            <a:off x="64008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0" dirty="0"/>
          </a:p>
        </p:txBody>
      </p:sp>
      <p:sp>
        <p:nvSpPr>
          <p:cNvPr id="70" name="nd_3"/>
          <p:cNvSpPr txBox="1"/>
          <p:nvPr/>
        </p:nvSpPr>
        <p:spPr>
          <a:xfrm>
            <a:off x="64008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0" dirty="0"/>
          </a:p>
        </p:txBody>
      </p:sp>
      <p:sp>
        <p:nvSpPr>
          <p:cNvPr id="71" name="nd_4"/>
          <p:cNvSpPr txBox="1"/>
          <p:nvPr/>
        </p:nvSpPr>
        <p:spPr>
          <a:xfrm>
            <a:off x="64008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0" dirty="0"/>
          </a:p>
        </p:txBody>
      </p:sp>
      <p:sp>
        <p:nvSpPr>
          <p:cNvPr id="72" name="nl3"/>
          <p:cNvSpPr txBox="1"/>
          <p:nvPr/>
        </p:nvSpPr>
        <p:spPr>
          <a:xfrm>
            <a:off x="640080" y="5486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2000" dirty="0"/>
          </a:p>
        </p:txBody>
      </p:sp>
      <p:sp>
        <p:nvSpPr>
          <p:cNvPr id="73" name="nc4"/>
          <p:cNvSpPr/>
          <p:nvPr/>
        </p:nvSpPr>
        <p:spPr>
          <a:xfrm>
            <a:off x="4343400" y="4023360"/>
            <a:ext cx="3474720" cy="2148840"/>
          </a:xfrm>
          <a:prstGeom prst="roundRect">
            <a:avLst>
              <a:gd name="adj" fmla="val 5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74" name="ne_0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75" name="ne_1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0" dirty="0"/>
          </a:p>
        </p:txBody>
      </p:sp>
      <p:sp>
        <p:nvSpPr>
          <p:cNvPr id="76" name="ne_2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0" dirty="0"/>
          </a:p>
        </p:txBody>
      </p:sp>
      <p:sp>
        <p:nvSpPr>
          <p:cNvPr id="77" name="ne_3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0" dirty="0"/>
          </a:p>
        </p:txBody>
      </p:sp>
      <p:sp>
        <p:nvSpPr>
          <p:cNvPr id="78" name="ne_4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0" dirty="0"/>
          </a:p>
        </p:txBody>
      </p:sp>
      <p:sp>
        <p:nvSpPr>
          <p:cNvPr id="79" name="ne_5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0" dirty="0"/>
          </a:p>
        </p:txBody>
      </p:sp>
      <p:sp>
        <p:nvSpPr>
          <p:cNvPr id="80" name="ne_6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0" dirty="0"/>
          </a:p>
        </p:txBody>
      </p:sp>
      <p:sp>
        <p:nvSpPr>
          <p:cNvPr id="81" name="ne_7"/>
          <p:cNvSpPr txBox="1"/>
          <p:nvPr/>
        </p:nvSpPr>
        <p:spPr>
          <a:xfrm>
            <a:off x="434340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0" dirty="0"/>
          </a:p>
        </p:txBody>
      </p:sp>
      <p:sp>
        <p:nvSpPr>
          <p:cNvPr id="82" name="nl4"/>
          <p:cNvSpPr txBox="1"/>
          <p:nvPr/>
        </p:nvSpPr>
        <p:spPr>
          <a:xfrm>
            <a:off x="4343400" y="5486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2000" dirty="0"/>
          </a:p>
        </p:txBody>
      </p:sp>
      <p:sp>
        <p:nvSpPr>
          <p:cNvPr id="83" name="nc5"/>
          <p:cNvSpPr/>
          <p:nvPr/>
        </p:nvSpPr>
        <p:spPr>
          <a:xfrm>
            <a:off x="8046720" y="4023360"/>
            <a:ext cx="3474720" cy="2148840"/>
          </a:xfrm>
          <a:prstGeom prst="roundRect">
            <a:avLst>
              <a:gd name="adj" fmla="val 5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84" name="nf_0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0" dirty="0"/>
          </a:p>
        </p:txBody>
      </p:sp>
      <p:sp>
        <p:nvSpPr>
          <p:cNvPr id="85" name="nf_1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0" dirty="0"/>
          </a:p>
        </p:txBody>
      </p:sp>
      <p:sp>
        <p:nvSpPr>
          <p:cNvPr id="86" name="nf_2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000" dirty="0"/>
          </a:p>
        </p:txBody>
      </p:sp>
      <p:sp>
        <p:nvSpPr>
          <p:cNvPr id="87" name="nf_3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7000" dirty="0"/>
          </a:p>
        </p:txBody>
      </p:sp>
      <p:sp>
        <p:nvSpPr>
          <p:cNvPr id="88" name="nf_4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7000" dirty="0"/>
          </a:p>
        </p:txBody>
      </p:sp>
      <p:sp>
        <p:nvSpPr>
          <p:cNvPr id="89" name="nf_5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7000" dirty="0"/>
          </a:p>
        </p:txBody>
      </p:sp>
      <p:sp>
        <p:nvSpPr>
          <p:cNvPr id="90" name="nf_6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0" dirty="0"/>
          </a:p>
        </p:txBody>
      </p:sp>
      <p:sp>
        <p:nvSpPr>
          <p:cNvPr id="91" name="nf_7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7000" dirty="0"/>
          </a:p>
        </p:txBody>
      </p:sp>
      <p:sp>
        <p:nvSpPr>
          <p:cNvPr id="92" name="nf_8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7000" dirty="0"/>
          </a:p>
        </p:txBody>
      </p:sp>
      <p:sp>
        <p:nvSpPr>
          <p:cNvPr id="93" name="nf_9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7000" dirty="0"/>
          </a:p>
        </p:txBody>
      </p:sp>
      <p:sp>
        <p:nvSpPr>
          <p:cNvPr id="94" name="nf_10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000" dirty="0"/>
          </a:p>
        </p:txBody>
      </p:sp>
      <p:sp>
        <p:nvSpPr>
          <p:cNvPr id="95" name="nf_11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7000" dirty="0"/>
          </a:p>
        </p:txBody>
      </p:sp>
      <p:sp>
        <p:nvSpPr>
          <p:cNvPr id="96" name="nf_12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7000" dirty="0"/>
          </a:p>
        </p:txBody>
      </p:sp>
      <p:sp>
        <p:nvSpPr>
          <p:cNvPr id="97" name="nf_13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7000" dirty="0"/>
          </a:p>
        </p:txBody>
      </p:sp>
      <p:sp>
        <p:nvSpPr>
          <p:cNvPr id="98" name="nf_14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7000" dirty="0"/>
          </a:p>
        </p:txBody>
      </p:sp>
      <p:sp>
        <p:nvSpPr>
          <p:cNvPr id="99" name="nf_15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7000" dirty="0"/>
          </a:p>
        </p:txBody>
      </p:sp>
      <p:sp>
        <p:nvSpPr>
          <p:cNvPr id="100" name="nf_16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</a:t>
            </a:r>
            <a:endParaRPr lang="en-US" sz="7000" dirty="0"/>
          </a:p>
        </p:txBody>
      </p:sp>
      <p:sp>
        <p:nvSpPr>
          <p:cNvPr id="101" name="nf_17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</a:t>
            </a:r>
            <a:endParaRPr lang="en-US" sz="7000" dirty="0"/>
          </a:p>
        </p:txBody>
      </p:sp>
      <p:sp>
        <p:nvSpPr>
          <p:cNvPr id="102" name="nf_18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</a:t>
            </a:r>
            <a:endParaRPr lang="en-US" sz="7000" dirty="0"/>
          </a:p>
        </p:txBody>
      </p:sp>
      <p:sp>
        <p:nvSpPr>
          <p:cNvPr id="103" name="nf_19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7000" dirty="0"/>
          </a:p>
        </p:txBody>
      </p:sp>
      <p:sp>
        <p:nvSpPr>
          <p:cNvPr id="104" name="nf_20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7000" dirty="0"/>
          </a:p>
        </p:txBody>
      </p:sp>
      <p:sp>
        <p:nvSpPr>
          <p:cNvPr id="105" name="nf_21"/>
          <p:cNvSpPr txBox="1"/>
          <p:nvPr/>
        </p:nvSpPr>
        <p:spPr>
          <a:xfrm>
            <a:off x="8046720" y="4206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7000" dirty="0"/>
          </a:p>
        </p:txBody>
      </p:sp>
      <p:sp>
        <p:nvSpPr>
          <p:cNvPr id="106" name="nl5"/>
          <p:cNvSpPr txBox="1"/>
          <p:nvPr/>
        </p:nvSpPr>
        <p:spPr>
          <a:xfrm>
            <a:off x="8046720" y="5486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nodeType="withEffect">
                                  <p:stCondLst>
                                    <p:cond delay="835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835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1025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nodeType="withEffect">
                                  <p:stCondLst>
                                    <p:cond delay="1025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1215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nodeType="withEffect">
                                  <p:stCondLst>
                                    <p:cond delay="1975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nodeType="withEffect">
                                  <p:stCondLst>
                                    <p:cond delay="1975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nodeType="withEffect">
                                  <p:stCondLst>
                                    <p:cond delay="2165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nodeType="withEffect">
                                  <p:stCondLst>
                                    <p:cond delay="2165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nodeType="withEffect">
                                  <p:stCondLst>
                                    <p:cond delay="2355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nodeType="withEffect">
                                  <p:stCondLst>
                                    <p:cond delay="2355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nodeType="withEffect">
                                  <p:stCondLst>
                                    <p:cond delay="1175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nodeType="withEffect">
                                  <p:stCondLst>
                                    <p:cond delay="1175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fill="hold" nodeType="withEffect">
                                  <p:stCondLst>
                                    <p:cond delay="1325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nodeType="withEffect">
                                  <p:stCondLst>
                                    <p:cond delay="1325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nodeType="withEffect">
                                  <p:stCondLst>
                                    <p:cond delay="1475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nodeType="withEffect">
                                  <p:stCondLst>
                                    <p:cond delay="1475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nodeType="withEffect">
                                  <p:stCondLst>
                                    <p:cond delay="1625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nodeType="withEffect">
                                  <p:stCondLst>
                                    <p:cond delay="1625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fill="hold" nodeType="withEffect">
                                  <p:stCondLst>
                                    <p:cond delay="1775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nodeType="withEffect">
                                  <p:stCondLst>
                                    <p:cond delay="1775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fill="hold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fill="hold" nodeType="withEffect">
                                  <p:stCondLst>
                                    <p:cond delay="2075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nodeType="withEffect">
                                  <p:stCondLst>
                                    <p:cond delay="2075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fill="hold" nodeType="withEffect">
                                  <p:stCondLst>
                                    <p:cond delay="2225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nodeType="withEffect">
                                  <p:stCondLst>
                                    <p:cond delay="2225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fill="hold" nodeType="withEffect">
                                  <p:stCondLst>
                                    <p:cond delay="2375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nodeType="withEffect">
                                  <p:stCondLst>
                                    <p:cond delay="2375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fill="hold" nodeType="withEffect">
                                  <p:stCondLst>
                                    <p:cond delay="2525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nodeType="withEffect">
                                  <p:stCondLst>
                                    <p:cond delay="2525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nodeType="withEffect">
                                  <p:stCondLst>
                                    <p:cond delay="2675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nodeType="withEffect">
                                  <p:stCondLst>
                                    <p:cond delay="2675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3800" dirty="0"/>
          </a:p>
        </p:txBody>
      </p:sp>
      <p:sp>
        <p:nvSpPr>
          <p:cNvPr id="3" name="sA_frame"/>
          <p:cNvSpPr/>
          <p:nvPr/>
        </p:nvSpPr>
        <p:spPr>
          <a:xfrm>
            <a:off x="640080" y="1417320"/>
            <a:ext cx="7580376" cy="4689158"/>
          </a:xfrm>
          <a:prstGeom prst="roundRect">
            <a:avLst>
              <a:gd name="adj" fmla="val 273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6F">
                <a:alpha val="30000"/>
              </a:srgbClr>
            </a:outerShdw>
          </a:effectLst>
        </p:spPr>
      </p:sp>
      <p:sp>
        <p:nvSpPr>
          <p:cNvPr id="4" name="sA_dot0"/>
          <p:cNvSpPr/>
          <p:nvPr/>
        </p:nvSpPr>
        <p:spPr>
          <a:xfrm>
            <a:off x="841248" y="157276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A_dot1"/>
          <p:cNvSpPr/>
          <p:nvPr/>
        </p:nvSpPr>
        <p:spPr>
          <a:xfrm>
            <a:off x="1042416" y="157276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A_dot2"/>
          <p:cNvSpPr/>
          <p:nvPr/>
        </p:nvSpPr>
        <p:spPr>
          <a:xfrm>
            <a:off x="1243584" y="157276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sA_img" descr="asse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7360920" cy="4140518"/>
          </a:xfrm>
          <a:prstGeom prst="rect">
            <a:avLst/>
          </a:prstGeom>
        </p:spPr>
      </p:pic>
      <p:sp>
        <p:nvSpPr>
          <p:cNvPr id="8" name="sApc0"/>
          <p:cNvSpPr/>
          <p:nvPr/>
        </p:nvSpPr>
        <p:spPr>
          <a:xfrm>
            <a:off x="8549640" y="155448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sApd0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sAp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057400"/>
            <a:ext cx="274320" cy="274320"/>
          </a:xfrm>
          <a:prstGeom prst="rect">
            <a:avLst/>
          </a:prstGeom>
        </p:spPr>
      </p:pic>
      <p:sp>
        <p:nvSpPr>
          <p:cNvPr id="11" name="sApt0"/>
          <p:cNvSpPr txBox="1"/>
          <p:nvPr/>
        </p:nvSpPr>
        <p:spPr>
          <a:xfrm>
            <a:off x="9418320" y="166420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readiness of every vehicle</a:t>
            </a:r>
            <a:endParaRPr lang="en-US" sz="1600" dirty="0"/>
          </a:p>
        </p:txBody>
      </p:sp>
      <p:sp>
        <p:nvSpPr>
          <p:cNvPr id="12" name="sApc1"/>
          <p:cNvSpPr/>
          <p:nvPr/>
        </p:nvSpPr>
        <p:spPr>
          <a:xfrm>
            <a:off x="8549640" y="301752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3" name="sApd1"/>
          <p:cNvSpPr/>
          <p:nvPr/>
        </p:nvSpPr>
        <p:spPr>
          <a:xfrm>
            <a:off x="8732520" y="33832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sAp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520440"/>
            <a:ext cx="274320" cy="274320"/>
          </a:xfrm>
          <a:prstGeom prst="rect">
            <a:avLst/>
          </a:prstGeom>
        </p:spPr>
      </p:pic>
      <p:sp>
        <p:nvSpPr>
          <p:cNvPr id="15" name="sApt1"/>
          <p:cNvSpPr txBox="1"/>
          <p:nvPr/>
        </p:nvSpPr>
        <p:spPr>
          <a:xfrm>
            <a:off x="9418320" y="312724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queue of what needs attention</a:t>
            </a:r>
            <a:endParaRPr lang="en-US" sz="1600" dirty="0"/>
          </a:p>
        </p:txBody>
      </p:sp>
      <p:sp>
        <p:nvSpPr>
          <p:cNvPr id="16" name="sApc2"/>
          <p:cNvSpPr/>
          <p:nvPr/>
        </p:nvSpPr>
        <p:spPr>
          <a:xfrm>
            <a:off x="8549640" y="448056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7" name="sApd2"/>
          <p:cNvSpPr/>
          <p:nvPr/>
        </p:nvSpPr>
        <p:spPr>
          <a:xfrm>
            <a:off x="8732520" y="484632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8" name="sAp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274320" cy="274320"/>
          </a:xfrm>
          <a:prstGeom prst="rect">
            <a:avLst/>
          </a:prstGeom>
        </p:spPr>
      </p:pic>
      <p:sp>
        <p:nvSpPr>
          <p:cNvPr id="19" name="sApt2"/>
          <p:cNvSpPr txBox="1"/>
          <p:nvPr/>
        </p:nvSpPr>
        <p:spPr>
          <a:xfrm>
            <a:off x="9418320" y="459028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and workload at a glance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3800" dirty="0"/>
          </a:p>
        </p:txBody>
      </p:sp>
      <p:sp>
        <p:nvSpPr>
          <p:cNvPr id="3" name="sB_frame"/>
          <p:cNvSpPr/>
          <p:nvPr/>
        </p:nvSpPr>
        <p:spPr>
          <a:xfrm>
            <a:off x="640080" y="1417320"/>
            <a:ext cx="7580376" cy="4689158"/>
          </a:xfrm>
          <a:prstGeom prst="roundRect">
            <a:avLst>
              <a:gd name="adj" fmla="val 273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6F">
                <a:alpha val="30000"/>
              </a:srgbClr>
            </a:outerShdw>
          </a:effectLst>
        </p:spPr>
      </p:sp>
      <p:sp>
        <p:nvSpPr>
          <p:cNvPr id="4" name="sB_dot0"/>
          <p:cNvSpPr/>
          <p:nvPr/>
        </p:nvSpPr>
        <p:spPr>
          <a:xfrm>
            <a:off x="841248" y="157276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B_dot1"/>
          <p:cNvSpPr/>
          <p:nvPr/>
        </p:nvSpPr>
        <p:spPr>
          <a:xfrm>
            <a:off x="1042416" y="157276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B_dot2"/>
          <p:cNvSpPr/>
          <p:nvPr/>
        </p:nvSpPr>
        <p:spPr>
          <a:xfrm>
            <a:off x="1243584" y="157276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sB_img" descr="assets/admin-ti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7360920" cy="4140518"/>
          </a:xfrm>
          <a:prstGeom prst="rect">
            <a:avLst/>
          </a:prstGeom>
        </p:spPr>
      </p:pic>
      <p:sp>
        <p:nvSpPr>
          <p:cNvPr id="8" name="sBpc0"/>
          <p:cNvSpPr/>
          <p:nvPr/>
        </p:nvSpPr>
        <p:spPr>
          <a:xfrm>
            <a:off x="8549640" y="155448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sBpd0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sBp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057400"/>
            <a:ext cx="274320" cy="274320"/>
          </a:xfrm>
          <a:prstGeom prst="rect">
            <a:avLst/>
          </a:prstGeom>
        </p:spPr>
      </p:pic>
      <p:sp>
        <p:nvSpPr>
          <p:cNvPr id="11" name="sBpt0"/>
          <p:cNvSpPr txBox="1"/>
          <p:nvPr/>
        </p:nvSpPr>
        <p:spPr>
          <a:xfrm>
            <a:off x="9418320" y="166420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as a status-coloured card</a:t>
            </a:r>
            <a:endParaRPr lang="en-US" sz="1600" dirty="0"/>
          </a:p>
        </p:txBody>
      </p:sp>
      <p:sp>
        <p:nvSpPr>
          <p:cNvPr id="12" name="sBpc1"/>
          <p:cNvSpPr/>
          <p:nvPr/>
        </p:nvSpPr>
        <p:spPr>
          <a:xfrm>
            <a:off x="8549640" y="301752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3" name="sBpd1"/>
          <p:cNvSpPr/>
          <p:nvPr/>
        </p:nvSpPr>
        <p:spPr>
          <a:xfrm>
            <a:off x="8732520" y="33832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sBp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520440"/>
            <a:ext cx="274320" cy="274320"/>
          </a:xfrm>
          <a:prstGeom prst="rect">
            <a:avLst/>
          </a:prstGeom>
        </p:spPr>
      </p:pic>
      <p:sp>
        <p:nvSpPr>
          <p:cNvPr id="15" name="sBpt1"/>
          <p:cNvSpPr txBox="1"/>
          <p:nvPr/>
        </p:nvSpPr>
        <p:spPr>
          <a:xfrm>
            <a:off x="9418320" y="312724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vehicle, personnel and priority</a:t>
            </a:r>
            <a:endParaRPr lang="en-US" sz="1600" dirty="0"/>
          </a:p>
        </p:txBody>
      </p:sp>
      <p:sp>
        <p:nvSpPr>
          <p:cNvPr id="16" name="sBpc2"/>
          <p:cNvSpPr/>
          <p:nvPr/>
        </p:nvSpPr>
        <p:spPr>
          <a:xfrm>
            <a:off x="8549640" y="448056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7" name="sBpd2"/>
          <p:cNvSpPr/>
          <p:nvPr/>
        </p:nvSpPr>
        <p:spPr>
          <a:xfrm>
            <a:off x="8732520" y="484632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8" name="sBp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274320" cy="274320"/>
          </a:xfrm>
          <a:prstGeom prst="rect">
            <a:avLst/>
          </a:prstGeom>
        </p:spPr>
      </p:pic>
      <p:sp>
        <p:nvSpPr>
          <p:cNvPr id="19" name="sBpt2"/>
          <p:cNvSpPr txBox="1"/>
          <p:nvPr/>
        </p:nvSpPr>
        <p:spPr>
          <a:xfrm>
            <a:off x="9418320" y="459028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badges flag new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details</a:t>
            </a:r>
            <a:endParaRPr lang="en-US" sz="3800" dirty="0"/>
          </a:p>
        </p:txBody>
      </p:sp>
      <p:sp>
        <p:nvSpPr>
          <p:cNvPr id="3" name="sC_frame"/>
          <p:cNvSpPr/>
          <p:nvPr/>
        </p:nvSpPr>
        <p:spPr>
          <a:xfrm>
            <a:off x="640080" y="1417320"/>
            <a:ext cx="7580376" cy="4689158"/>
          </a:xfrm>
          <a:prstGeom prst="roundRect">
            <a:avLst>
              <a:gd name="adj" fmla="val 273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6F">
                <a:alpha val="30000"/>
              </a:srgbClr>
            </a:outerShdw>
          </a:effectLst>
        </p:spPr>
      </p:sp>
      <p:sp>
        <p:nvSpPr>
          <p:cNvPr id="4" name="sC_dot0"/>
          <p:cNvSpPr/>
          <p:nvPr/>
        </p:nvSpPr>
        <p:spPr>
          <a:xfrm>
            <a:off x="841248" y="157276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C_dot1"/>
          <p:cNvSpPr/>
          <p:nvPr/>
        </p:nvSpPr>
        <p:spPr>
          <a:xfrm>
            <a:off x="1042416" y="157276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C_dot2"/>
          <p:cNvSpPr/>
          <p:nvPr/>
        </p:nvSpPr>
        <p:spPr>
          <a:xfrm>
            <a:off x="1243584" y="157276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sC_img" descr="assets/ticket-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7360920" cy="4140518"/>
          </a:xfrm>
          <a:prstGeom prst="rect">
            <a:avLst/>
          </a:prstGeom>
        </p:spPr>
      </p:pic>
      <p:sp>
        <p:nvSpPr>
          <p:cNvPr id="8" name="sCpc0"/>
          <p:cNvSpPr/>
          <p:nvPr/>
        </p:nvSpPr>
        <p:spPr>
          <a:xfrm>
            <a:off x="8549640" y="155448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sCpd0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sCp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057400"/>
            <a:ext cx="274320" cy="274320"/>
          </a:xfrm>
          <a:prstGeom prst="rect">
            <a:avLst/>
          </a:prstGeom>
        </p:spPr>
      </p:pic>
      <p:sp>
        <p:nvSpPr>
          <p:cNvPr id="11" name="sCpt0"/>
          <p:cNvSpPr txBox="1"/>
          <p:nvPr/>
        </p:nvSpPr>
        <p:spPr>
          <a:xfrm>
            <a:off x="9418320" y="166420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progress tracker</a:t>
            </a:r>
            <a:endParaRPr lang="en-US" sz="1600" dirty="0"/>
          </a:p>
        </p:txBody>
      </p:sp>
      <p:sp>
        <p:nvSpPr>
          <p:cNvPr id="12" name="sCpc1"/>
          <p:cNvSpPr/>
          <p:nvPr/>
        </p:nvSpPr>
        <p:spPr>
          <a:xfrm>
            <a:off x="8549640" y="301752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3" name="sCpd1"/>
          <p:cNvSpPr/>
          <p:nvPr/>
        </p:nvSpPr>
        <p:spPr>
          <a:xfrm>
            <a:off x="8732520" y="33832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sCp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520440"/>
            <a:ext cx="274320" cy="274320"/>
          </a:xfrm>
          <a:prstGeom prst="rect">
            <a:avLst/>
          </a:prstGeom>
        </p:spPr>
      </p:pic>
      <p:sp>
        <p:nvSpPr>
          <p:cNvPr id="15" name="sCpt1"/>
          <p:cNvSpPr txBox="1"/>
          <p:nvPr/>
        </p:nvSpPr>
        <p:spPr>
          <a:xfrm>
            <a:off x="9418320" y="312724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people at every step</a:t>
            </a:r>
            <a:endParaRPr lang="en-US" sz="1600" dirty="0"/>
          </a:p>
        </p:txBody>
      </p:sp>
      <p:sp>
        <p:nvSpPr>
          <p:cNvPr id="16" name="sCpc2"/>
          <p:cNvSpPr/>
          <p:nvPr/>
        </p:nvSpPr>
        <p:spPr>
          <a:xfrm>
            <a:off x="8549640" y="448056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7" name="sCpd2"/>
          <p:cNvSpPr/>
          <p:nvPr/>
        </p:nvSpPr>
        <p:spPr>
          <a:xfrm>
            <a:off x="8732520" y="484632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8" name="sCp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274320" cy="274320"/>
          </a:xfrm>
          <a:prstGeom prst="rect">
            <a:avLst/>
          </a:prstGeom>
        </p:spPr>
      </p:pic>
      <p:sp>
        <p:nvSpPr>
          <p:cNvPr id="19" name="sCpt2"/>
          <p:cNvSpPr txBox="1"/>
          <p:nvPr/>
        </p:nvSpPr>
        <p:spPr>
          <a:xfrm>
            <a:off x="9418320" y="459028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kept on the ticket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3800" dirty="0"/>
          </a:p>
        </p:txBody>
      </p:sp>
      <p:sp>
        <p:nvSpPr>
          <p:cNvPr id="3" name="sD_frame"/>
          <p:cNvSpPr/>
          <p:nvPr/>
        </p:nvSpPr>
        <p:spPr>
          <a:xfrm>
            <a:off x="640080" y="1417320"/>
            <a:ext cx="7580376" cy="4689158"/>
          </a:xfrm>
          <a:prstGeom prst="roundRect">
            <a:avLst>
              <a:gd name="adj" fmla="val 273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6F">
                <a:alpha val="30000"/>
              </a:srgbClr>
            </a:outerShdw>
          </a:effectLst>
        </p:spPr>
      </p:sp>
      <p:sp>
        <p:nvSpPr>
          <p:cNvPr id="4" name="sD_dot0"/>
          <p:cNvSpPr/>
          <p:nvPr/>
        </p:nvSpPr>
        <p:spPr>
          <a:xfrm>
            <a:off x="841248" y="157276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D_dot1"/>
          <p:cNvSpPr/>
          <p:nvPr/>
        </p:nvSpPr>
        <p:spPr>
          <a:xfrm>
            <a:off x="1042416" y="157276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D_dot2"/>
          <p:cNvSpPr/>
          <p:nvPr/>
        </p:nvSpPr>
        <p:spPr>
          <a:xfrm>
            <a:off x="1243584" y="157276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sD_img" descr="assets/verify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7360920" cy="4140518"/>
          </a:xfrm>
          <a:prstGeom prst="rect">
            <a:avLst/>
          </a:prstGeom>
        </p:spPr>
      </p:pic>
      <p:sp>
        <p:nvSpPr>
          <p:cNvPr id="8" name="sDpc0"/>
          <p:cNvSpPr/>
          <p:nvPr/>
        </p:nvSpPr>
        <p:spPr>
          <a:xfrm>
            <a:off x="8549640" y="155448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sDpd0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sDp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057400"/>
            <a:ext cx="274320" cy="274320"/>
          </a:xfrm>
          <a:prstGeom prst="rect">
            <a:avLst/>
          </a:prstGeom>
        </p:spPr>
      </p:pic>
      <p:sp>
        <p:nvSpPr>
          <p:cNvPr id="11" name="sDpt0"/>
          <p:cNvSpPr txBox="1"/>
          <p:nvPr/>
        </p:nvSpPr>
        <p:spPr>
          <a:xfrm>
            <a:off x="9418320" y="166420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 close the ticket</a:t>
            </a:r>
            <a:endParaRPr lang="en-US" sz="1600" dirty="0"/>
          </a:p>
        </p:txBody>
      </p:sp>
      <p:sp>
        <p:nvSpPr>
          <p:cNvPr id="12" name="sDpc1"/>
          <p:cNvSpPr/>
          <p:nvPr/>
        </p:nvSpPr>
        <p:spPr>
          <a:xfrm>
            <a:off x="8549640" y="301752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3" name="sDpd1"/>
          <p:cNvSpPr/>
          <p:nvPr/>
        </p:nvSpPr>
        <p:spPr>
          <a:xfrm>
            <a:off x="8732520" y="33832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sDp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520440"/>
            <a:ext cx="274320" cy="274320"/>
          </a:xfrm>
          <a:prstGeom prst="rect">
            <a:avLst/>
          </a:prstGeom>
        </p:spPr>
      </p:pic>
      <p:sp>
        <p:nvSpPr>
          <p:cNvPr id="15" name="sDpt1"/>
          <p:cNvSpPr txBox="1"/>
          <p:nvPr/>
        </p:nvSpPr>
        <p:spPr>
          <a:xfrm>
            <a:off x="9418320" y="312724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Disapprove with a required reason</a:t>
            </a:r>
            <a:endParaRPr lang="en-US" sz="1600" dirty="0"/>
          </a:p>
        </p:txBody>
      </p:sp>
      <p:sp>
        <p:nvSpPr>
          <p:cNvPr id="16" name="sDpc2"/>
          <p:cNvSpPr/>
          <p:nvPr/>
        </p:nvSpPr>
        <p:spPr>
          <a:xfrm>
            <a:off x="8549640" y="448056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7" name="sDpd2"/>
          <p:cNvSpPr/>
          <p:nvPr/>
        </p:nvSpPr>
        <p:spPr>
          <a:xfrm>
            <a:off x="8732520" y="484632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8" name="sDp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274320" cy="274320"/>
          </a:xfrm>
          <a:prstGeom prst="rect">
            <a:avLst/>
          </a:prstGeom>
        </p:spPr>
      </p:pic>
      <p:sp>
        <p:nvSpPr>
          <p:cNvPr id="19" name="sDpt2"/>
          <p:cNvSpPr txBox="1"/>
          <p:nvPr/>
        </p:nvSpPr>
        <p:spPr>
          <a:xfrm>
            <a:off x="9418320" y="459028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assigned Custodian can verify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location</a:t>
            </a:r>
            <a:endParaRPr lang="en-US" sz="3800" dirty="0"/>
          </a:p>
        </p:txBody>
      </p:sp>
      <p:sp>
        <p:nvSpPr>
          <p:cNvPr id="3" name="sE_frame"/>
          <p:cNvSpPr/>
          <p:nvPr/>
        </p:nvSpPr>
        <p:spPr>
          <a:xfrm>
            <a:off x="640080" y="1417320"/>
            <a:ext cx="7580376" cy="4689158"/>
          </a:xfrm>
          <a:prstGeom prst="roundRect">
            <a:avLst>
              <a:gd name="adj" fmla="val 273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6F">
                <a:alpha val="30000"/>
              </a:srgbClr>
            </a:outerShdw>
          </a:effectLst>
        </p:spPr>
      </p:sp>
      <p:sp>
        <p:nvSpPr>
          <p:cNvPr id="4" name="sE_dot0"/>
          <p:cNvSpPr/>
          <p:nvPr/>
        </p:nvSpPr>
        <p:spPr>
          <a:xfrm>
            <a:off x="841248" y="157276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E_dot1"/>
          <p:cNvSpPr/>
          <p:nvPr/>
        </p:nvSpPr>
        <p:spPr>
          <a:xfrm>
            <a:off x="1042416" y="157276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E_dot2"/>
          <p:cNvSpPr/>
          <p:nvPr/>
        </p:nvSpPr>
        <p:spPr>
          <a:xfrm>
            <a:off x="1243584" y="157276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sE_img" descr="assets/vehicle-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7360920" cy="4140518"/>
          </a:xfrm>
          <a:prstGeom prst="rect">
            <a:avLst/>
          </a:prstGeom>
        </p:spPr>
      </p:pic>
      <p:sp>
        <p:nvSpPr>
          <p:cNvPr id="8" name="sEpc0"/>
          <p:cNvSpPr/>
          <p:nvPr/>
        </p:nvSpPr>
        <p:spPr>
          <a:xfrm>
            <a:off x="8549640" y="155448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sEpd0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sEp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057400"/>
            <a:ext cx="274320" cy="274320"/>
          </a:xfrm>
          <a:prstGeom prst="rect">
            <a:avLst/>
          </a:prstGeom>
        </p:spPr>
      </p:pic>
      <p:sp>
        <p:nvSpPr>
          <p:cNvPr id="11" name="sEpt0"/>
          <p:cNvSpPr txBox="1"/>
          <p:nvPr/>
        </p:nvSpPr>
        <p:spPr>
          <a:xfrm>
            <a:off x="9418320" y="166420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on a satellite or street map</a:t>
            </a:r>
            <a:endParaRPr lang="en-US" sz="1600" dirty="0"/>
          </a:p>
        </p:txBody>
      </p:sp>
      <p:sp>
        <p:nvSpPr>
          <p:cNvPr id="12" name="sEpc1"/>
          <p:cNvSpPr/>
          <p:nvPr/>
        </p:nvSpPr>
        <p:spPr>
          <a:xfrm>
            <a:off x="8549640" y="301752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3" name="sEpd1"/>
          <p:cNvSpPr/>
          <p:nvPr/>
        </p:nvSpPr>
        <p:spPr>
          <a:xfrm>
            <a:off x="8732520" y="33832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sEp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520440"/>
            <a:ext cx="274320" cy="274320"/>
          </a:xfrm>
          <a:prstGeom prst="rect">
            <a:avLst/>
          </a:prstGeom>
        </p:spPr>
      </p:pic>
      <p:sp>
        <p:nvSpPr>
          <p:cNvPr id="15" name="sEpt1"/>
          <p:cNvSpPr txBox="1"/>
          <p:nvPr/>
        </p:nvSpPr>
        <p:spPr>
          <a:xfrm>
            <a:off x="9418320" y="312724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 boundary overlay</a:t>
            </a:r>
            <a:endParaRPr lang="en-US" sz="1600" dirty="0"/>
          </a:p>
        </p:txBody>
      </p:sp>
      <p:sp>
        <p:nvSpPr>
          <p:cNvPr id="16" name="sEpc2"/>
          <p:cNvSpPr/>
          <p:nvPr/>
        </p:nvSpPr>
        <p:spPr>
          <a:xfrm>
            <a:off x="8549640" y="4480560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7" name="sEpd2"/>
          <p:cNvSpPr/>
          <p:nvPr/>
        </p:nvSpPr>
        <p:spPr>
          <a:xfrm>
            <a:off x="8732520" y="484632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8" name="sEp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274320" cy="274320"/>
          </a:xfrm>
          <a:prstGeom prst="rect">
            <a:avLst/>
          </a:prstGeom>
        </p:spPr>
      </p:pic>
      <p:sp>
        <p:nvSpPr>
          <p:cNvPr id="19" name="sEpt2"/>
          <p:cNvSpPr txBox="1"/>
          <p:nvPr/>
        </p:nvSpPr>
        <p:spPr>
          <a:xfrm>
            <a:off x="9418320" y="459028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grouped by hub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registration</a:t>
            </a:r>
            <a:endParaRPr lang="en-US" sz="3800" dirty="0"/>
          </a:p>
        </p:txBody>
      </p:sp>
      <p:sp>
        <p:nvSpPr>
          <p:cNvPr id="3" name="sR_frame"/>
          <p:cNvSpPr/>
          <p:nvPr/>
        </p:nvSpPr>
        <p:spPr>
          <a:xfrm>
            <a:off x="640080" y="1417320"/>
            <a:ext cx="5705856" cy="3634740"/>
          </a:xfrm>
          <a:prstGeom prst="roundRect">
            <a:avLst>
              <a:gd name="adj" fmla="val 352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50800" dir="5400000">
              <a:srgbClr val="0B2A6F">
                <a:alpha val="30000"/>
              </a:srgbClr>
            </a:outerShdw>
          </a:effectLst>
        </p:spPr>
      </p:sp>
      <p:sp>
        <p:nvSpPr>
          <p:cNvPr id="4" name="sR_dot0"/>
          <p:cNvSpPr/>
          <p:nvPr/>
        </p:nvSpPr>
        <p:spPr>
          <a:xfrm>
            <a:off x="841248" y="157276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R_dot1"/>
          <p:cNvSpPr/>
          <p:nvPr/>
        </p:nvSpPr>
        <p:spPr>
          <a:xfrm>
            <a:off x="1042416" y="157276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R_dot2"/>
          <p:cNvSpPr/>
          <p:nvPr/>
        </p:nvSpPr>
        <p:spPr>
          <a:xfrm>
            <a:off x="1243584" y="1572768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sR_img" descr="asset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5486400" cy="3086100"/>
          </a:xfrm>
          <a:prstGeom prst="rect">
            <a:avLst/>
          </a:prstGeom>
        </p:spPr>
      </p:pic>
      <p:sp>
        <p:nvSpPr>
          <p:cNvPr id="8" name="sg"/>
          <p:cNvSpPr/>
          <p:nvPr/>
        </p:nvSpPr>
        <p:spPr>
          <a:xfrm>
            <a:off x="6720840" y="1417320"/>
            <a:ext cx="4846320" cy="4754880"/>
          </a:xfrm>
          <a:prstGeom prst="roundRect">
            <a:avLst>
              <a:gd name="adj" fmla="val 2692"/>
            </a:avLst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9" name="sgH"/>
          <p:cNvSpPr txBox="1"/>
          <p:nvPr/>
        </p:nvSpPr>
        <p:spPr>
          <a:xfrm>
            <a:off x="6995160" y="16002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before anyone gets in</a:t>
            </a:r>
            <a:endParaRPr lang="en-US" sz="2100" dirty="0"/>
          </a:p>
        </p:txBody>
      </p:sp>
      <p:sp>
        <p:nvSpPr>
          <p:cNvPr id="10" name="sgd0"/>
          <p:cNvSpPr/>
          <p:nvPr/>
        </p:nvSpPr>
        <p:spPr>
          <a:xfrm>
            <a:off x="6995160" y="2514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gn0"/>
          <p:cNvSpPr txBox="1"/>
          <p:nvPr/>
        </p:nvSpPr>
        <p:spPr>
          <a:xfrm>
            <a:off x="69951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gt0"/>
          <p:cNvSpPr txBox="1"/>
          <p:nvPr/>
        </p:nvSpPr>
        <p:spPr>
          <a:xfrm>
            <a:off x="781812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 staff code</a:t>
            </a:r>
            <a:endParaRPr lang="en-US" sz="1800" dirty="0"/>
          </a:p>
        </p:txBody>
      </p:sp>
      <p:sp>
        <p:nvSpPr>
          <p:cNvPr id="13" name="sgb0"/>
          <p:cNvSpPr txBox="1"/>
          <p:nvPr/>
        </p:nvSpPr>
        <p:spPr>
          <a:xfrm>
            <a:off x="7818120" y="28620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the barangay office, checked on the server</a:t>
            </a:r>
            <a:endParaRPr lang="en-US" sz="1400" dirty="0"/>
          </a:p>
        </p:txBody>
      </p:sp>
      <p:sp>
        <p:nvSpPr>
          <p:cNvPr id="14" name="sgd1"/>
          <p:cNvSpPr/>
          <p:nvPr/>
        </p:nvSpPr>
        <p:spPr>
          <a:xfrm>
            <a:off x="6995160" y="37033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gn1"/>
          <p:cNvSpPr txBox="1"/>
          <p:nvPr/>
        </p:nvSpPr>
        <p:spPr>
          <a:xfrm>
            <a:off x="699516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gt1"/>
          <p:cNvSpPr txBox="1"/>
          <p:nvPr/>
        </p:nvSpPr>
        <p:spPr>
          <a:xfrm>
            <a:off x="781812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800" dirty="0"/>
          </a:p>
        </p:txBody>
      </p:sp>
      <p:sp>
        <p:nvSpPr>
          <p:cNvPr id="17" name="sgb1"/>
          <p:cNvSpPr txBox="1"/>
          <p:nvPr/>
        </p:nvSpPr>
        <p:spPr>
          <a:xfrm>
            <a:off x="7818120" y="40507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for a first Admin; the barangay Admin for everyone else</a:t>
            </a:r>
            <a:endParaRPr lang="en-US" sz="1400" dirty="0"/>
          </a:p>
        </p:txBody>
      </p:sp>
      <p:sp>
        <p:nvSpPr>
          <p:cNvPr id="18" name="sgd2"/>
          <p:cNvSpPr/>
          <p:nvPr/>
        </p:nvSpPr>
        <p:spPr>
          <a:xfrm>
            <a:off x="6995160" y="48920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gn2"/>
          <p:cNvSpPr txBox="1"/>
          <p:nvPr/>
        </p:nvSpPr>
        <p:spPr>
          <a:xfrm>
            <a:off x="69951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gt2"/>
          <p:cNvSpPr txBox="1"/>
          <p:nvPr/>
        </p:nvSpPr>
        <p:spPr>
          <a:xfrm>
            <a:off x="781812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Barangay-scoped access</a:t>
            </a:r>
            <a:endParaRPr lang="en-US" sz="1800" dirty="0"/>
          </a:p>
        </p:txBody>
      </p:sp>
      <p:sp>
        <p:nvSpPr>
          <p:cNvPr id="21" name="sgb2"/>
          <p:cNvSpPr txBox="1"/>
          <p:nvPr/>
        </p:nvSpPr>
        <p:spPr>
          <a:xfrm>
            <a:off x="7818120" y="52395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limited to that barangay</a:t>
            </a:r>
            <a:endParaRPr lang="en-US" sz="1400" dirty="0"/>
          </a:p>
        </p:txBody>
      </p:sp>
      <p:sp>
        <p:nvSpPr>
          <p:cNvPr id="22" name="sBot"/>
          <p:cNvSpPr txBox="1"/>
          <p:nvPr/>
        </p:nvSpPr>
        <p:spPr>
          <a:xfrm>
            <a:off x="640080" y="6035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no self-verification, last-Admin protection, rate limiting, audit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quality</a:t>
            </a:r>
            <a:endParaRPr lang="en-US" sz="3800" dirty="0"/>
          </a:p>
        </p:txBody>
      </p:sp>
      <p:sp>
        <p:nvSpPr>
          <p:cNvPr id="3" name="tc"/>
          <p:cNvSpPr/>
          <p:nvPr/>
        </p:nvSpPr>
        <p:spPr>
          <a:xfrm>
            <a:off x="640080" y="1554480"/>
            <a:ext cx="4206240" cy="4663440"/>
          </a:xfrm>
          <a:prstGeom prst="roundRect">
            <a:avLst>
              <a:gd name="adj" fmla="val 304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tn_0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600" dirty="0"/>
          </a:p>
        </p:txBody>
      </p:sp>
      <p:sp>
        <p:nvSpPr>
          <p:cNvPr id="5" name="tn_1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600" dirty="0"/>
          </a:p>
        </p:txBody>
      </p:sp>
      <p:sp>
        <p:nvSpPr>
          <p:cNvPr id="6" name="tn_2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600" dirty="0"/>
          </a:p>
        </p:txBody>
      </p:sp>
      <p:sp>
        <p:nvSpPr>
          <p:cNvPr id="7" name="tn_3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7600" dirty="0"/>
          </a:p>
        </p:txBody>
      </p:sp>
      <p:sp>
        <p:nvSpPr>
          <p:cNvPr id="8" name="tn_4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7600" dirty="0"/>
          </a:p>
        </p:txBody>
      </p:sp>
      <p:sp>
        <p:nvSpPr>
          <p:cNvPr id="9" name="tn_5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7600" dirty="0"/>
          </a:p>
        </p:txBody>
      </p:sp>
      <p:sp>
        <p:nvSpPr>
          <p:cNvPr id="10" name="tn_6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600" dirty="0"/>
          </a:p>
        </p:txBody>
      </p:sp>
      <p:sp>
        <p:nvSpPr>
          <p:cNvPr id="11" name="tn_7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7600" dirty="0"/>
          </a:p>
        </p:txBody>
      </p:sp>
      <p:sp>
        <p:nvSpPr>
          <p:cNvPr id="12" name="tn_8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7600" dirty="0"/>
          </a:p>
        </p:txBody>
      </p:sp>
      <p:sp>
        <p:nvSpPr>
          <p:cNvPr id="13" name="tn_9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7600" dirty="0"/>
          </a:p>
        </p:txBody>
      </p:sp>
      <p:sp>
        <p:nvSpPr>
          <p:cNvPr id="14" name="tn_10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600" dirty="0"/>
          </a:p>
        </p:txBody>
      </p:sp>
      <p:sp>
        <p:nvSpPr>
          <p:cNvPr id="15" name="tn_11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7600" dirty="0"/>
          </a:p>
        </p:txBody>
      </p:sp>
      <p:sp>
        <p:nvSpPr>
          <p:cNvPr id="16" name="tn_12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7600" dirty="0"/>
          </a:p>
        </p:txBody>
      </p:sp>
      <p:sp>
        <p:nvSpPr>
          <p:cNvPr id="17" name="tn_13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7600" dirty="0"/>
          </a:p>
        </p:txBody>
      </p:sp>
      <p:sp>
        <p:nvSpPr>
          <p:cNvPr id="18" name="tn_14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7600" dirty="0"/>
          </a:p>
        </p:txBody>
      </p:sp>
      <p:sp>
        <p:nvSpPr>
          <p:cNvPr id="19" name="tn_15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7600" dirty="0"/>
          </a:p>
        </p:txBody>
      </p:sp>
      <p:sp>
        <p:nvSpPr>
          <p:cNvPr id="20" name="tn_16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</a:t>
            </a:r>
            <a:endParaRPr lang="en-US" sz="7600" dirty="0"/>
          </a:p>
        </p:txBody>
      </p:sp>
      <p:sp>
        <p:nvSpPr>
          <p:cNvPr id="21" name="tn_17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</a:t>
            </a:r>
            <a:endParaRPr lang="en-US" sz="7600" dirty="0"/>
          </a:p>
        </p:txBody>
      </p:sp>
      <p:sp>
        <p:nvSpPr>
          <p:cNvPr id="22" name="tn_18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</a:t>
            </a:r>
            <a:endParaRPr lang="en-US" sz="7600" dirty="0"/>
          </a:p>
        </p:txBody>
      </p:sp>
      <p:sp>
        <p:nvSpPr>
          <p:cNvPr id="23" name="tn_19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7600" dirty="0"/>
          </a:p>
        </p:txBody>
      </p:sp>
      <p:sp>
        <p:nvSpPr>
          <p:cNvPr id="24" name="tn_20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7600" dirty="0"/>
          </a:p>
        </p:txBody>
      </p:sp>
      <p:sp>
        <p:nvSpPr>
          <p:cNvPr id="25" name="tn_21"/>
          <p:cNvSpPr txBox="1"/>
          <p:nvPr/>
        </p:nvSpPr>
        <p:spPr>
          <a:xfrm>
            <a:off x="640080" y="1691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7600" dirty="0"/>
          </a:p>
        </p:txBody>
      </p:sp>
      <p:sp>
        <p:nvSpPr>
          <p:cNvPr id="26" name="tnl"/>
          <p:cNvSpPr txBox="1"/>
          <p:nvPr/>
        </p:nvSpPr>
        <p:spPr>
          <a:xfrm>
            <a:off x="64008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backend tests</a:t>
            </a:r>
            <a:endParaRPr lang="en-US" sz="2000" dirty="0"/>
          </a:p>
        </p:txBody>
      </p:sp>
      <p:sp>
        <p:nvSpPr>
          <p:cNvPr id="27" name="tbar"/>
          <p:cNvSpPr txBox="1"/>
          <p:nvPr/>
        </p:nvSpPr>
        <p:spPr>
          <a:xfrm>
            <a:off x="9144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800" dirty="0"/>
          </a:p>
        </p:txBody>
      </p:sp>
      <p:sp>
        <p:nvSpPr>
          <p:cNvPr id="28" name="trk"/>
          <p:cNvSpPr/>
          <p:nvPr/>
        </p:nvSpPr>
        <p:spPr>
          <a:xfrm>
            <a:off x="914400" y="43434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fil"/>
          <p:cNvSpPr/>
          <p:nvPr/>
        </p:nvSpPr>
        <p:spPr>
          <a:xfrm>
            <a:off x="914400" y="43434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p_0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400" dirty="0"/>
          </a:p>
        </p:txBody>
      </p:sp>
      <p:sp>
        <p:nvSpPr>
          <p:cNvPr id="31" name="tp_1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400" dirty="0"/>
          </a:p>
        </p:txBody>
      </p:sp>
      <p:sp>
        <p:nvSpPr>
          <p:cNvPr id="32" name="tp_2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400" dirty="0"/>
          </a:p>
        </p:txBody>
      </p:sp>
      <p:sp>
        <p:nvSpPr>
          <p:cNvPr id="33" name="tp_3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400" dirty="0"/>
          </a:p>
        </p:txBody>
      </p:sp>
      <p:sp>
        <p:nvSpPr>
          <p:cNvPr id="34" name="tp_4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400" dirty="0"/>
          </a:p>
        </p:txBody>
      </p:sp>
      <p:sp>
        <p:nvSpPr>
          <p:cNvPr id="35" name="tp_5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36" name="tp_6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400" dirty="0"/>
          </a:p>
        </p:txBody>
      </p:sp>
      <p:sp>
        <p:nvSpPr>
          <p:cNvPr id="37" name="tp_7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400" dirty="0"/>
          </a:p>
        </p:txBody>
      </p:sp>
      <p:sp>
        <p:nvSpPr>
          <p:cNvPr id="38" name="tp_8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400" dirty="0"/>
          </a:p>
        </p:txBody>
      </p:sp>
      <p:sp>
        <p:nvSpPr>
          <p:cNvPr id="39" name="tp_9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400" dirty="0"/>
          </a:p>
        </p:txBody>
      </p:sp>
      <p:sp>
        <p:nvSpPr>
          <p:cNvPr id="40" name="tp_10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41" name="tp_11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2400" dirty="0"/>
          </a:p>
        </p:txBody>
      </p:sp>
      <p:sp>
        <p:nvSpPr>
          <p:cNvPr id="42" name="tp_12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400" dirty="0"/>
          </a:p>
        </p:txBody>
      </p:sp>
      <p:sp>
        <p:nvSpPr>
          <p:cNvPr id="43" name="tp_13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400" dirty="0"/>
          </a:p>
        </p:txBody>
      </p:sp>
      <p:sp>
        <p:nvSpPr>
          <p:cNvPr id="44" name="tp_14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400" dirty="0"/>
          </a:p>
        </p:txBody>
      </p:sp>
      <p:sp>
        <p:nvSpPr>
          <p:cNvPr id="45" name="tp_15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400" dirty="0"/>
          </a:p>
        </p:txBody>
      </p:sp>
      <p:sp>
        <p:nvSpPr>
          <p:cNvPr id="46" name="tp_16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400" dirty="0"/>
          </a:p>
        </p:txBody>
      </p:sp>
      <p:sp>
        <p:nvSpPr>
          <p:cNvPr id="47" name="tp_17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400" dirty="0"/>
          </a:p>
        </p:txBody>
      </p:sp>
      <p:sp>
        <p:nvSpPr>
          <p:cNvPr id="48" name="tp_18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400" dirty="0"/>
          </a:p>
        </p:txBody>
      </p:sp>
      <p:sp>
        <p:nvSpPr>
          <p:cNvPr id="49" name="tp_19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400" dirty="0"/>
          </a:p>
        </p:txBody>
      </p:sp>
      <p:sp>
        <p:nvSpPr>
          <p:cNvPr id="50" name="tp_20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51" name="tp_21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400" dirty="0"/>
          </a:p>
        </p:txBody>
      </p:sp>
      <p:sp>
        <p:nvSpPr>
          <p:cNvPr id="52" name="tp_22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400" dirty="0"/>
          </a:p>
        </p:txBody>
      </p:sp>
      <p:sp>
        <p:nvSpPr>
          <p:cNvPr id="53" name="tp_23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400" dirty="0"/>
          </a:p>
        </p:txBody>
      </p:sp>
      <p:sp>
        <p:nvSpPr>
          <p:cNvPr id="54" name="tp_24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400" dirty="0"/>
          </a:p>
        </p:txBody>
      </p:sp>
      <p:sp>
        <p:nvSpPr>
          <p:cNvPr id="55" name="tp_25"/>
          <p:cNvSpPr txBox="1"/>
          <p:nvPr/>
        </p:nvSpPr>
        <p:spPr>
          <a:xfrm>
            <a:off x="374904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56" name="tsub"/>
          <p:cNvSpPr txBox="1"/>
          <p:nvPr/>
        </p:nvSpPr>
        <p:spPr>
          <a:xfrm>
            <a:off x="914400" y="5120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 of 378 pass: workflow, permissions, data scoping and validation.</a:t>
            </a:r>
            <a:endParaRPr lang="en-US" sz="1500" dirty="0"/>
          </a:p>
        </p:txBody>
      </p:sp>
      <p:graphicFrame>
        <p:nvGraphicFramePr>
          <p:cNvPr id="57" name="Chart 0" descr=""/>
          <p:cNvGraphicFramePr/>
          <p:nvPr/>
        </p:nvGraphicFramePr>
        <p:xfrm>
          <a:off x="5120640" y="1554480"/>
          <a:ext cx="64008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97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97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2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2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142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142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187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187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202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20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217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217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298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29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against the objectives</a:t>
            </a:r>
            <a:endParaRPr lang="en-US" sz="3800" dirty="0"/>
          </a:p>
        </p:txBody>
      </p:sp>
      <p:sp>
        <p:nvSpPr>
          <p:cNvPr id="3" name="rc0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pic>
        <p:nvPicPr>
          <p:cNvPr id="4" name="rk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75488" cy="475488"/>
          </a:xfrm>
          <a:prstGeom prst="rect">
            <a:avLst/>
          </a:prstGeom>
        </p:spPr>
      </p:pic>
      <p:sp>
        <p:nvSpPr>
          <p:cNvPr id="5" name="rh0"/>
          <p:cNvSpPr txBox="1"/>
          <p:nvPr/>
        </p:nvSpPr>
        <p:spPr>
          <a:xfrm>
            <a:off x="1691640" y="1664208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vehicles and readiness</a:t>
            </a:r>
            <a:endParaRPr lang="en-US" sz="1900" dirty="0"/>
          </a:p>
        </p:txBody>
      </p:sp>
      <p:sp>
        <p:nvSpPr>
          <p:cNvPr id="6" name="rb0"/>
          <p:cNvSpPr txBox="1"/>
          <p:nvPr/>
        </p:nvSpPr>
        <p:spPr>
          <a:xfrm>
            <a:off x="5212080" y="166420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readiness view, 24-hour readiness checks, condition monitoring, location hubs and map.</a:t>
            </a:r>
            <a:endParaRPr lang="en-US" sz="1600" dirty="0"/>
          </a:p>
        </p:txBody>
      </p:sp>
      <p:sp>
        <p:nvSpPr>
          <p:cNvPr id="7" name="rc1"/>
          <p:cNvSpPr/>
          <p:nvPr/>
        </p:nvSpPr>
        <p:spPr>
          <a:xfrm>
            <a:off x="640080" y="2724912"/>
            <a:ext cx="1088136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pic>
        <p:nvPicPr>
          <p:cNvPr id="8" name="rk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9232"/>
            <a:ext cx="475488" cy="475488"/>
          </a:xfrm>
          <a:prstGeom prst="rect">
            <a:avLst/>
          </a:prstGeom>
        </p:spPr>
      </p:pic>
      <p:sp>
        <p:nvSpPr>
          <p:cNvPr id="9" name="rh1"/>
          <p:cNvSpPr txBox="1"/>
          <p:nvPr/>
        </p:nvSpPr>
        <p:spPr>
          <a:xfrm>
            <a:off x="1691640" y="28346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ticket lifecycle</a:t>
            </a:r>
            <a:endParaRPr lang="en-US" sz="1900" dirty="0"/>
          </a:p>
        </p:txBody>
      </p:sp>
      <p:sp>
        <p:nvSpPr>
          <p:cNvPr id="10" name="rb1"/>
          <p:cNvSpPr txBox="1"/>
          <p:nvPr/>
        </p:nvSpPr>
        <p:spPr>
          <a:xfrm>
            <a:off x="5212080" y="283464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Proposal, Admin approval, mechanic repair, Custodian verification. 92 automated tests.</a:t>
            </a:r>
            <a:endParaRPr lang="en-US" sz="1600" dirty="0"/>
          </a:p>
        </p:txBody>
      </p:sp>
      <p:sp>
        <p:nvSpPr>
          <p:cNvPr id="11" name="rc2"/>
          <p:cNvSpPr/>
          <p:nvPr/>
        </p:nvSpPr>
        <p:spPr>
          <a:xfrm>
            <a:off x="640080" y="3895344"/>
            <a:ext cx="1088136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pic>
        <p:nvPicPr>
          <p:cNvPr id="12" name="rk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9664"/>
            <a:ext cx="475488" cy="475488"/>
          </a:xfrm>
          <a:prstGeom prst="rect">
            <a:avLst/>
          </a:prstGeom>
        </p:spPr>
      </p:pic>
      <p:sp>
        <p:nvSpPr>
          <p:cNvPr id="13" name="rh2"/>
          <p:cNvSpPr txBox="1"/>
          <p:nvPr/>
        </p:nvSpPr>
        <p:spPr>
          <a:xfrm>
            <a:off x="1691640" y="400507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separate data</a:t>
            </a:r>
            <a:endParaRPr lang="en-US" sz="1900" dirty="0"/>
          </a:p>
        </p:txBody>
      </p:sp>
      <p:sp>
        <p:nvSpPr>
          <p:cNvPr id="14" name="rb2"/>
          <p:cNvSpPr txBox="1"/>
          <p:nvPr/>
        </p:nvSpPr>
        <p:spPr>
          <a:xfrm>
            <a:off x="5212080" y="400507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103 permission abilities, per-barangay scoping. 137 automated tests on access and accounts.</a:t>
            </a:r>
            <a:endParaRPr lang="en-US" sz="1600" dirty="0"/>
          </a:p>
        </p:txBody>
      </p:sp>
      <p:sp>
        <p:nvSpPr>
          <p:cNvPr id="15" name="rc3"/>
          <p:cNvSpPr/>
          <p:nvPr/>
        </p:nvSpPr>
        <p:spPr>
          <a:xfrm>
            <a:off x="640080" y="5065776"/>
            <a:ext cx="10881360" cy="102412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pic>
        <p:nvPicPr>
          <p:cNvPr id="16" name="rk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40096"/>
            <a:ext cx="475488" cy="475488"/>
          </a:xfrm>
          <a:prstGeom prst="rect">
            <a:avLst/>
          </a:prstGeom>
        </p:spPr>
      </p:pic>
      <p:sp>
        <p:nvSpPr>
          <p:cNvPr id="17" name="rh3"/>
          <p:cNvSpPr txBox="1"/>
          <p:nvPr/>
        </p:nvSpPr>
        <p:spPr>
          <a:xfrm>
            <a:off x="1691640" y="51755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reports and audit trail</a:t>
            </a:r>
            <a:endParaRPr lang="en-US" sz="1900" dirty="0"/>
          </a:p>
        </p:txBody>
      </p:sp>
      <p:sp>
        <p:nvSpPr>
          <p:cNvPr id="18" name="rb3"/>
          <p:cNvSpPr txBox="1"/>
          <p:nvPr/>
        </p:nvSpPr>
        <p:spPr>
          <a:xfrm>
            <a:off x="5212080" y="5175504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schedules with recurrence, 7 report types, notifications and an activity log.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recommendations</a:t>
            </a:r>
            <a:endParaRPr lang="en-US" sz="3800" dirty="0"/>
          </a:p>
        </p:txBody>
      </p:sp>
      <p:sp>
        <p:nvSpPr>
          <p:cNvPr id="3" name="lc0"/>
          <p:cNvSpPr/>
          <p:nvPr/>
        </p:nvSpPr>
        <p:spPr>
          <a:xfrm>
            <a:off x="640080" y="1554480"/>
            <a:ext cx="5303520" cy="4663440"/>
          </a:xfrm>
          <a:prstGeom prst="roundRect">
            <a:avLst>
              <a:gd name="adj" fmla="val 27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ld0"/>
          <p:cNvSpPr/>
          <p:nvPr/>
        </p:nvSpPr>
        <p:spPr>
          <a:xfrm>
            <a:off x="1005840" y="17830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l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984248"/>
            <a:ext cx="329184" cy="329184"/>
          </a:xfrm>
          <a:prstGeom prst="rect">
            <a:avLst/>
          </a:prstGeom>
        </p:spPr>
      </p:pic>
      <p:sp>
        <p:nvSpPr>
          <p:cNvPr id="6" name="lh0"/>
          <p:cNvSpPr txBox="1"/>
          <p:nvPr/>
        </p:nvSpPr>
        <p:spPr>
          <a:xfrm>
            <a:off x="196596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7" name="lb0"/>
          <p:cNvSpPr txBox="1"/>
          <p:nvPr/>
        </p:nvSpPr>
        <p:spPr>
          <a:xfrm>
            <a:off x="105156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verification at sign-up; Admin approval is the identity check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password reset; an Admin resets it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availability, not live dispatch or GPS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through automated tests and review passes</a:t>
            </a:r>
            <a:endParaRPr lang="en-US" sz="1700" dirty="0"/>
          </a:p>
        </p:txBody>
      </p:sp>
      <p:sp>
        <p:nvSpPr>
          <p:cNvPr id="8" name="lc1"/>
          <p:cNvSpPr/>
          <p:nvPr/>
        </p:nvSpPr>
        <p:spPr>
          <a:xfrm>
            <a:off x="6217920" y="1554480"/>
            <a:ext cx="5303520" cy="4663440"/>
          </a:xfrm>
          <a:prstGeom prst="roundRect">
            <a:avLst>
              <a:gd name="adj" fmla="val 27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ld1"/>
          <p:cNvSpPr/>
          <p:nvPr/>
        </p:nvSpPr>
        <p:spPr>
          <a:xfrm>
            <a:off x="6583680" y="178308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l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984248"/>
            <a:ext cx="329184" cy="329184"/>
          </a:xfrm>
          <a:prstGeom prst="rect">
            <a:avLst/>
          </a:prstGeom>
        </p:spPr>
      </p:pic>
      <p:sp>
        <p:nvSpPr>
          <p:cNvPr id="11" name="lh1"/>
          <p:cNvSpPr txBox="1"/>
          <p:nvPr/>
        </p:nvSpPr>
        <p:spPr>
          <a:xfrm>
            <a:off x="754380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12" name="lb1"/>
          <p:cNvSpPr txBox="1"/>
          <p:nvPr/>
        </p:nvSpPr>
        <p:spPr>
          <a:xfrm>
            <a:off x="662940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 verification and password reset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installable mobile version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 alerts for urgent repairs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 and downtime analytics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365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cc0"/>
          <p:cNvSpPr/>
          <p:nvPr/>
        </p:nvSpPr>
        <p:spPr>
          <a:xfrm>
            <a:off x="640080" y="164592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4" name="cd0"/>
          <p:cNvSpPr/>
          <p:nvPr/>
        </p:nvSpPr>
        <p:spPr>
          <a:xfrm>
            <a:off x="1005840" y="1965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" name="c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221992"/>
            <a:ext cx="402336" cy="402336"/>
          </a:xfrm>
          <a:prstGeom prst="rect">
            <a:avLst/>
          </a:prstGeom>
        </p:spPr>
      </p:pic>
      <p:sp>
        <p:nvSpPr>
          <p:cNvPr id="6" name="ch0"/>
          <p:cNvSpPr txBox="1"/>
          <p:nvPr/>
        </p:nvSpPr>
        <p:spPr>
          <a:xfrm>
            <a:off x="100584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readiness</a:t>
            </a:r>
            <a:endParaRPr lang="en-US" sz="2200" dirty="0"/>
          </a:p>
        </p:txBody>
      </p:sp>
      <p:sp>
        <p:nvSpPr>
          <p:cNvPr id="7" name="cb0"/>
          <p:cNvSpPr txBox="1"/>
          <p:nvPr/>
        </p:nvSpPr>
        <p:spPr>
          <a:xfrm>
            <a:off x="100584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see which vehicles are ready, and why the others are not.</a:t>
            </a:r>
            <a:endParaRPr lang="en-US" sz="1700" dirty="0"/>
          </a:p>
        </p:txBody>
      </p:sp>
      <p:sp>
        <p:nvSpPr>
          <p:cNvPr id="8" name="cc1"/>
          <p:cNvSpPr/>
          <p:nvPr/>
        </p:nvSpPr>
        <p:spPr>
          <a:xfrm>
            <a:off x="4343400" y="164592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9" name="cd1"/>
          <p:cNvSpPr/>
          <p:nvPr/>
        </p:nvSpPr>
        <p:spPr>
          <a:xfrm>
            <a:off x="4709160" y="1965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c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221992"/>
            <a:ext cx="402336" cy="402336"/>
          </a:xfrm>
          <a:prstGeom prst="rect">
            <a:avLst/>
          </a:prstGeom>
        </p:spPr>
      </p:pic>
      <p:sp>
        <p:nvSpPr>
          <p:cNvPr id="11" name="ch1"/>
          <p:cNvSpPr txBox="1"/>
          <p:nvPr/>
        </p:nvSpPr>
        <p:spPr>
          <a:xfrm>
            <a:off x="470916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repairs</a:t>
            </a:r>
            <a:endParaRPr lang="en-US" sz="2200" dirty="0"/>
          </a:p>
        </p:txBody>
      </p:sp>
      <p:sp>
        <p:nvSpPr>
          <p:cNvPr id="12" name="cb1"/>
          <p:cNvSpPr txBox="1"/>
          <p:nvPr/>
        </p:nvSpPr>
        <p:spPr>
          <a:xfrm>
            <a:off x="470916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repair has a named proposer, approver, mechanic and verifier.</a:t>
            </a:r>
            <a:endParaRPr lang="en-US" sz="1700" dirty="0"/>
          </a:p>
        </p:txBody>
      </p:sp>
      <p:sp>
        <p:nvSpPr>
          <p:cNvPr id="13" name="cc2"/>
          <p:cNvSpPr/>
          <p:nvPr/>
        </p:nvSpPr>
        <p:spPr>
          <a:xfrm>
            <a:off x="8046720" y="164592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3A8A">
                <a:alpha val="12000"/>
              </a:srgbClr>
            </a:outerShdw>
          </a:effectLst>
        </p:spPr>
      </p:sp>
      <p:sp>
        <p:nvSpPr>
          <p:cNvPr id="14" name="cd2"/>
          <p:cNvSpPr/>
          <p:nvPr/>
        </p:nvSpPr>
        <p:spPr>
          <a:xfrm>
            <a:off x="8412480" y="19659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5" name="c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221992"/>
            <a:ext cx="402336" cy="402336"/>
          </a:xfrm>
          <a:prstGeom prst="rect">
            <a:avLst/>
          </a:prstGeom>
        </p:spPr>
      </p:pic>
      <p:sp>
        <p:nvSpPr>
          <p:cNvPr id="16" name="ch2"/>
          <p:cNvSpPr txBox="1"/>
          <p:nvPr/>
        </p:nvSpPr>
        <p:spPr>
          <a:xfrm>
            <a:off x="841248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data</a:t>
            </a:r>
            <a:endParaRPr lang="en-US" sz="2200" dirty="0"/>
          </a:p>
        </p:txBody>
      </p:sp>
      <p:sp>
        <p:nvSpPr>
          <p:cNvPr id="17" name="cb2"/>
          <p:cNvSpPr txBox="1"/>
          <p:nvPr/>
        </p:nvSpPr>
        <p:spPr>
          <a:xfrm>
            <a:off x="841248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registration, role permissions and per-barangay separation.</a:t>
            </a:r>
            <a:endParaRPr lang="en-US" sz="1700" dirty="0"/>
          </a:p>
        </p:txBody>
      </p:sp>
      <p:sp>
        <p:nvSpPr>
          <p:cNvPr id="18" name="cFinal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study's objectives were met: the VMS helps keep emergency vehicles ready, and shows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c1"/>
          <p:cNvSpPr/>
          <p:nvPr/>
        </p:nvSpPr>
        <p:spPr>
          <a:xfrm>
            <a:off x="7498080" y="1097280"/>
            <a:ext cx="4389120" cy="4389120"/>
          </a:xfrm>
          <a:prstGeom prst="ellipse">
            <a:avLst/>
          </a:prstGeom>
          <a:solidFill>
            <a:srgbClr val="1D4ED8">
              <a:alpha val="50000"/>
            </a:srgbClr>
          </a:solidFill>
          <a:ln w="25400">
            <a:solidFill>
              <a:srgbClr val="60A5FA"/>
            </a:solidFill>
            <a:prstDash val="solid"/>
          </a:ln>
        </p:spPr>
      </p:sp>
      <p:pic>
        <p:nvPicPr>
          <p:cNvPr id="3" name="tI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423160"/>
            <a:ext cx="1737360" cy="1737360"/>
          </a:xfrm>
          <a:prstGeom prst="rect">
            <a:avLst/>
          </a:prstGeom>
        </p:spPr>
      </p:pic>
      <p:sp>
        <p:nvSpPr>
          <p:cNvPr id="4" name="tTitle"/>
          <p:cNvSpPr txBox="1"/>
          <p:nvPr/>
        </p:nvSpPr>
        <p:spPr>
          <a:xfrm>
            <a:off x="822960" y="1554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Q"/>
          <p:cNvSpPr txBox="1"/>
          <p:nvPr/>
        </p:nvSpPr>
        <p:spPr>
          <a:xfrm>
            <a:off x="82296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Barangay Vehicle Management System — Final Defense</dc:title>
  <dc:subject>PptxGenJS Presentation</dc:subject>
  <dc:creator>VMS Development Team</dc:creator>
  <cp:lastModifiedBy>VMS Development Team</cp:lastModifiedBy>
  <cp:revision>1</cp:revision>
  <dcterms:created xsi:type="dcterms:W3CDTF">2026-10-12T08:42:58Z</dcterms:created>
  <dcterms:modified xsi:type="dcterms:W3CDTF">2026-10-12T08:42:58Z</dcterms:modified>
</cp:coreProperties>
</file>